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sz="1000" b="0" u="none" strike="noStrike">
                <a:solidFill>
                  <a:srgbClr val="000000"/>
                </a:solidFill>
                <a:uFillTx/>
                <a:latin typeface="Arial"/>
              </a:rPr>
              <a:t>Workload pivot: reactive BAU to strategic roadmap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BAU</c:v>
                </c:pt>
              </c:strCache>
            </c:strRef>
          </c:tx>
          <c:spPr>
            <a:solidFill>
              <a:srgbClr val="E95151"/>
            </a:solidFill>
            <a:ln w="0">
              <a:noFill/>
            </a:ln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March</c:v>
                </c:pt>
                <c:pt idx="1">
                  <c:v>July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83.5</c:v>
                </c:pt>
                <c:pt idx="1">
                  <c:v>25.2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BA-4465-9809-E171FD1D3F44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Strategic</c:v>
                </c:pt>
              </c:strCache>
            </c:strRef>
          </c:tx>
          <c:spPr>
            <a:solidFill>
              <a:srgbClr val="55C95A"/>
            </a:solidFill>
            <a:ln w="0">
              <a:noFill/>
            </a:ln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March</c:v>
                </c:pt>
                <c:pt idx="1">
                  <c:v>July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16.5</c:v>
                </c:pt>
                <c:pt idx="1">
                  <c:v>74.8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BA-4465-9809-E171FD1D3F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0064590"/>
        <c:axId val="32072585"/>
      </c:barChart>
      <c:catAx>
        <c:axId val="8006459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u="none" strike="noStrike">
                <a:solidFill>
                  <a:srgbClr val="000000"/>
                </a:solidFill>
                <a:uFillTx/>
                <a:latin typeface="Arial"/>
              </a:defRPr>
            </a:pPr>
            <a:endParaRPr lang="en-US"/>
          </a:p>
        </c:txPr>
        <c:crossAx val="32072585"/>
        <c:crosses val="autoZero"/>
        <c:auto val="1"/>
        <c:lblAlgn val="ctr"/>
        <c:lblOffset val="100"/>
        <c:noMultiLvlLbl val="0"/>
      </c:catAx>
      <c:valAx>
        <c:axId val="32072585"/>
        <c:scaling>
          <c:orientation val="minMax"/>
          <c:max val="100"/>
          <c:min val="0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700" b="0" u="none" strike="noStrike">
                <a:solidFill>
                  <a:srgbClr val="000000"/>
                </a:solidFill>
                <a:uFillTx/>
                <a:latin typeface="Arial"/>
              </a:defRPr>
            </a:pPr>
            <a:endParaRPr lang="en-US"/>
          </a:p>
        </c:txPr>
        <c:crossAx val="80064590"/>
        <c:crosses val="autoZero"/>
        <c:crossBetween val="between"/>
        <c:majorUnit val="20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700" b="0" u="none" strike="noStrike">
              <a:solidFill>
                <a:srgbClr val="000000"/>
              </a:solidFill>
              <a:uFillTx/>
              <a:latin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4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0C7439C-1F7C-4181-8DFB-332CFBFE8A4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the panel and establish David as the senior specialist who converted GenAI experiments into governed business assets.,Frame the strategic mandate: mitigate Shadow AI, enforce OAG compliance and automate licence auditing.,[Sources],Visual on this slide was generated with Microsoft Copilot.,[/Sources]</a:t>
            </a:r>
          </a:p>
        </p:txBody>
      </p:sp>
      <p:sp>
        <p:nvSpPr>
          <p:cNvPr id="19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709468-2D8D-4FF8-BFCC-20B8B10ACB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frame this as simple ticket work.,Highlight Shadow AI sprawl, licence and storage blind spots, and the 83.5% reactive BAU load.,[Sources],Visual on this slide was generated with Microsoft Copilot.,[/Sources]</a:t>
            </a:r>
          </a:p>
        </p:txBody>
      </p:sp>
      <p:sp>
        <p:nvSpPr>
          <p:cNvPr id="19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429B5F-9FA9-4954-B682-EA602EA7D0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the Licence Auditor built in Copilot Studio and grounded on PPAC CSV telemetry in SharePoint.,Describe AIMO guardrails and three starter prompts for one-click manager self-service.,Cover the CoE and Copilot Studio toolkit rollout, DLP, CSP and cohort release model.,[Sources],Visual on this slide was generated with Microsoft Copilot.,[/Sources]</a:t>
            </a:r>
          </a:p>
        </p:txBody>
      </p:sp>
      <p:sp>
        <p:nvSpPr>
          <p:cNvPr id="19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A999C4-5A04-4DDE-ADCA-4B4EE86A6A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Position David as the strategic translator.,Explain the audited workload shift, automated ALM and community capability uplift.,[Sources],Visual on this slide was generated with Microsoft Copilot.,[/Sources]</a:t>
            </a:r>
          </a:p>
        </p:txBody>
      </p:sp>
      <p:sp>
        <p:nvSpPr>
          <p:cNvPr id="19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F1AFCE-07CA-498E-94ED-35340AD0D9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CCC method: Content, Connection and Cash.,Emphasise instant financial oversight, 100% OAG compliance and the shift from 83.5% reactive work to 74.8% strategic delivery.,[Sources],Visual on this slide was generated with Microsoft Copilot.,[/Sources]</a:t>
            </a:r>
          </a:p>
        </p:txBody>
      </p:sp>
      <p:sp>
        <p:nvSpPr>
          <p:cNvPr id="20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19A347-C310-40F7-969F-8F35278F7C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Connect the evidence to hiring criteria across AI governance, Copilot architecture, Power Platform engineering and transformation leadership.,[Sources],[/Sources]</a:t>
            </a:r>
          </a:p>
        </p:txBody>
      </p:sp>
      <p:sp>
        <p:nvSpPr>
          <p:cNvPr id="20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06C684-A8E7-40CD-9E2B-05AD1F4047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411480" y="6519600"/>
            <a:ext cx="11338560" cy="720"/>
          </a:xfrm>
          <a:prstGeom prst="line">
            <a:avLst/>
          </a:prstGeom>
          <a:ln w="12700">
            <a:solidFill>
              <a:srgbClr val="D8E5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6583680"/>
            <a:ext cx="59432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DAVID LIONG  |  DPIRD ENTERPRISE AI GOVERNANCE CASE STUDY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11247120" y="6565320"/>
            <a:ext cx="41112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600" b="0" u="none" strike="noStrike">
                <a:solidFill>
                  <a:srgbClr val="5D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A9861F-A36E-4A55-B3AD-81859FD95927}" type="slidenum">
              <a:rPr lang="en-US" sz="600" b="0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‹#›</a:t>
            </a:fld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6" name="Shape 0"/>
          <p:cNvSpPr/>
          <p:nvPr/>
        </p:nvSpPr>
        <p:spPr>
          <a:xfrm>
            <a:off x="0" y="0"/>
            <a:ext cx="5787720" cy="6857640"/>
          </a:xfrm>
          <a:prstGeom prst="rect">
            <a:avLst/>
          </a:prstGeom>
          <a:solidFill>
            <a:srgbClr val="071B33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1933020" y="3293597"/>
            <a:ext cx="8284536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6C514"/>
                </a:solidFill>
                <a:effectLst/>
                <a:uFillTx/>
                <a:latin typeface="Aptos"/>
              </a:rPr>
              <a:t>Converting GenAI Experiments into Governed Business Value &amp; Audit Success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2746908" y="3954863"/>
            <a:ext cx="5440320" cy="1023840"/>
          </a:xfrm>
          <a:prstGeom prst="roundRect">
            <a:avLst>
              <a:gd name="adj" fmla="val 8929"/>
            </a:avLst>
          </a:prstGeom>
          <a:solidFill>
            <a:srgbClr val="0D2B49"/>
          </a:solidFill>
          <a:ln w="12700">
            <a:solidFill>
              <a:srgbClr val="0D2B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2993868" y="4201823"/>
            <a:ext cx="4891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FFFF00"/>
                </a:solidFill>
                <a:effectLst/>
                <a:uFillTx/>
                <a:latin typeface="Aptos"/>
              </a:rPr>
              <a:t>120+ ENVIRONMENTS GOVERNED</a:t>
            </a:r>
            <a:endParaRPr lang="en-US" sz="1800" b="0" u="none" strike="noStrike" dirty="0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2993868" y="4613303"/>
            <a:ext cx="5111424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100% OAG audit compliance | Executive AI self-service | 74.8% strategic workload peak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E4D106-2BFD-255E-A8AE-3B8E7ED3D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072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74B590-EFC7-4ACD-A21B-B2941AF63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778" y="2131391"/>
            <a:ext cx="7944959" cy="11145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3" name="Text 0"/>
          <p:cNvSpPr/>
          <p:nvPr/>
        </p:nvSpPr>
        <p:spPr>
          <a:xfrm>
            <a:off x="380805" y="90048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99" dirty="0">
                <a:solidFill>
                  <a:srgbClr val="22D3EE"/>
                </a:solidFill>
                <a:effectLst/>
                <a:uFillTx/>
                <a:latin typeface="Aptos"/>
              </a:rPr>
              <a:t>PILLAR 2  |  THE EXECUTIVE CHALLENGE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380804" y="436188"/>
            <a:ext cx="6836727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rgbClr val="071B33"/>
                </a:solidFill>
                <a:effectLst/>
                <a:uFillTx/>
                <a:latin typeface="Aptos"/>
              </a:rPr>
              <a:t>Unmanaged AI Sprawl and High BAU Friction Threatened Compliance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457200" y="91440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D748B"/>
                </a:solidFill>
                <a:effectLst/>
                <a:uFillTx/>
                <a:latin typeface="Aptos"/>
              </a:rPr>
              <a:t>Three connected liabilities created audit risk, financial opacity and strategic delivery delay.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457200" y="1169280"/>
            <a:ext cx="11247120" cy="720"/>
          </a:xfrm>
          <a:prstGeom prst="line">
            <a:avLst/>
          </a:prstGeom>
          <a:ln w="12700">
            <a:solidFill>
              <a:srgbClr val="D8E5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 anchorCtr="1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5"/>
          <p:cNvSpPr/>
          <p:nvPr/>
        </p:nvSpPr>
        <p:spPr>
          <a:xfrm>
            <a:off x="380805" y="4809744"/>
            <a:ext cx="3904200" cy="1561071"/>
          </a:xfrm>
          <a:prstGeom prst="roundRect">
            <a:avLst>
              <a:gd name="adj" fmla="val 5376"/>
            </a:avLst>
          </a:prstGeom>
          <a:solidFill>
            <a:srgbClr val="071B33"/>
          </a:solidFill>
          <a:ln w="12700">
            <a:solidFill>
              <a:srgbClr val="071B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550185" y="4889775"/>
            <a:ext cx="32914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F6C514"/>
                </a:solidFill>
                <a:effectLst/>
                <a:uFillTx/>
                <a:latin typeface="Aptos"/>
              </a:rPr>
              <a:t>THE MANAGEMENT IMPACT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7"/>
          <p:cNvSpPr/>
          <p:nvPr/>
        </p:nvSpPr>
        <p:spPr>
          <a:xfrm>
            <a:off x="935685" y="5279407"/>
            <a:ext cx="3108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00"/>
                </a:solidFill>
                <a:effectLst/>
                <a:uFillTx/>
                <a:latin typeface="Aptos"/>
              </a:rPr>
              <a:t>• </a:t>
            </a:r>
            <a:r>
              <a:rPr lang="en-US" sz="1200" b="0" u="none" strike="noStrike" dirty="0">
                <a:solidFill>
                  <a:srgbClr val="FFFF00"/>
                </a:solidFill>
                <a:effectLst/>
                <a:uFillTx/>
                <a:latin typeface="Aptos"/>
              </a:rPr>
              <a:t>Compliance and audit exposure</a:t>
            </a:r>
            <a:endParaRPr lang="en-US" sz="1200" b="0" u="none" strike="noStrike" dirty="0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8"/>
          <p:cNvSpPr/>
          <p:nvPr/>
        </p:nvSpPr>
        <p:spPr>
          <a:xfrm>
            <a:off x="935685" y="5535367"/>
            <a:ext cx="3108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00"/>
                </a:solidFill>
                <a:effectLst/>
                <a:uFillTx/>
                <a:latin typeface="Aptos"/>
              </a:rPr>
              <a:t>• </a:t>
            </a:r>
            <a:r>
              <a:rPr lang="en-US" sz="1200" b="0" u="none" strike="noStrike" dirty="0">
                <a:solidFill>
                  <a:srgbClr val="FFFF00"/>
                </a:solidFill>
                <a:effectLst/>
                <a:uFillTx/>
                <a:latin typeface="Aptos"/>
              </a:rPr>
              <a:t>Delayed financial oversight</a:t>
            </a:r>
            <a:endParaRPr lang="en-US" sz="1200" b="0" u="none" strike="noStrike" dirty="0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9"/>
          <p:cNvSpPr/>
          <p:nvPr/>
        </p:nvSpPr>
        <p:spPr>
          <a:xfrm>
            <a:off x="935685" y="5791327"/>
            <a:ext cx="3108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00"/>
                </a:solidFill>
                <a:effectLst/>
                <a:uFillTx/>
                <a:latin typeface="Aptos"/>
              </a:rPr>
              <a:t>• </a:t>
            </a:r>
            <a:r>
              <a:rPr lang="en-US" sz="1200" b="0" u="none" strike="noStrike" dirty="0">
                <a:solidFill>
                  <a:srgbClr val="FFFF00"/>
                </a:solidFill>
                <a:effectLst/>
                <a:uFillTx/>
                <a:latin typeface="Aptos"/>
              </a:rPr>
              <a:t>Roadmap milestones constrained</a:t>
            </a:r>
            <a:endParaRPr lang="en-US" sz="1200" b="0" u="none" strike="noStrike" dirty="0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0"/>
          <p:cNvSpPr/>
          <p:nvPr/>
        </p:nvSpPr>
        <p:spPr>
          <a:xfrm>
            <a:off x="935685" y="6047287"/>
            <a:ext cx="3108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00"/>
                </a:solidFill>
                <a:effectLst/>
                <a:uFillTx/>
                <a:latin typeface="Aptos"/>
              </a:rPr>
              <a:t>• </a:t>
            </a:r>
            <a:r>
              <a:rPr lang="en-US" sz="1200" b="0" u="none" strike="noStrike" dirty="0">
                <a:solidFill>
                  <a:srgbClr val="FFFF00"/>
                </a:solidFill>
                <a:effectLst/>
                <a:uFillTx/>
                <a:latin typeface="Aptos"/>
              </a:rPr>
              <a:t>Reactive operating posture</a:t>
            </a:r>
            <a:endParaRPr lang="en-US" sz="1200" b="0" u="none" strike="noStrike" dirty="0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sldNum" idx="5"/>
          </p:nvPr>
        </p:nvSpPr>
        <p:spPr>
          <a:xfrm>
            <a:off x="11247120" y="6565320"/>
            <a:ext cx="41112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600" b="0" u="none" strike="noStrike">
                <a:solidFill>
                  <a:srgbClr val="5D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71D0D-73DF-4154-B574-210E6E036483}" type="slidenum">
              <a:rPr lang="en-US" sz="600" b="0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2</a:t>
            </a:fld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B3EF1A-0FDA-7287-8123-FEC0E8FD1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532" y="210240"/>
            <a:ext cx="4858428" cy="62778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D5172B-CD18-B038-E074-0ECA4A248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66" y="1424880"/>
            <a:ext cx="4210638" cy="1095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AD528-23FD-4CFF-0DD7-0AD026932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E2F5B-2FA2-159D-3342-550274EA8509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Image 0" descr="/mnt/data/48ecaa4296.png">
            <a:extLst>
              <a:ext uri="{FF2B5EF4-FFF2-40B4-BE49-F238E27FC236}">
                <a16:creationId xmlns:a16="http://schemas.microsoft.com/office/drawing/2014/main" id="{2C3595F2-037E-0A42-E0E1-09F568DE4029}"/>
              </a:ext>
            </a:extLst>
          </p:cNvPr>
          <p:cNvPicPr/>
          <p:nvPr/>
        </p:nvPicPr>
        <p:blipFill>
          <a:blip r:embed="rId2"/>
          <a:srcRect t="8722" b="872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706372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0bd58eef7c.png">
            <a:extLst>
              <a:ext uri="{FF2B5EF4-FFF2-40B4-BE49-F238E27FC236}">
                <a16:creationId xmlns:a16="http://schemas.microsoft.com/office/drawing/2014/main" id="{5952B371-B109-0313-D946-5D41B52F6454}"/>
              </a:ext>
            </a:extLst>
          </p:cNvPr>
          <p:cNvPicPr/>
          <p:nvPr/>
        </p:nvPicPr>
        <p:blipFill>
          <a:blip r:embed="rId2"/>
          <a:srcRect t="11302" b="11302"/>
          <a:stretch/>
        </p:blipFill>
        <p:spPr>
          <a:xfrm>
            <a:off x="-1" y="0"/>
            <a:ext cx="11183815" cy="685800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289695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56" name="Text 0"/>
          <p:cNvSpPr/>
          <p:nvPr/>
        </p:nvSpPr>
        <p:spPr>
          <a:xfrm>
            <a:off x="457200" y="21024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99">
                <a:solidFill>
                  <a:srgbClr val="22D3EE"/>
                </a:solidFill>
                <a:effectLst/>
                <a:uFillTx/>
                <a:latin typeface="Aptos"/>
              </a:rPr>
              <a:t>PILLAR 3  |  THE ARCHITECTURAL BLUEPRINT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457200" y="457200"/>
            <a:ext cx="11155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rgbClr val="071B33"/>
                </a:solidFill>
                <a:effectLst/>
                <a:uFillTx/>
                <a:latin typeface="Aptos"/>
              </a:rPr>
              <a:t>Grounded AI Agents and </a:t>
            </a:r>
            <a:r>
              <a:rPr lang="en-US" sz="2100" b="1" u="none" strike="noStrike" dirty="0" err="1">
                <a:solidFill>
                  <a:srgbClr val="071B33"/>
                </a:solidFill>
                <a:effectLst/>
                <a:uFillTx/>
                <a:latin typeface="Aptos"/>
              </a:rPr>
              <a:t>CoE</a:t>
            </a:r>
            <a:r>
              <a:rPr lang="en-US" sz="2100" b="1" u="none" strike="noStrike" dirty="0">
                <a:solidFill>
                  <a:srgbClr val="071B33"/>
                </a:solidFill>
                <a:effectLst/>
                <a:uFillTx/>
                <a:latin typeface="Aptos"/>
              </a:rPr>
              <a:t> Guardrails Established Governance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457200" y="91440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5D748B"/>
                </a:solidFill>
                <a:effectLst/>
                <a:uFillTx/>
                <a:latin typeface="Aptos"/>
              </a:rPr>
              <a:t>A secure </a:t>
            </a:r>
            <a:r>
              <a:rPr lang="en-US" sz="1050" b="0" u="none" strike="noStrike" dirty="0" err="1">
                <a:solidFill>
                  <a:srgbClr val="5D748B"/>
                </a:solidFill>
                <a:effectLst/>
                <a:uFillTx/>
                <a:latin typeface="Aptos"/>
              </a:rPr>
              <a:t>Licence</a:t>
            </a:r>
            <a:r>
              <a:rPr lang="en-US" sz="1050" b="0" u="none" strike="noStrike" dirty="0">
                <a:solidFill>
                  <a:srgbClr val="5D748B"/>
                </a:solidFill>
                <a:effectLst/>
                <a:uFillTx/>
                <a:latin typeface="Aptos"/>
              </a:rPr>
              <a:t> Auditor agent turned raw admin telemetry into one-click executive insight.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457200" y="1234440"/>
            <a:ext cx="11247120" cy="720"/>
          </a:xfrm>
          <a:prstGeom prst="line">
            <a:avLst/>
          </a:prstGeom>
          <a:ln w="12700">
            <a:solidFill>
              <a:srgbClr val="D8E5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2148840" y="229500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Licence Auditor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9538011" y="1382940"/>
            <a:ext cx="2304000" cy="3030839"/>
          </a:xfrm>
          <a:prstGeom prst="roundRect">
            <a:avLst>
              <a:gd name="adj" fmla="val 3968"/>
            </a:avLst>
          </a:prstGeom>
          <a:solidFill>
            <a:srgbClr val="071B33"/>
          </a:solidFill>
          <a:ln w="12700">
            <a:solidFill>
              <a:srgbClr val="071B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4"/>
          <p:cNvSpPr/>
          <p:nvPr/>
        </p:nvSpPr>
        <p:spPr>
          <a:xfrm>
            <a:off x="9793971" y="150936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dirty="0">
                <a:solidFill>
                  <a:srgbClr val="F6C514"/>
                </a:solidFill>
                <a:effectLst/>
                <a:uFillTx/>
                <a:latin typeface="Aptos"/>
              </a:rPr>
              <a:t>ONE-CLICK STARTERS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5"/>
          <p:cNvSpPr/>
          <p:nvPr/>
        </p:nvSpPr>
        <p:spPr>
          <a:xfrm>
            <a:off x="9778560" y="1935000"/>
            <a:ext cx="1755360" cy="438480"/>
          </a:xfrm>
          <a:prstGeom prst="roundRect">
            <a:avLst>
              <a:gd name="adj" fmla="val 20833"/>
            </a:avLst>
          </a:prstGeom>
          <a:solidFill>
            <a:srgbClr val="173B5C"/>
          </a:solidFill>
          <a:ln w="12700">
            <a:solidFill>
              <a:srgbClr val="2D58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9924900" y="204354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Licence</a:t>
            </a:r>
            <a:r>
              <a:rPr lang="en-US" sz="7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Capacity Summary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9812331" y="2484720"/>
            <a:ext cx="1755360" cy="438480"/>
          </a:xfrm>
          <a:prstGeom prst="roundRect">
            <a:avLst>
              <a:gd name="adj" fmla="val 20833"/>
            </a:avLst>
          </a:prstGeom>
          <a:solidFill>
            <a:srgbClr val="173B5C"/>
          </a:solidFill>
          <a:ln w="12700">
            <a:solidFill>
              <a:srgbClr val="2D58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9958491" y="261288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Storage</a:t>
            </a:r>
            <a:r>
              <a:rPr lang="en-US" sz="7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&amp; Capacity Report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9"/>
          <p:cNvSpPr/>
          <p:nvPr/>
        </p:nvSpPr>
        <p:spPr>
          <a:xfrm>
            <a:off x="9812331" y="3106440"/>
            <a:ext cx="1755360" cy="438480"/>
          </a:xfrm>
          <a:prstGeom prst="roundRect">
            <a:avLst>
              <a:gd name="adj" fmla="val 20833"/>
            </a:avLst>
          </a:prstGeom>
          <a:solidFill>
            <a:srgbClr val="173B5C"/>
          </a:solidFill>
          <a:ln w="12700">
            <a:solidFill>
              <a:srgbClr val="2D58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9958491" y="323460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Unused </a:t>
            </a:r>
            <a:r>
              <a:rPr lang="en-US" sz="9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Licence</a:t>
            </a:r>
            <a:r>
              <a:rPr lang="en-US" sz="7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Analysis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1"/>
          <p:cNvSpPr/>
          <p:nvPr/>
        </p:nvSpPr>
        <p:spPr>
          <a:xfrm>
            <a:off x="9625560" y="3847320"/>
            <a:ext cx="2139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Designed for non-technical managers who should not need to craft complex prompts.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2"/>
          <p:cNvSpPr/>
          <p:nvPr/>
        </p:nvSpPr>
        <p:spPr>
          <a:xfrm>
            <a:off x="439200" y="6043680"/>
            <a:ext cx="11265120" cy="383760"/>
          </a:xfrm>
          <a:prstGeom prst="roundRect">
            <a:avLst>
              <a:gd name="adj" fmla="val 12821"/>
            </a:avLst>
          </a:prstGeom>
          <a:solidFill>
            <a:srgbClr val="EAF6EE"/>
          </a:solidFill>
          <a:ln w="12700">
            <a:solidFill>
              <a:srgbClr val="CAE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3"/>
          <p:cNvSpPr/>
          <p:nvPr/>
        </p:nvSpPr>
        <p:spPr>
          <a:xfrm>
            <a:off x="713520" y="6161820"/>
            <a:ext cx="2468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dirty="0">
                <a:solidFill>
                  <a:srgbClr val="55C95A"/>
                </a:solidFill>
                <a:effectLst/>
                <a:uFillTx/>
                <a:latin typeface="Aptos"/>
              </a:rPr>
              <a:t>TENANT SECURITY &amp; </a:t>
            </a:r>
            <a:r>
              <a:rPr lang="en-US" sz="900" b="1" u="none" strike="noStrike" dirty="0" err="1">
                <a:solidFill>
                  <a:srgbClr val="55C95A"/>
                </a:solidFill>
                <a:effectLst/>
                <a:uFillTx/>
                <a:latin typeface="Aptos"/>
              </a:rPr>
              <a:t>CoE</a:t>
            </a:r>
            <a:r>
              <a:rPr lang="en-US" sz="900" b="1" u="none" strike="noStrike" dirty="0">
                <a:solidFill>
                  <a:srgbClr val="55C95A"/>
                </a:solidFill>
                <a:effectLst/>
                <a:uFillTx/>
                <a:latin typeface="Aptos"/>
              </a:rPr>
              <a:t> HARDENING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4"/>
          <p:cNvSpPr/>
          <p:nvPr/>
        </p:nvSpPr>
        <p:spPr>
          <a:xfrm>
            <a:off x="2953800" y="611610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71B33"/>
                </a:solidFill>
                <a:effectLst/>
                <a:uFillTx/>
                <a:latin typeface="Aptos"/>
              </a:rPr>
              <a:t>CoE Starter Kit + Copilot Studio Kit across 120+ environments  |  Tenant-wide DLP and CSP  |  Agent inventory and KPI monitoring  |  Cohort-based Copilot licence release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sldNum" idx="6"/>
          </p:nvPr>
        </p:nvSpPr>
        <p:spPr>
          <a:xfrm>
            <a:off x="11247120" y="6565320"/>
            <a:ext cx="41112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600" b="0" u="none" strike="noStrike">
                <a:solidFill>
                  <a:srgbClr val="5D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2891D9-5BDE-4A4D-9546-6EE32B8079E9}" type="slidenum">
              <a:rPr lang="en-US" sz="600" b="0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5</a:t>
            </a:fld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1156B9-C67D-D800-C382-520EF5B65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60" y="1268247"/>
            <a:ext cx="2317011" cy="4673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A1F22-BA04-CBD6-2B4E-11E48C470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245" y="1268247"/>
            <a:ext cx="4906890" cy="47102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B393C4-85C9-461B-03C4-F73259D40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6952" y="4356900"/>
            <a:ext cx="1519341" cy="142632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B45299-2769-B23E-3A76-608FEB57D1FE}"/>
              </a:ext>
            </a:extLst>
          </p:cNvPr>
          <p:cNvCxnSpPr>
            <a:cxnSpLocks/>
          </p:cNvCxnSpPr>
          <p:nvPr/>
        </p:nvCxnSpPr>
        <p:spPr>
          <a:xfrm flipH="1">
            <a:off x="3657600" y="4217670"/>
            <a:ext cx="323769" cy="63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AC428D-BC59-AAD7-7ADA-4C5771110887}"/>
              </a:ext>
            </a:extLst>
          </p:cNvPr>
          <p:cNvCxnSpPr/>
          <p:nvPr/>
        </p:nvCxnSpPr>
        <p:spPr>
          <a:xfrm>
            <a:off x="3428820" y="2019300"/>
            <a:ext cx="4650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35C731-622A-3962-6AB4-6302932D74B8}"/>
              </a:ext>
            </a:extLst>
          </p:cNvPr>
          <p:cNvCxnSpPr/>
          <p:nvPr/>
        </p:nvCxnSpPr>
        <p:spPr>
          <a:xfrm>
            <a:off x="3006265" y="3568140"/>
            <a:ext cx="7122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5A8361-AB66-A5C5-5B01-55A0773938DD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3486623" y="4356900"/>
            <a:ext cx="117209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D95FE4-09A2-564E-0FB7-AF974C535156}"/>
              </a:ext>
            </a:extLst>
          </p:cNvPr>
          <p:cNvCxnSpPr/>
          <p:nvPr/>
        </p:nvCxnSpPr>
        <p:spPr>
          <a:xfrm>
            <a:off x="2667000" y="2864340"/>
            <a:ext cx="1226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E0D0AD3-459F-2996-4F56-E4148DD3989D}"/>
              </a:ext>
            </a:extLst>
          </p:cNvPr>
          <p:cNvCxnSpPr>
            <a:cxnSpLocks/>
          </p:cNvCxnSpPr>
          <p:nvPr/>
        </p:nvCxnSpPr>
        <p:spPr>
          <a:xfrm flipV="1">
            <a:off x="2317034" y="1524000"/>
            <a:ext cx="2341684" cy="561419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E0FB530-14CF-CBA6-7A92-0E06F35F6F45}"/>
              </a:ext>
            </a:extLst>
          </p:cNvPr>
          <p:cNvCxnSpPr>
            <a:cxnSpLocks/>
          </p:cNvCxnSpPr>
          <p:nvPr/>
        </p:nvCxnSpPr>
        <p:spPr>
          <a:xfrm>
            <a:off x="6888480" y="5128260"/>
            <a:ext cx="2576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8F2E343-27DB-3E46-C714-BB8E22A18AAB}"/>
              </a:ext>
            </a:extLst>
          </p:cNvPr>
          <p:cNvCxnSpPr>
            <a:cxnSpLocks/>
          </p:cNvCxnSpPr>
          <p:nvPr/>
        </p:nvCxnSpPr>
        <p:spPr>
          <a:xfrm flipV="1">
            <a:off x="9465048" y="4413779"/>
            <a:ext cx="347283" cy="71448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42C4CA03-1BB9-B0F4-5383-4562DA264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6952" y="2073705"/>
            <a:ext cx="1491743" cy="2197417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D07DEE7-90DD-4672-D8FC-FEDD8800A561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915886" y="3172414"/>
            <a:ext cx="811066" cy="2168285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93" name="Text 0"/>
          <p:cNvSpPr/>
          <p:nvPr/>
        </p:nvSpPr>
        <p:spPr>
          <a:xfrm>
            <a:off x="457200" y="21024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 spc="99">
                <a:solidFill>
                  <a:srgbClr val="22D3EE"/>
                </a:solidFill>
                <a:effectLst/>
                <a:uFillTx/>
                <a:latin typeface="Aptos"/>
              </a:rPr>
              <a:t>PILLAR 4  |  THE ENGINEERING CRAFT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457200" y="457200"/>
            <a:ext cx="11155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71B33"/>
                </a:solidFill>
                <a:effectLst/>
                <a:uFillTx/>
                <a:latin typeface="Aptos"/>
              </a:rPr>
              <a:t>Structured SDLC and Agile Leadership Shifted Capacity to Strategy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457200" y="91440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Timesheet-audited velocity, automated ALM and community advocacy moved delivery from reactive to strategic.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457200" y="1234440"/>
            <a:ext cx="11247120" cy="720"/>
          </a:xfrm>
          <a:prstGeom prst="line">
            <a:avLst/>
          </a:prstGeom>
          <a:ln w="12700">
            <a:solidFill>
              <a:srgbClr val="D8E5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0" descr="/mnt/data/2775b9516e.png"/>
          <p:cNvPicPr/>
          <p:nvPr/>
        </p:nvPicPr>
        <p:blipFill>
          <a:blip r:embed="rId3"/>
          <a:srcRect t="11169" b="11169"/>
          <a:stretch/>
        </p:blipFill>
        <p:spPr>
          <a:xfrm>
            <a:off x="8366760" y="1444680"/>
            <a:ext cx="3355560" cy="17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Shape 4"/>
          <p:cNvSpPr/>
          <p:nvPr/>
        </p:nvSpPr>
        <p:spPr>
          <a:xfrm>
            <a:off x="457200" y="3401640"/>
            <a:ext cx="3456000" cy="2404440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5"/>
          <p:cNvSpPr/>
          <p:nvPr/>
        </p:nvSpPr>
        <p:spPr>
          <a:xfrm>
            <a:off x="457200" y="3401640"/>
            <a:ext cx="3456000" cy="438480"/>
          </a:xfrm>
          <a:prstGeom prst="rect">
            <a:avLst/>
          </a:prstGeom>
          <a:solidFill>
            <a:srgbClr val="55C95A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640080" y="3538800"/>
            <a:ext cx="3062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  DISCOVERY &amp; AUDITED VELOCITY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658440" y="409644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55C95A"/>
                </a:solidFill>
                <a:effectLst/>
                <a:uFillTx/>
                <a:latin typeface="Aptos"/>
              </a:rPr>
              <a:t>• </a:t>
            </a:r>
            <a:r>
              <a:rPr lang="en-US" sz="81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Audited 135h-165h monthly across April-August 2026.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658440" y="457200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55C95A"/>
                </a:solidFill>
                <a:effectLst/>
                <a:uFillTx/>
                <a:latin typeface="Aptos"/>
              </a:rPr>
              <a:t>• </a:t>
            </a:r>
            <a:r>
              <a:rPr lang="en-US" sz="81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Automated orphan asset cleanup and decommissioning.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658440" y="504756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55C95A"/>
                </a:solidFill>
                <a:effectLst/>
                <a:uFillTx/>
                <a:latin typeface="Aptos"/>
              </a:rPr>
              <a:t>• </a:t>
            </a:r>
            <a:r>
              <a:rPr lang="en-US" sz="81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Reduced BAU from 83.5% in March to 25.2% in July.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4187880" y="3401640"/>
            <a:ext cx="3456000" cy="2404440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1"/>
          <p:cNvSpPr/>
          <p:nvPr/>
        </p:nvSpPr>
        <p:spPr>
          <a:xfrm>
            <a:off x="4187880" y="3401640"/>
            <a:ext cx="3456000" cy="43848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4370760" y="3538800"/>
            <a:ext cx="3062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  AUTOMATED ALM &amp; CI/CD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4389120" y="409644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• </a:t>
            </a:r>
            <a:r>
              <a:rPr lang="en-US" sz="81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Managed DEV, UAT and Production through Azure DevOps and Power Platform pipelines.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4"/>
          <p:cNvSpPr/>
          <p:nvPr/>
        </p:nvSpPr>
        <p:spPr>
          <a:xfrm>
            <a:off x="4389120" y="457200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• </a:t>
            </a:r>
            <a:r>
              <a:rPr lang="en-US" sz="81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Used PowerShell for admin management and environment creation.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4389120" y="504756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• </a:t>
            </a:r>
            <a:r>
              <a:rPr lang="en-US" sz="81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Authored SIDs, SOPs and implementation guidance.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7918560" y="3401640"/>
            <a:ext cx="3456000" cy="2404440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7"/>
          <p:cNvSpPr/>
          <p:nvPr/>
        </p:nvSpPr>
        <p:spPr>
          <a:xfrm>
            <a:off x="7918560" y="3401640"/>
            <a:ext cx="3456000" cy="43848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8101440" y="3538800"/>
            <a:ext cx="3062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  COMMUNITY ADVOCACY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8119800" y="409644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6C514"/>
                </a:solidFill>
                <a:effectLst/>
                <a:uFillTx/>
                <a:latin typeface="Aptos"/>
              </a:rPr>
              <a:t>• </a:t>
            </a:r>
            <a:r>
              <a:rPr lang="en-US" sz="81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Launched the Power Platform Community Hub, AMA queue and Nurture apps.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8119800" y="457200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6C514"/>
                </a:solidFill>
                <a:effectLst/>
                <a:uFillTx/>
                <a:latin typeface="Aptos"/>
              </a:rPr>
              <a:t>• </a:t>
            </a:r>
            <a:r>
              <a:rPr lang="en-US" sz="81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Facilitated Copilot Studio in a Day and Flow in a Day learning.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1"/>
          <p:cNvSpPr/>
          <p:nvPr/>
        </p:nvSpPr>
        <p:spPr>
          <a:xfrm>
            <a:off x="8119800" y="5047560"/>
            <a:ext cx="30171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6C514"/>
                </a:solidFill>
                <a:effectLst/>
                <a:uFillTx/>
                <a:latin typeface="Aptos"/>
              </a:rPr>
              <a:t>• </a:t>
            </a:r>
            <a:r>
              <a:rPr lang="en-US" sz="81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Published GCES prompt guidance for citizen developers.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6" name="Chart 0"/>
          <p:cNvGraphicFramePr/>
          <p:nvPr/>
        </p:nvGraphicFramePr>
        <p:xfrm>
          <a:off x="502920" y="1572840"/>
          <a:ext cx="5211720" cy="150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7" name="Shape 22"/>
          <p:cNvSpPr/>
          <p:nvPr/>
        </p:nvSpPr>
        <p:spPr>
          <a:xfrm>
            <a:off x="5961960" y="1572840"/>
            <a:ext cx="2011320" cy="1508400"/>
          </a:xfrm>
          <a:prstGeom prst="roundRect">
            <a:avLst>
              <a:gd name="adj" fmla="val 6061"/>
            </a:avLst>
          </a:prstGeom>
          <a:solidFill>
            <a:srgbClr val="071B33"/>
          </a:solidFill>
          <a:ln w="12700">
            <a:solidFill>
              <a:srgbClr val="071B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6199560" y="190188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C514"/>
                </a:solidFill>
                <a:effectLst/>
                <a:uFillTx/>
                <a:latin typeface="Aptos"/>
              </a:rPr>
              <a:t>123.50 HOURS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4"/>
          <p:cNvSpPr/>
          <p:nvPr/>
        </p:nvSpPr>
        <p:spPr>
          <a:xfrm>
            <a:off x="6199560" y="234072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Strategic delivery in July 2026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74.8% of monthly capacity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sldNum" idx="7"/>
          </p:nvPr>
        </p:nvSpPr>
        <p:spPr>
          <a:xfrm>
            <a:off x="11247120" y="6565320"/>
            <a:ext cx="41112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600" b="0" u="none" strike="noStrike">
                <a:solidFill>
                  <a:srgbClr val="5D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506EE5-2B8D-4F5D-898E-842FE387CCED}" type="slidenum">
              <a:rPr lang="en-US" sz="600" b="0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6</a:t>
            </a:fld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21" name="Text 0"/>
          <p:cNvSpPr/>
          <p:nvPr/>
        </p:nvSpPr>
        <p:spPr>
          <a:xfrm>
            <a:off x="457200" y="21024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 spc="99">
                <a:solidFill>
                  <a:srgbClr val="22D3EE"/>
                </a:solidFill>
                <a:effectLst/>
                <a:uFillTx/>
                <a:latin typeface="Aptos"/>
              </a:rPr>
              <a:t>PILLAR 5  |  QUANTIFIED VALUE &amp; ROI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457200" y="457200"/>
            <a:ext cx="11155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71B33"/>
                </a:solidFill>
                <a:effectLst/>
                <a:uFillTx/>
                <a:latin typeface="Aptos"/>
              </a:rPr>
              <a:t>Delivering 100% Audit Pass and a 75% Strategic Workload Pivot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457200" y="91440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Governance, automation and self-service produced measurable compliance, capacity and reporting outcomes.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457200" y="1234440"/>
            <a:ext cx="11247120" cy="720"/>
          </a:xfrm>
          <a:prstGeom prst="line">
            <a:avLst/>
          </a:prstGeom>
          <a:ln w="12700">
            <a:solidFill>
              <a:srgbClr val="D8E5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0" descr="/mnt/data/11f5003cc3.png"/>
          <p:cNvPicPr/>
          <p:nvPr/>
        </p:nvPicPr>
        <p:blipFill>
          <a:blip r:embed="rId3"/>
          <a:srcRect t="9091" b="9091"/>
          <a:stretch/>
        </p:blipFill>
        <p:spPr>
          <a:xfrm>
            <a:off x="7699320" y="1444680"/>
            <a:ext cx="4023000" cy="21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Shape 4"/>
          <p:cNvSpPr/>
          <p:nvPr/>
        </p:nvSpPr>
        <p:spPr>
          <a:xfrm>
            <a:off x="457200" y="1536120"/>
            <a:ext cx="208440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594360" y="178308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55C95A"/>
                </a:solidFill>
                <a:effectLst/>
                <a:uFillTx/>
                <a:latin typeface="Aptos"/>
              </a:rPr>
              <a:t>100%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621720" y="2240280"/>
            <a:ext cx="1755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071B33"/>
                </a:solidFill>
                <a:effectLst/>
                <a:uFillTx/>
                <a:latin typeface="Aptos"/>
              </a:rPr>
              <a:t>OAG AUDIT COMPLIANCE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640080" y="2523600"/>
            <a:ext cx="1709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All audit flags resolved across 120+ environments.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8"/>
          <p:cNvSpPr/>
          <p:nvPr/>
        </p:nvSpPr>
        <p:spPr>
          <a:xfrm>
            <a:off x="2761560" y="1536120"/>
            <a:ext cx="208440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9"/>
          <p:cNvSpPr/>
          <p:nvPr/>
        </p:nvSpPr>
        <p:spPr>
          <a:xfrm>
            <a:off x="2898720" y="178308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10-15 HRS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0"/>
          <p:cNvSpPr/>
          <p:nvPr/>
        </p:nvSpPr>
        <p:spPr>
          <a:xfrm>
            <a:off x="2926080" y="2240280"/>
            <a:ext cx="1755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071B33"/>
                </a:solidFill>
                <a:effectLst/>
                <a:uFillTx/>
                <a:latin typeface="Aptos"/>
              </a:rPr>
              <a:t>SAVED MONTHLY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2944440" y="2523600"/>
            <a:ext cx="1709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Executive licence and capacity reporting automated.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2"/>
          <p:cNvSpPr/>
          <p:nvPr/>
        </p:nvSpPr>
        <p:spPr>
          <a:xfrm>
            <a:off x="5065920" y="1536120"/>
            <a:ext cx="208440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5203080" y="178308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6C514"/>
                </a:solidFill>
                <a:effectLst/>
                <a:uFillTx/>
                <a:latin typeface="Aptos"/>
              </a:rPr>
              <a:t>74.8%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5230440" y="2240280"/>
            <a:ext cx="1755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071B33"/>
                </a:solidFill>
                <a:effectLst/>
                <a:uFillTx/>
                <a:latin typeface="Aptos"/>
              </a:rPr>
              <a:t>STRATEGIC EXECUTION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5248800" y="2523600"/>
            <a:ext cx="1709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123.50 strategic hours achieved in July 2026.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6"/>
          <p:cNvSpPr/>
          <p:nvPr/>
        </p:nvSpPr>
        <p:spPr>
          <a:xfrm>
            <a:off x="457200" y="3291840"/>
            <a:ext cx="6903360" cy="52992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685800" y="342900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55C95A"/>
                </a:solidFill>
                <a:effectLst/>
                <a:uFillTx/>
                <a:latin typeface="Aptos"/>
              </a:rPr>
              <a:t>AUDIT RISK ELIMINATED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8"/>
          <p:cNvSpPr/>
          <p:nvPr/>
        </p:nvSpPr>
        <p:spPr>
          <a:xfrm>
            <a:off x="2743200" y="338328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DLP and CSP enforced, unmanaged Power Pages secured, stale external access removed.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>
            <a:off x="457200" y="3977640"/>
            <a:ext cx="6903360" cy="52992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0"/>
          <p:cNvSpPr/>
          <p:nvPr/>
        </p:nvSpPr>
        <p:spPr>
          <a:xfrm>
            <a:off x="685800" y="411480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EXECUTIVE SELF-SERVICE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1"/>
          <p:cNvSpPr/>
          <p:nvPr/>
        </p:nvSpPr>
        <p:spPr>
          <a:xfrm>
            <a:off x="2743200" y="406908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Managers receive instant licence, storage and capacity insight without manual IT pulls.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2"/>
          <p:cNvSpPr/>
          <p:nvPr/>
        </p:nvSpPr>
        <p:spPr>
          <a:xfrm>
            <a:off x="457200" y="4663440"/>
            <a:ext cx="6903360" cy="52992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3"/>
          <p:cNvSpPr/>
          <p:nvPr/>
        </p:nvSpPr>
        <p:spPr>
          <a:xfrm>
            <a:off x="685800" y="480060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6C514"/>
                </a:solidFill>
                <a:effectLst/>
                <a:uFillTx/>
                <a:latin typeface="Aptos"/>
              </a:rPr>
              <a:t>SUSTAINABLE DELIVERY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4"/>
          <p:cNvSpPr/>
          <p:nvPr/>
        </p:nvSpPr>
        <p:spPr>
          <a:xfrm>
            <a:off x="2743200" y="475488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Operational posture moved from firefighting to strategic roadmap execution.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5"/>
          <p:cNvSpPr/>
          <p:nvPr/>
        </p:nvSpPr>
        <p:spPr>
          <a:xfrm>
            <a:off x="7699320" y="3886200"/>
            <a:ext cx="4023000" cy="1462680"/>
          </a:xfrm>
          <a:prstGeom prst="roundRect">
            <a:avLst>
              <a:gd name="adj" fmla="val 6250"/>
            </a:avLst>
          </a:prstGeom>
          <a:solidFill>
            <a:srgbClr val="071B33"/>
          </a:solidFill>
          <a:ln w="12700">
            <a:solidFill>
              <a:srgbClr val="071B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6"/>
          <p:cNvSpPr/>
          <p:nvPr/>
        </p:nvSpPr>
        <p:spPr>
          <a:xfrm>
            <a:off x="8028360" y="4178880"/>
            <a:ext cx="33372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6C514"/>
                </a:solidFill>
                <a:effectLst/>
                <a:uFillTx/>
                <a:latin typeface="Aptos"/>
              </a:rPr>
              <a:t>THE MIC-DROP RESULT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7"/>
          <p:cNvSpPr/>
          <p:nvPr/>
        </p:nvSpPr>
        <p:spPr>
          <a:xfrm>
            <a:off x="8101440" y="45903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AI investment became audit-compliant, financially transparent and operationally sustainable business value.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sldNum" idx="8"/>
          </p:nvPr>
        </p:nvSpPr>
        <p:spPr>
          <a:xfrm>
            <a:off x="11247120" y="6565320"/>
            <a:ext cx="41112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600" b="0" u="none" strike="noStrike">
                <a:solidFill>
                  <a:srgbClr val="5D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A3964A-357F-4BBA-89BC-49A9A909FE41}" type="slidenum">
              <a:rPr lang="en-US" sz="600" b="0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7</a:t>
            </a:fld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51" name="Text 0"/>
          <p:cNvSpPr/>
          <p:nvPr/>
        </p:nvSpPr>
        <p:spPr>
          <a:xfrm>
            <a:off x="457200" y="21024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 spc="99">
                <a:solidFill>
                  <a:srgbClr val="22D3EE"/>
                </a:solidFill>
                <a:effectLst/>
                <a:uFillTx/>
                <a:latin typeface="Aptos"/>
              </a:rPr>
              <a:t>HIRING RELEVANCE  |  MANAGER VIEW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457200" y="457200"/>
            <a:ext cx="11155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71B33"/>
                </a:solidFill>
                <a:effectLst/>
                <a:uFillTx/>
                <a:latin typeface="Aptos"/>
              </a:rPr>
              <a:t>Why This Case Study Matters to Managers and Hiring HR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457200" y="91440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Evidence of an AI governance specialist who connects executive outcomes, platform engineering and capability uplift.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457200" y="1234440"/>
            <a:ext cx="11247120" cy="720"/>
          </a:xfrm>
          <a:prstGeom prst="line">
            <a:avLst/>
          </a:prstGeom>
          <a:ln w="12700">
            <a:solidFill>
              <a:srgbClr val="D8E5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502920" y="1508760"/>
            <a:ext cx="6811920" cy="7311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502920" y="1508760"/>
            <a:ext cx="91080" cy="731160"/>
          </a:xfrm>
          <a:prstGeom prst="rect">
            <a:avLst/>
          </a:prstGeom>
          <a:solidFill>
            <a:srgbClr val="55C95A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758880" y="1673280"/>
            <a:ext cx="1874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55C95A"/>
                </a:solidFill>
                <a:effectLst/>
                <a:uFillTx/>
                <a:latin typeface="Aptos"/>
              </a:rPr>
              <a:t>AI GOVERNANCE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2697480" y="161856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Turned Shadow AI and audit exposure into governed, monitored adoption across 120+ environments.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502920" y="2468880"/>
            <a:ext cx="6811920" cy="7311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>
            <a:off x="502920" y="2468880"/>
            <a:ext cx="91080" cy="73116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758880" y="2633400"/>
            <a:ext cx="1874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COPILOT ARCHITECTURE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2697480" y="257868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Built a grounded Licence Auditor agent with AIMO controls and executive report generation.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2"/>
          <p:cNvSpPr/>
          <p:nvPr/>
        </p:nvSpPr>
        <p:spPr>
          <a:xfrm>
            <a:off x="502920" y="3429000"/>
            <a:ext cx="6811920" cy="7311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>
            <a:off x="502920" y="3429000"/>
            <a:ext cx="91080" cy="73116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758880" y="3593520"/>
            <a:ext cx="1874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PLATFORM ENGINEERING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2697480" y="353880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Led CoE tooling, DLP, CSP, ALM, PowerShell automation and environment management.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6"/>
          <p:cNvSpPr/>
          <p:nvPr/>
        </p:nvSpPr>
        <p:spPr>
          <a:xfrm>
            <a:off x="502920" y="4389120"/>
            <a:ext cx="6811920" cy="7311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E5ED"/>
            </a:solidFill>
            <a:round/>
          </a:ln>
          <a:effectLst>
            <a:outerShdw blurRad="12600" dist="4582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502920" y="4389120"/>
            <a:ext cx="91080" cy="731160"/>
          </a:xfrm>
          <a:prstGeom prst="rect">
            <a:avLst/>
          </a:prstGeom>
          <a:solidFill>
            <a:srgbClr val="F6C51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8"/>
          <p:cNvSpPr/>
          <p:nvPr/>
        </p:nvSpPr>
        <p:spPr>
          <a:xfrm>
            <a:off x="758880" y="4553640"/>
            <a:ext cx="1874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6C514"/>
                </a:solidFill>
                <a:effectLst/>
                <a:uFillTx/>
                <a:latin typeface="Aptos"/>
              </a:rPr>
              <a:t>TRANSFORMATION LEADERSHIP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9"/>
          <p:cNvSpPr/>
          <p:nvPr/>
        </p:nvSpPr>
        <p:spPr>
          <a:xfrm>
            <a:off x="2697480" y="449892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1D2D3F"/>
                </a:solidFill>
                <a:effectLst/>
                <a:uFillTx/>
                <a:latin typeface="Aptos"/>
              </a:rPr>
              <a:t>Shifted capacity to strategic work while launching community, training and adoption services.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0"/>
          <p:cNvSpPr/>
          <p:nvPr/>
        </p:nvSpPr>
        <p:spPr>
          <a:xfrm>
            <a:off x="7726680" y="1508760"/>
            <a:ext cx="3995640" cy="3794400"/>
          </a:xfrm>
          <a:prstGeom prst="roundRect">
            <a:avLst>
              <a:gd name="adj" fmla="val 2410"/>
            </a:avLst>
          </a:prstGeom>
          <a:solidFill>
            <a:srgbClr val="071B33"/>
          </a:solidFill>
          <a:ln w="12700">
            <a:solidFill>
              <a:srgbClr val="071B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8065080" y="181044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6C514"/>
                </a:solidFill>
                <a:effectLst/>
                <a:uFillTx/>
                <a:latin typeface="Aptos"/>
              </a:rPr>
              <a:t>ROLE ALIGNMENT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2"/>
          <p:cNvSpPr/>
          <p:nvPr/>
        </p:nvSpPr>
        <p:spPr>
          <a:xfrm>
            <a:off x="8119800" y="2304360"/>
            <a:ext cx="100080" cy="10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3"/>
          <p:cNvSpPr/>
          <p:nvPr/>
        </p:nvSpPr>
        <p:spPr>
          <a:xfrm>
            <a:off x="8394120" y="223128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AI Governance Lead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4"/>
          <p:cNvSpPr/>
          <p:nvPr/>
        </p:nvSpPr>
        <p:spPr>
          <a:xfrm>
            <a:off x="8119800" y="2752200"/>
            <a:ext cx="100080" cy="10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5"/>
          <p:cNvSpPr/>
          <p:nvPr/>
        </p:nvSpPr>
        <p:spPr>
          <a:xfrm>
            <a:off x="8394120" y="26791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Power Platform Solution Architect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6"/>
          <p:cNvSpPr/>
          <p:nvPr/>
        </p:nvSpPr>
        <p:spPr>
          <a:xfrm>
            <a:off x="8119800" y="3200400"/>
            <a:ext cx="100080" cy="10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7"/>
          <p:cNvSpPr/>
          <p:nvPr/>
        </p:nvSpPr>
        <p:spPr>
          <a:xfrm>
            <a:off x="8394120" y="31273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Copilot Studio Specialist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8"/>
          <p:cNvSpPr/>
          <p:nvPr/>
        </p:nvSpPr>
        <p:spPr>
          <a:xfrm>
            <a:off x="8119800" y="3648600"/>
            <a:ext cx="100080" cy="10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9"/>
          <p:cNvSpPr/>
          <p:nvPr/>
        </p:nvSpPr>
        <p:spPr>
          <a:xfrm>
            <a:off x="8394120" y="357516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Technical Business Analyst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0"/>
          <p:cNvSpPr/>
          <p:nvPr/>
        </p:nvSpPr>
        <p:spPr>
          <a:xfrm>
            <a:off x="8119800" y="4096440"/>
            <a:ext cx="100080" cy="10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1"/>
          <p:cNvSpPr/>
          <p:nvPr/>
        </p:nvSpPr>
        <p:spPr>
          <a:xfrm>
            <a:off x="8394120" y="402336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Digital Transformation Lead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2"/>
          <p:cNvSpPr/>
          <p:nvPr/>
        </p:nvSpPr>
        <p:spPr>
          <a:xfrm>
            <a:off x="8065080" y="470916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PROVEN OUTCOMES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3"/>
          <p:cNvSpPr/>
          <p:nvPr/>
        </p:nvSpPr>
        <p:spPr>
          <a:xfrm>
            <a:off x="8065080" y="4965120"/>
            <a:ext cx="3245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120+ governed environments | 100% audit compliance | 10-15 hours saved monthly | 74.8% strategic delivery peak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4"/>
          <p:cNvSpPr/>
          <p:nvPr/>
        </p:nvSpPr>
        <p:spPr>
          <a:xfrm>
            <a:off x="502920" y="5641920"/>
            <a:ext cx="11219400" cy="520920"/>
          </a:xfrm>
          <a:prstGeom prst="roundRect">
            <a:avLst>
              <a:gd name="adj" fmla="val 17544"/>
            </a:avLst>
          </a:prstGeom>
          <a:solidFill>
            <a:srgbClr val="F6C51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5"/>
          <p:cNvSpPr/>
          <p:nvPr/>
        </p:nvSpPr>
        <p:spPr>
          <a:xfrm>
            <a:off x="777240" y="581544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71B33"/>
                </a:solidFill>
                <a:effectLst/>
                <a:uFillTx/>
                <a:latin typeface="Aptos"/>
              </a:rPr>
              <a:t>From experimental AI to governed enterprise value: secure, measurable and ready to scale.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9"/>
          </p:nvPr>
        </p:nvSpPr>
        <p:spPr>
          <a:xfrm>
            <a:off x="11247120" y="6565320"/>
            <a:ext cx="41112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600" b="0" u="none" strike="noStrike">
                <a:solidFill>
                  <a:srgbClr val="5D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2CA251-5E72-4066-9D7C-4D911CB92FF1}" type="slidenum">
              <a:rPr lang="en-US" sz="600" b="0" u="none" strike="noStrike">
                <a:solidFill>
                  <a:srgbClr val="5D748B"/>
                </a:solidFill>
                <a:effectLst/>
                <a:uFillTx/>
                <a:latin typeface="Aptos"/>
              </a:rPr>
              <a:t>8</a:t>
            </a:fld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2119</TotalTime>
  <Words>888</Words>
  <Application>Microsoft Office PowerPoint</Application>
  <PresentationFormat>Widescreen</PresentationFormat>
  <Paragraphs>98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DPIRD Enterprise AI and Copilot Governance</dc:title>
  <dc:subject>Enterprise AI Transformation Case Study</dc:subject>
  <dc:creator>David Liong</dc:creator>
  <dc:description/>
  <cp:lastModifiedBy>David Liong</cp:lastModifiedBy>
  <cp:revision>7</cp:revision>
  <dcterms:created xsi:type="dcterms:W3CDTF">2026-09-17T16:57:17Z</dcterms:created>
  <dcterms:modified xsi:type="dcterms:W3CDTF">2026-10-20T22:59:41Z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On-screen Show (16:9)</vt:lpwstr>
  </property>
  <property fmtid="{D5CDD505-2E9C-101B-9397-08002B2CF9AE}" pid="4" name="Slides">
    <vt:r8>6</vt:r8>
  </property>
  <property fmtid="{D5CDD505-2E9C-101B-9397-08002B2CF9AE}" pid="5" name="MSIP_Label_16129952-a378-4c26-a6da-1fad9071d9d3_Enabled">
    <vt:lpwstr>true</vt:lpwstr>
  </property>
  <property fmtid="{D5CDD505-2E9C-101B-9397-08002B2CF9AE}" pid="6" name="MSIP_Label_16129952-a378-4c26-a6da-1fad9071d9d3_SetDate">
    <vt:lpwstr>2026-09-17T16:57:17Z</vt:lpwstr>
  </property>
  <property fmtid="{D5CDD505-2E9C-101B-9397-08002B2CF9AE}" pid="7" name="MSIP_Label_16129952-a378-4c26-a6da-1fad9071d9d3_Method">
    <vt:lpwstr>Standard</vt:lpwstr>
  </property>
  <property fmtid="{D5CDD505-2E9C-101B-9397-08002B2CF9AE}" pid="8" name="MSIP_Label_16129952-a378-4c26-a6da-1fad9071d9d3_Name">
    <vt:lpwstr>Business sensitive label</vt:lpwstr>
  </property>
  <property fmtid="{D5CDD505-2E9C-101B-9397-08002B2CF9AE}" pid="9" name="MSIP_Label_16129952-a378-4c26-a6da-1fad9071d9d3_SiteId">
    <vt:lpwstr>5750345e-6678-4480-99e0-daa427f4c8fb</vt:lpwstr>
  </property>
  <property fmtid="{D5CDD505-2E9C-101B-9397-08002B2CF9AE}" pid="10" name="MSIP_Label_16129952-a378-4c26-a6da-1fad9071d9d3_ActionId">
    <vt:lpwstr>867294a7-0552-46a5-adab-9cae84d44a63</vt:lpwstr>
  </property>
  <property fmtid="{D5CDD505-2E9C-101B-9397-08002B2CF9AE}" pid="11" name="MSIP_Label_16129952-a378-4c26-a6da-1fad9071d9d3_ContentBits">
    <vt:lpwstr>0</vt:lpwstr>
  </property>
</Properties>
</file>