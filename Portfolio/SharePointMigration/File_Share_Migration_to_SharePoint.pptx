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1B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rot="0"/>
          <a:lstStyle/>
          <a:p>
            <a:pPr>
              <a:defRPr sz="1300" b="0" u="none" strike="noStrike">
                <a:solidFill>
                  <a:srgbClr val="000000"/>
                </a:solidFill>
                <a:uFillTx/>
                <a:latin typeface="Arial"/>
              </a:defRPr>
            </a:pPr>
            <a:r>
              <a:rPr lang="en-US" sz="1100" b="1" u="none" strike="noStrike" dirty="0">
                <a:solidFill>
                  <a:srgbClr val="000000"/>
                </a:solidFill>
                <a:uFillTx/>
                <a:latin typeface="Arial"/>
              </a:rPr>
              <a:t>Annual platform operating cost ($100K)</a:t>
            </a:r>
          </a:p>
        </c:rich>
      </c:tx>
      <c:overlay val="0"/>
      <c:spPr>
        <a:noFill/>
        <a:ln w="0">
          <a:noFill/>
        </a:ln>
      </c:spPr>
    </c:title>
    <c:autoTitleDeleted val="0"/>
    <c:plotArea>
      <c:layout/>
      <c:barChart>
        <c:barDir val="col"/>
        <c:grouping val="clustered"/>
        <c:varyColors val="0"/>
        <c:ser>
          <c:idx val="0"/>
          <c:order val="0"/>
          <c:tx>
            <c:strRef>
              <c:f>Sheet1!$B$1</c:f>
              <c:strCache>
                <c:ptCount val="1"/>
                <c:pt idx="0">
                  <c:v>Annual cost</c:v>
                </c:pt>
              </c:strCache>
            </c:strRef>
          </c:tx>
          <c:spPr>
            <a:solidFill>
              <a:srgbClr val="35C46A"/>
            </a:solidFill>
            <a:ln w="0">
              <a:noFill/>
            </a:ln>
          </c:spPr>
          <c:invertIfNegative val="0"/>
          <c:dLbls>
            <c:dLbl>
              <c:idx val="0"/>
              <c:tx>
                <c:rich>
                  <a:bodyPr/>
                  <a:lstStyle/>
                  <a:p>
                    <a:r>
                      <a:rPr lang="en-US" dirty="0"/>
                      <a:t>$</a:t>
                    </a:r>
                    <a:fld id="{BFCEFF34-4E55-4C98-AB41-9CDCAF18682F}" type="VALUE">
                      <a:rPr lang="en-US" smtClean="0"/>
                      <a:pPr/>
                      <a:t>[VALUE]</a:t>
                    </a:fld>
                    <a:r>
                      <a:rPr lang="en-US" dirty="0"/>
                      <a:t>k</a:t>
                    </a:r>
                  </a:p>
                </c:rich>
              </c:tx>
              <c:dLblPos val="outEnd"/>
              <c:showLegendKey val="0"/>
              <c:showVal val="1"/>
              <c:showCatName val="0"/>
              <c:showSerName val="0"/>
              <c:showPercent val="0"/>
              <c:showBubbleSize val="1"/>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0-52AF-4172-ADDF-DF3003518B5B}"/>
                </c:ext>
              </c:extLst>
            </c:dLbl>
            <c:dLbl>
              <c:idx val="1"/>
              <c:tx>
                <c:rich>
                  <a:bodyPr/>
                  <a:lstStyle/>
                  <a:p>
                    <a:r>
                      <a:rPr lang="en-US"/>
                      <a:t>$12k</a:t>
                    </a:r>
                    <a:endParaRPr lang="en-US" dirty="0"/>
                  </a:p>
                </c:rich>
              </c:tx>
              <c:dLblPos val="outEnd"/>
              <c:showLegendKey val="0"/>
              <c:showVal val="1"/>
              <c:showCatName val="0"/>
              <c:showSerName val="0"/>
              <c:showPercent val="0"/>
              <c:showBubbleSize val="1"/>
              <c:separator>; </c:separator>
              <c:extLst>
                <c:ext xmlns:c15="http://schemas.microsoft.com/office/drawing/2012/chart" uri="{CE6537A1-D6FC-4f65-9D91-7224C49458BB}">
                  <c15:showDataLabelsRange val="0"/>
                </c:ext>
                <c:ext xmlns:c16="http://schemas.microsoft.com/office/drawing/2014/chart" uri="{C3380CC4-5D6E-409C-BE32-E72D297353CC}">
                  <c16:uniqueId val="{00000002-52AF-4172-ADDF-DF3003518B5B}"/>
                </c:ext>
              </c:extLst>
            </c:dLbl>
            <c:numFmt formatCode="#,##0" sourceLinked="0"/>
            <c:spPr>
              <a:noFill/>
              <a:ln>
                <a:noFill/>
              </a:ln>
              <a:effectLst/>
            </c:spPr>
            <c:txPr>
              <a:bodyPr wrap="square"/>
              <a:lstStyle/>
              <a:p>
                <a:pPr>
                  <a:defRPr sz="1200" b="0" u="none" strike="noStrike">
                    <a:solidFill>
                      <a:srgbClr val="000000"/>
                    </a:solidFill>
                    <a:uFillTx/>
                    <a:latin typeface="Arial"/>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Sheet1!$A$2:$A$5</c:f>
              <c:strCache>
                <c:ptCount val="2"/>
                <c:pt idx="0">
                  <c:v>Legacy on-premises</c:v>
                </c:pt>
                <c:pt idx="1">
                  <c:v>Cloud platform</c:v>
                </c:pt>
              </c:strCache>
            </c:strRef>
          </c:cat>
          <c:val>
            <c:numRef>
              <c:f>Sheet1!$B$2:$B$5</c:f>
              <c:numCache>
                <c:formatCode>General</c:formatCode>
                <c:ptCount val="2"/>
                <c:pt idx="0">
                  <c:v>112</c:v>
                </c:pt>
                <c:pt idx="1">
                  <c:v>16</c:v>
                </c:pt>
              </c:numCache>
            </c:numRef>
          </c:val>
          <c:extLst>
            <c:ext xmlns:c16="http://schemas.microsoft.com/office/drawing/2014/chart" uri="{C3380CC4-5D6E-409C-BE32-E72D297353CC}">
              <c16:uniqueId val="{00000000-423C-4F01-A61C-26CE29442F1C}"/>
            </c:ext>
          </c:extLst>
        </c:ser>
        <c:dLbls>
          <c:showLegendKey val="0"/>
          <c:showVal val="0"/>
          <c:showCatName val="0"/>
          <c:showSerName val="0"/>
          <c:showPercent val="0"/>
          <c:showBubbleSize val="0"/>
        </c:dLbls>
        <c:gapWidth val="150"/>
        <c:axId val="21847277"/>
        <c:axId val="63140183"/>
      </c:barChart>
      <c:catAx>
        <c:axId val="21847277"/>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800" b="0" u="none" strike="noStrike">
                <a:solidFill>
                  <a:srgbClr val="000000"/>
                </a:solidFill>
                <a:uFillTx/>
                <a:latin typeface="Arial"/>
              </a:defRPr>
            </a:pPr>
            <a:endParaRPr lang="en-US"/>
          </a:p>
        </c:txPr>
        <c:crossAx val="63140183"/>
        <c:crosses val="autoZero"/>
        <c:auto val="1"/>
        <c:lblAlgn val="ctr"/>
        <c:lblOffset val="100"/>
        <c:noMultiLvlLbl val="0"/>
      </c:catAx>
      <c:valAx>
        <c:axId val="63140183"/>
        <c:scaling>
          <c:orientation val="minMax"/>
          <c:max val="120"/>
          <c:min val="0"/>
        </c:scaling>
        <c:delete val="0"/>
        <c:axPos val="l"/>
        <c:majorGridlines>
          <c:spPr>
            <a:ln w="12600">
              <a:solidFill>
                <a:srgbClr val="888888"/>
              </a:solidFill>
              <a:round/>
            </a:ln>
          </c:spPr>
        </c:majorGridlines>
        <c:numFmt formatCode="General" sourceLinked="0"/>
        <c:majorTickMark val="out"/>
        <c:minorTickMark val="none"/>
        <c:tickLblPos val="nextTo"/>
        <c:spPr>
          <a:ln w="12600">
            <a:solidFill>
              <a:srgbClr val="888888"/>
            </a:solidFill>
            <a:round/>
          </a:ln>
        </c:spPr>
        <c:txPr>
          <a:bodyPr/>
          <a:lstStyle/>
          <a:p>
            <a:pPr>
              <a:defRPr sz="700" b="0" u="none" strike="noStrike">
                <a:solidFill>
                  <a:srgbClr val="000000"/>
                </a:solidFill>
                <a:uFillTx/>
                <a:latin typeface="Arial"/>
              </a:defRPr>
            </a:pPr>
            <a:endParaRPr lang="en-US"/>
          </a:p>
        </c:txPr>
        <c:crossAx val="21847277"/>
        <c:crosses val="autoZero"/>
        <c:crossBetween val="between"/>
        <c:majorUnit val="20"/>
      </c:valAx>
      <c:spPr>
        <a:noFill/>
        <a:ln w="0">
          <a:noFill/>
        </a:ln>
      </c:spPr>
    </c:plotArea>
    <c:plotVisOnly val="1"/>
    <c:dispBlanksAs val="span"/>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PlaceHolder 1"/>
          <p:cNvSpPr>
            <a:spLocks noGrp="1" noRot="1" noChangeAspect="1"/>
          </p:cNvSpPr>
          <p:nvPr>
            <p:ph type="sldImg"/>
          </p:nvPr>
        </p:nvSpPr>
        <p:spPr>
          <a:xfrm>
            <a:off x="1223963" y="639763"/>
            <a:ext cx="5614987" cy="3157537"/>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10" name="PlaceHolder 2"/>
          <p:cNvSpPr>
            <a:spLocks noGrp="1"/>
          </p:cNvSpPr>
          <p:nvPr>
            <p:ph type="body"/>
          </p:nvPr>
        </p:nvSpPr>
        <p:spPr>
          <a:xfrm>
            <a:off x="806400" y="3999334"/>
            <a:ext cx="6450816" cy="3788694"/>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11" name="PlaceHolder 3"/>
          <p:cNvSpPr>
            <a:spLocks noGrp="1"/>
          </p:cNvSpPr>
          <p:nvPr>
            <p:ph type="hdr"/>
          </p:nvPr>
        </p:nvSpPr>
        <p:spPr>
          <a:xfrm>
            <a:off x="0" y="0"/>
            <a:ext cx="3499392" cy="420714"/>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12" name="PlaceHolder 4"/>
          <p:cNvSpPr>
            <a:spLocks noGrp="1"/>
          </p:cNvSpPr>
          <p:nvPr>
            <p:ph type="dt" idx="2"/>
          </p:nvPr>
        </p:nvSpPr>
        <p:spPr>
          <a:xfrm>
            <a:off x="4564224" y="0"/>
            <a:ext cx="3499392" cy="420714"/>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3" name="PlaceHolder 5"/>
          <p:cNvSpPr>
            <a:spLocks noGrp="1"/>
          </p:cNvSpPr>
          <p:nvPr>
            <p:ph type="ftr" idx="3"/>
          </p:nvPr>
        </p:nvSpPr>
        <p:spPr>
          <a:xfrm>
            <a:off x="0" y="7998953"/>
            <a:ext cx="3499392" cy="420714"/>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4" name="PlaceHolder 6"/>
          <p:cNvSpPr>
            <a:spLocks noGrp="1"/>
          </p:cNvSpPr>
          <p:nvPr>
            <p:ph type="sldNum" idx="4"/>
          </p:nvPr>
        </p:nvSpPr>
        <p:spPr>
          <a:xfrm>
            <a:off x="4564224" y="7998953"/>
            <a:ext cx="3499392" cy="420714"/>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F05D8EF-0590-4528-9510-76FA31A330EF}"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1497013" y="900113"/>
            <a:ext cx="4321175" cy="2430462"/>
          </a:xfrm>
          <a:prstGeom prst="rect">
            <a:avLst/>
          </a:prstGeom>
          <a:ln w="0">
            <a:noFill/>
          </a:ln>
        </p:spPr>
      </p:sp>
      <p:sp>
        <p:nvSpPr>
          <p:cNvPr id="165" name="PlaceHolder 2"/>
          <p:cNvSpPr>
            <a:spLocks noGrp="1"/>
          </p:cNvSpPr>
          <p:nvPr>
            <p:ph type="body"/>
          </p:nvPr>
        </p:nvSpPr>
        <p:spPr>
          <a:xfrm>
            <a:off x="731520" y="3465504"/>
            <a:ext cx="5851776" cy="2835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dirty="0">
                <a:solidFill>
                  <a:srgbClr val="000000"/>
                </a:solidFill>
                <a:effectLst/>
                <a:uFillTx/>
                <a:latin typeface="Arial"/>
              </a:rPr>
              <a:t>Welcome the panel and introduce David Liong as a Senior Solutions Architect with over 15 years in the Microsoft </a:t>
            </a:r>
            <a:r>
              <a:rPr lang="en-US" sz="2000" b="0" u="none" strike="noStrike" dirty="0" err="1">
                <a:solidFill>
                  <a:srgbClr val="000000"/>
                </a:solidFill>
                <a:effectLst/>
                <a:uFillTx/>
                <a:latin typeface="Arial"/>
              </a:rPr>
              <a:t>ecosystem.,Explain</a:t>
            </a:r>
            <a:r>
              <a:rPr lang="en-US" sz="2000" b="0" u="none" strike="noStrike" dirty="0">
                <a:solidFill>
                  <a:srgbClr val="000000"/>
                </a:solidFill>
                <a:effectLst/>
                <a:uFillTx/>
                <a:latin typeface="Arial"/>
              </a:rPr>
              <a:t> the migration from legacy on-premises file shares to SharePoint Online, Teams and OneDrive, enabling RAC to exit its physical data </a:t>
            </a:r>
            <a:r>
              <a:rPr lang="en-US" sz="2000" b="0" u="none" strike="noStrike" dirty="0" err="1">
                <a:solidFill>
                  <a:srgbClr val="000000"/>
                </a:solidFill>
                <a:effectLst/>
                <a:uFillTx/>
                <a:latin typeface="Arial"/>
              </a:rPr>
              <a:t>centre.,Highlight</a:t>
            </a:r>
            <a:r>
              <a:rPr lang="en-US" sz="2000" b="0" u="none" strike="noStrike" dirty="0">
                <a:solidFill>
                  <a:srgbClr val="000000"/>
                </a:solidFill>
                <a:effectLst/>
                <a:uFillTx/>
                <a:latin typeface="Arial"/>
              </a:rPr>
              <a:t> technical execution and commercial sustainability, producing over $100K in annual recurring savings.,[Sources],Visual on this slide was generated with Microsoft Copilot.,[/Sources]</a:t>
            </a:r>
          </a:p>
        </p:txBody>
      </p:sp>
      <p:sp>
        <p:nvSpPr>
          <p:cNvPr id="166" name="PlaceHolder 3"/>
          <p:cNvSpPr>
            <a:spLocks noGrp="1"/>
          </p:cNvSpPr>
          <p:nvPr>
            <p:ph type="sldNum" idx="10"/>
          </p:nvPr>
        </p:nvSpPr>
        <p:spPr>
          <a:xfrm>
            <a:off x="4143744" y="6839721"/>
            <a:ext cx="3169536" cy="360896"/>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791C49-E30C-48FB-87D1-22E8FE85885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1497013" y="900113"/>
            <a:ext cx="4321175" cy="2430462"/>
          </a:xfrm>
          <a:prstGeom prst="rect">
            <a:avLst/>
          </a:prstGeom>
          <a:ln w="0">
            <a:noFill/>
          </a:ln>
        </p:spPr>
      </p:sp>
      <p:sp>
        <p:nvSpPr>
          <p:cNvPr id="168" name="PlaceHolder 2"/>
          <p:cNvSpPr>
            <a:spLocks noGrp="1"/>
          </p:cNvSpPr>
          <p:nvPr>
            <p:ph type="body"/>
          </p:nvPr>
        </p:nvSpPr>
        <p:spPr>
          <a:xfrm>
            <a:off x="731520" y="3465504"/>
            <a:ext cx="5851776" cy="2835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Explain the $112,000 annual operating expense and the technical debt of physical servers and NetApps storage.,Describe the 130,000 business-critical files across HR, financial and insurance content.,Emphasise slow search, no co-authoring and poor mobile access for frontline staff.,[Sources],Visual on this slide was generated with Microsoft Copilot.,[/Sources]</a:t>
            </a:r>
          </a:p>
        </p:txBody>
      </p:sp>
      <p:sp>
        <p:nvSpPr>
          <p:cNvPr id="169" name="PlaceHolder 3"/>
          <p:cNvSpPr>
            <a:spLocks noGrp="1"/>
          </p:cNvSpPr>
          <p:nvPr>
            <p:ph type="sldNum" idx="11"/>
          </p:nvPr>
        </p:nvSpPr>
        <p:spPr>
          <a:xfrm>
            <a:off x="4143744" y="6839721"/>
            <a:ext cx="3169536" cy="360896"/>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130528-C8C3-43FB-8025-587B5107A689}"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noRot="1" noChangeAspect="1"/>
          </p:cNvSpPr>
          <p:nvPr>
            <p:ph type="sldImg"/>
          </p:nvPr>
        </p:nvSpPr>
        <p:spPr>
          <a:xfrm>
            <a:off x="1497013" y="900113"/>
            <a:ext cx="4321175" cy="2430462"/>
          </a:xfrm>
          <a:prstGeom prst="rect">
            <a:avLst/>
          </a:prstGeom>
          <a:ln w="0">
            <a:noFill/>
          </a:ln>
        </p:spPr>
      </p:sp>
      <p:sp>
        <p:nvSpPr>
          <p:cNvPr id="171" name="PlaceHolder 2"/>
          <p:cNvSpPr>
            <a:spLocks noGrp="1"/>
          </p:cNvSpPr>
          <p:nvPr>
            <p:ph type="body"/>
          </p:nvPr>
        </p:nvSpPr>
        <p:spPr>
          <a:xfrm>
            <a:off x="731520" y="3465504"/>
            <a:ext cx="5851776" cy="2835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For approximately 90% of data, use the standard SharePoint Online and Teams migration route through ShareGate.,Explain Azure BLOB staging for API throttling and PowerShell plus Power BI telemetry.,Describe the hybrid SMB exception for VBA macros, 14 secure Azure folders and DFS redirection with zero downtime.,[Sources],Visual on this slide was generated with Microsoft Copilot.,[/Sources]</a:t>
            </a:r>
          </a:p>
        </p:txBody>
      </p:sp>
      <p:sp>
        <p:nvSpPr>
          <p:cNvPr id="172" name="PlaceHolder 3"/>
          <p:cNvSpPr>
            <a:spLocks noGrp="1"/>
          </p:cNvSpPr>
          <p:nvPr>
            <p:ph type="sldNum" idx="12"/>
          </p:nvPr>
        </p:nvSpPr>
        <p:spPr>
          <a:xfrm>
            <a:off x="4143744" y="6839721"/>
            <a:ext cx="3169536" cy="360896"/>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0BBF32-276D-4F9C-A170-C92E1895CF1E}"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noRot="1" noChangeAspect="1"/>
          </p:cNvSpPr>
          <p:nvPr>
            <p:ph type="sldImg"/>
          </p:nvPr>
        </p:nvSpPr>
        <p:spPr>
          <a:xfrm>
            <a:off x="1497013" y="900113"/>
            <a:ext cx="4321175" cy="2430462"/>
          </a:xfrm>
          <a:prstGeom prst="rect">
            <a:avLst/>
          </a:prstGeom>
          <a:ln w="0">
            <a:noFill/>
          </a:ln>
        </p:spPr>
      </p:sp>
      <p:sp>
        <p:nvSpPr>
          <p:cNvPr id="174" name="PlaceHolder 2"/>
          <p:cNvSpPr>
            <a:spLocks noGrp="1"/>
          </p:cNvSpPr>
          <p:nvPr>
            <p:ph type="body"/>
          </p:nvPr>
        </p:nvSpPr>
        <p:spPr>
          <a:xfrm>
            <a:off x="731520" y="3465504"/>
            <a:ext cx="5851776" cy="2835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Position David as the Strategic Translator, not only a migration scripter.,Phase 1 established taxonomy, blockers and security-group backups.,Phase 2 used Scrum delivery, SIDs, rollback strategies and DLP controls.,Phase 3 completed audits, Helpdesk handover and server decommissioning.,[Sources],Visual on this slide was generated with Microsoft Copilot.,[/Sources]</a:t>
            </a:r>
          </a:p>
        </p:txBody>
      </p:sp>
      <p:sp>
        <p:nvSpPr>
          <p:cNvPr id="175" name="PlaceHolder 3"/>
          <p:cNvSpPr>
            <a:spLocks noGrp="1"/>
          </p:cNvSpPr>
          <p:nvPr>
            <p:ph type="sldNum" idx="13"/>
          </p:nvPr>
        </p:nvSpPr>
        <p:spPr>
          <a:xfrm>
            <a:off x="4143744" y="6839721"/>
            <a:ext cx="3169536" cy="360896"/>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F8005DE-4A44-4ACA-B0C9-FCB05CBFBEAB}"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noRot="1" noChangeAspect="1"/>
          </p:cNvSpPr>
          <p:nvPr>
            <p:ph type="sldImg"/>
          </p:nvPr>
        </p:nvSpPr>
        <p:spPr>
          <a:xfrm>
            <a:off x="1497013" y="900113"/>
            <a:ext cx="4321175" cy="2430462"/>
          </a:xfrm>
          <a:prstGeom prst="rect">
            <a:avLst/>
          </a:prstGeom>
          <a:ln w="0">
            <a:noFill/>
          </a:ln>
        </p:spPr>
      </p:sp>
      <p:sp>
        <p:nvSpPr>
          <p:cNvPr id="177" name="PlaceHolder 2"/>
          <p:cNvSpPr>
            <a:spLocks noGrp="1"/>
          </p:cNvSpPr>
          <p:nvPr>
            <p:ph type="body"/>
          </p:nvPr>
        </p:nvSpPr>
        <p:spPr>
          <a:xfrm>
            <a:off x="731520" y="3465504"/>
            <a:ext cx="5851776" cy="2835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Conclude with the quantified value.,Costs reduced from $112,000 to $12K-$16K, representing approximately 85% OpEx reduction and over $100K recurring annual savings.,Emphasise 13 site collections and over 130,000 files with zero data loss, zero downtime and zero P1 incidents.,[Sources],Visual on this slide was generated with Microsoft Copilot.,[/Sources]</a:t>
            </a:r>
          </a:p>
        </p:txBody>
      </p:sp>
      <p:sp>
        <p:nvSpPr>
          <p:cNvPr id="178" name="PlaceHolder 3"/>
          <p:cNvSpPr>
            <a:spLocks noGrp="1"/>
          </p:cNvSpPr>
          <p:nvPr>
            <p:ph type="sldNum" idx="14"/>
          </p:nvPr>
        </p:nvSpPr>
        <p:spPr>
          <a:xfrm>
            <a:off x="4143744" y="6839721"/>
            <a:ext cx="3169536" cy="360896"/>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A34262E-0A3B-4F73-B042-CDB77ABBE591}"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noRot="1" noChangeAspect="1"/>
          </p:cNvSpPr>
          <p:nvPr>
            <p:ph type="sldImg"/>
          </p:nvPr>
        </p:nvSpPr>
        <p:spPr>
          <a:xfrm>
            <a:off x="1497013" y="900113"/>
            <a:ext cx="4321175" cy="2430462"/>
          </a:xfrm>
          <a:prstGeom prst="rect">
            <a:avLst/>
          </a:prstGeom>
          <a:ln w="0">
            <a:noFill/>
          </a:ln>
        </p:spPr>
      </p:sp>
      <p:sp>
        <p:nvSpPr>
          <p:cNvPr id="180" name="PlaceHolder 2"/>
          <p:cNvSpPr>
            <a:spLocks noGrp="1"/>
          </p:cNvSpPr>
          <p:nvPr>
            <p:ph type="body"/>
          </p:nvPr>
        </p:nvSpPr>
        <p:spPr>
          <a:xfrm>
            <a:off x="731520" y="3465504"/>
            <a:ext cx="5851776" cy="2835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Connect the evidence to hiring criteria: commercial acumen, enterprise Microsoft 365 architecture, hybrid problem solving and controlled delivery.,Highlight role alignment across Solutions Architecture, Microsoft 365 consulting, SharePoint migration and cloud transformation leadership.,[Sources],Visual on this slide was generated with Microsoft Copilot.,[/Sources]</a:t>
            </a:r>
          </a:p>
        </p:txBody>
      </p:sp>
      <p:sp>
        <p:nvSpPr>
          <p:cNvPr id="181" name="PlaceHolder 3"/>
          <p:cNvSpPr>
            <a:spLocks noGrp="1"/>
          </p:cNvSpPr>
          <p:nvPr>
            <p:ph type="sldNum" idx="15"/>
          </p:nvPr>
        </p:nvSpPr>
        <p:spPr>
          <a:xfrm>
            <a:off x="4143744" y="6839721"/>
            <a:ext cx="3169536" cy="360896"/>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6EFB289-3E55-486B-9710-BB09963671C9}"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
    <p:bg>
      <p:bgPr>
        <a:solidFill>
          <a:srgbClr val="F3F8FB"/>
        </a:solidFill>
        <a:effectLst/>
      </p:bgPr>
    </p:bg>
    <p:spTree>
      <p:nvGrpSpPr>
        <p:cNvPr id="1" name=""/>
        <p:cNvGrpSpPr/>
        <p:nvPr/>
      </p:nvGrpSpPr>
      <p:grpSpPr>
        <a:xfrm>
          <a:off x="0" y="0"/>
          <a:ext cx="0" cy="0"/>
          <a:chOff x="0" y="0"/>
          <a:chExt cx="0" cy="0"/>
        </a:xfrm>
      </p:grpSpPr>
      <p:sp>
        <p:nvSpPr>
          <p:cNvPr id="4" name="Shape 0"/>
          <p:cNvSpPr/>
          <p:nvPr/>
        </p:nvSpPr>
        <p:spPr>
          <a:xfrm>
            <a:off x="411480" y="6519600"/>
            <a:ext cx="11338560" cy="720"/>
          </a:xfrm>
          <a:prstGeom prst="line">
            <a:avLst/>
          </a:prstGeom>
          <a:ln w="12700">
            <a:solidFill>
              <a:srgbClr val="D8E6EF"/>
            </a:solidFill>
            <a:round/>
          </a:ln>
        </p:spPr>
        <p:style>
          <a:lnRef idx="0">
            <a:scrgbClr r="0" g="0" b="0"/>
          </a:lnRef>
          <a:fillRef idx="0">
            <a:scrgbClr r="0" g="0" b="0"/>
          </a:fillRef>
          <a:effectRef idx="0">
            <a:scrgbClr r="0" g="0" b="0"/>
          </a:effectRef>
          <a:fontRef idx="minor"/>
        </p:style>
        <p:txBody>
          <a:bodyPr lIns="90000" tIns="-44280" rIns="90000" bIns="-44280" anchor="t" anchorCtr="1">
            <a:noAutofit/>
          </a:bodyPr>
          <a:lstStyle/>
          <a:p>
            <a:endParaRPr lang="en-US" sz="1800" b="0" u="none" strike="noStrike">
              <a:solidFill>
                <a:srgbClr val="000000"/>
              </a:solidFill>
              <a:effectLst/>
              <a:uFillTx/>
              <a:latin typeface="Arial"/>
            </a:endParaRPr>
          </a:p>
        </p:txBody>
      </p:sp>
      <p:sp>
        <p:nvSpPr>
          <p:cNvPr id="5" name="Text 1"/>
          <p:cNvSpPr/>
          <p:nvPr/>
        </p:nvSpPr>
        <p:spPr>
          <a:xfrm>
            <a:off x="457200" y="6583680"/>
            <a:ext cx="731484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50" b="1" u="none" strike="noStrike">
                <a:solidFill>
                  <a:srgbClr val="58718A"/>
                </a:solidFill>
                <a:effectLst/>
                <a:uFillTx/>
                <a:latin typeface="Aptos"/>
              </a:rPr>
              <a:t>DAVID LIONG  |  SOLUTIONS ARCHITECT  |  RAC DIGITAL TRANSFORMATION CASE STUDY</a:t>
            </a:r>
            <a:endParaRPr lang="en-US" sz="550" b="0" u="none" strike="noStrike">
              <a:solidFill>
                <a:srgbClr val="000000"/>
              </a:solidFill>
              <a:effectLst/>
              <a:uFillTx/>
              <a:latin typeface="Arial"/>
            </a:endParaRPr>
          </a:p>
        </p:txBody>
      </p:sp>
      <p:sp>
        <p:nvSpPr>
          <p:cNvPr id="6" name="PlaceHolder 1"/>
          <p:cNvSpPr>
            <a:spLocks noGrp="1"/>
          </p:cNvSpPr>
          <p:nvPr>
            <p:ph type="sldNum" idx="1"/>
          </p:nvPr>
        </p:nvSpPr>
        <p:spPr>
          <a:xfrm>
            <a:off x="11247120" y="6565320"/>
            <a:ext cx="411120" cy="136800"/>
          </a:xfrm>
          <a:prstGeom prst="rect">
            <a:avLst/>
          </a:prstGeom>
          <a:noFill/>
          <a:ln w="0">
            <a:noFill/>
          </a:ln>
        </p:spPr>
        <p:txBody>
          <a:bodyPr lIns="90000" tIns="45000" rIns="90000" bIns="45000" anchor="t">
            <a:noAutofit/>
          </a:bodyPr>
          <a:lstStyle>
            <a:lvl1pPr indent="0" algn="r" defTabSz="914400">
              <a:lnSpc>
                <a:spcPct val="100000"/>
              </a:lnSpc>
              <a:buNone/>
              <a:defRPr lang="en-US" sz="600" b="0" u="none" strike="noStrike">
                <a:solidFill>
                  <a:srgbClr val="58718A"/>
                </a:solidFill>
                <a:effectLst/>
                <a:uFillTx/>
                <a:latin typeface="Aptos"/>
              </a:defRPr>
            </a:lvl1pPr>
          </a:lstStyle>
          <a:p>
            <a:pPr indent="0" algn="r" defTabSz="914400">
              <a:lnSpc>
                <a:spcPct val="100000"/>
              </a:lnSpc>
              <a:buNone/>
            </a:pPr>
            <a:fld id="{102B4D48-D1CF-419C-B09B-F249E38D7A19}" type="slidenum">
              <a:rPr lang="en-US" sz="600" b="0" u="none" strike="noStrike">
                <a:solidFill>
                  <a:srgbClr val="58718A"/>
                </a:solidFill>
                <a:effectLst/>
                <a:uFillTx/>
                <a:latin typeface="Aptos"/>
              </a:rPr>
              <a:t>‹#›</a:t>
            </a:fld>
            <a:endParaRPr lang="en-US" sz="600" b="0" u="none" strike="noStrike">
              <a:solidFill>
                <a:srgbClr val="000000"/>
              </a:solidFill>
              <a:effectLst/>
              <a:uFillTx/>
              <a:latin typeface="Times New Roman"/>
            </a:endParaRPr>
          </a:p>
        </p:txBody>
      </p:sp>
      <p:sp>
        <p:nvSpPr>
          <p:cNvPr id="7"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p>
        </p:txBody>
      </p:sp>
      <p:sp>
        <p:nvSpPr>
          <p:cNvPr id="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B33"/>
        </a:solidFill>
        <a:effectLst/>
      </p:bgPr>
    </p:bg>
    <p:spTree>
      <p:nvGrpSpPr>
        <p:cNvPr id="1" name=""/>
        <p:cNvGrpSpPr/>
        <p:nvPr/>
      </p:nvGrpSpPr>
      <p:grpSpPr>
        <a:xfrm>
          <a:off x="0" y="0"/>
          <a:ext cx="1" cy="1"/>
          <a:chOff x="0" y="0"/>
          <a:chExt cx="1" cy="1"/>
        </a:xfrm>
      </p:grpSpPr>
      <p:sp>
        <p:nvSpPr>
          <p:cNvPr id="18" name="Text 2"/>
          <p:cNvSpPr/>
          <p:nvPr/>
        </p:nvSpPr>
        <p:spPr>
          <a:xfrm>
            <a:off x="589131" y="2027209"/>
            <a:ext cx="11438028" cy="194957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dirty="0">
                <a:solidFill>
                  <a:srgbClr val="FFC000"/>
                </a:solidFill>
                <a:latin typeface="Arial"/>
              </a:rPr>
              <a:t>Customer Story</a:t>
            </a:r>
          </a:p>
          <a:p>
            <a:pPr>
              <a:tabLst>
                <a:tab pos="0" algn="l"/>
              </a:tabLst>
            </a:pPr>
            <a:r>
              <a:rPr lang="en-AU" sz="1400" dirty="0">
                <a:solidFill>
                  <a:schemeClr val="bg1"/>
                </a:solidFill>
              </a:rPr>
              <a:t>At RAC a house brand insurance company for Western Australia, David Liong with a core team of 7 members lead a large-scale digital transformation project of exiting the data centre by delivering cloud migrations from file shares across to SharePoint Online.</a:t>
            </a:r>
          </a:p>
          <a:p>
            <a:pPr>
              <a:tabLst>
                <a:tab pos="0" algn="l"/>
              </a:tabLst>
            </a:pPr>
            <a:endParaRPr lang="en-AU" sz="1400" dirty="0">
              <a:solidFill>
                <a:schemeClr val="bg1"/>
              </a:solidFill>
            </a:endParaRPr>
          </a:p>
          <a:p>
            <a:pPr>
              <a:tabLst>
                <a:tab pos="0" algn="l"/>
              </a:tabLst>
            </a:pPr>
            <a:r>
              <a:rPr lang="en-AU" sz="1400" dirty="0">
                <a:solidFill>
                  <a:schemeClr val="bg1"/>
                </a:solidFill>
              </a:rPr>
              <a:t>The outcome of delivering the entire migration was reducing annual operational expenditure (</a:t>
            </a:r>
            <a:r>
              <a:rPr lang="en-AU" sz="1400" dirty="0" err="1">
                <a:solidFill>
                  <a:schemeClr val="bg1"/>
                </a:solidFill>
              </a:rPr>
              <a:t>OpEx</a:t>
            </a:r>
            <a:r>
              <a:rPr lang="en-AU" sz="1400" dirty="0">
                <a:solidFill>
                  <a:schemeClr val="bg1"/>
                </a:solidFill>
              </a:rPr>
              <a:t>) by approximately $100K (achieved by </a:t>
            </a:r>
            <a:r>
              <a:rPr lang="en-AU" sz="1400" b="1" dirty="0">
                <a:solidFill>
                  <a:schemeClr val="bg1"/>
                </a:solidFill>
              </a:rPr>
              <a:t>reducing operational running costs from $112K to $12K per annum when existing the data </a:t>
            </a:r>
            <a:r>
              <a:rPr lang="en-AU" sz="1400" b="1" dirty="0" err="1">
                <a:solidFill>
                  <a:schemeClr val="bg1"/>
                </a:solidFill>
              </a:rPr>
              <a:t>center</a:t>
            </a:r>
            <a:r>
              <a:rPr lang="en-AU" sz="1400" b="1" dirty="0">
                <a:solidFill>
                  <a:schemeClr val="bg1"/>
                </a:solidFill>
              </a:rPr>
              <a:t> on premise</a:t>
            </a:r>
            <a:r>
              <a:rPr lang="en-AU" sz="1400" dirty="0">
                <a:solidFill>
                  <a:schemeClr val="bg1"/>
                </a:solidFill>
              </a:rPr>
              <a:t>)</a:t>
            </a:r>
            <a:r>
              <a:rPr lang="en-US" sz="1400" b="1" dirty="0">
                <a:solidFill>
                  <a:schemeClr val="bg1"/>
                </a:solidFill>
                <a:latin typeface="Arial"/>
              </a:rPr>
              <a:t> </a:t>
            </a:r>
            <a:endParaRPr lang="en-US" sz="1400" b="1" u="none" strike="noStrike" dirty="0">
              <a:solidFill>
                <a:schemeClr val="bg1"/>
              </a:solidFill>
              <a:uFillTx/>
              <a:latin typeface="Arial"/>
            </a:endParaRPr>
          </a:p>
        </p:txBody>
      </p:sp>
      <p:sp>
        <p:nvSpPr>
          <p:cNvPr id="19" name="Shape 3"/>
          <p:cNvSpPr/>
          <p:nvPr/>
        </p:nvSpPr>
        <p:spPr>
          <a:xfrm>
            <a:off x="1055660" y="5167336"/>
            <a:ext cx="6352845" cy="1142640"/>
          </a:xfrm>
          <a:prstGeom prst="roundRect">
            <a:avLst>
              <a:gd name="adj" fmla="val 8000"/>
            </a:avLst>
          </a:prstGeom>
          <a:solidFill>
            <a:srgbClr val="0D2B49"/>
          </a:solidFill>
          <a:ln w="12700">
            <a:solidFill>
              <a:srgbClr val="0D2B4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Text 4"/>
          <p:cNvSpPr/>
          <p:nvPr/>
        </p:nvSpPr>
        <p:spPr>
          <a:xfrm>
            <a:off x="1231640" y="5259904"/>
            <a:ext cx="52643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F2C14E"/>
                </a:solidFill>
                <a:effectLst/>
                <a:uFillTx/>
                <a:latin typeface="Aptos"/>
              </a:rPr>
              <a:t>$100K+ ANNUAL RECURRING SAVINGS</a:t>
            </a:r>
            <a:r>
              <a:rPr lang="en-US" sz="1600" b="1" dirty="0">
                <a:solidFill>
                  <a:srgbClr val="F2C14E"/>
                </a:solidFill>
                <a:latin typeface="Aptos"/>
              </a:rPr>
              <a:t> – Post migration </a:t>
            </a:r>
            <a:endParaRPr lang="en-US" sz="1600" b="0" u="none" strike="noStrike" dirty="0">
              <a:solidFill>
                <a:srgbClr val="FFFFFF"/>
              </a:solidFill>
              <a:effectLst/>
              <a:uFillTx/>
              <a:latin typeface="Arial"/>
            </a:endParaRPr>
          </a:p>
        </p:txBody>
      </p:sp>
      <p:sp>
        <p:nvSpPr>
          <p:cNvPr id="21" name="Text 5"/>
          <p:cNvSpPr/>
          <p:nvPr/>
        </p:nvSpPr>
        <p:spPr>
          <a:xfrm>
            <a:off x="1302620" y="5756988"/>
            <a:ext cx="5648686" cy="37010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chemeClr val="bg1"/>
                </a:solidFill>
                <a:effectLst/>
                <a:uFillTx/>
                <a:latin typeface="Aptos"/>
              </a:rPr>
              <a:t>130,000+ documents | 13 site collections migrated | zero file loss | </a:t>
            </a:r>
            <a:r>
              <a:rPr lang="en-US" sz="1200" b="1" dirty="0">
                <a:solidFill>
                  <a:schemeClr val="bg1"/>
                </a:solidFill>
                <a:latin typeface="Aptos"/>
              </a:rPr>
              <a:t>0</a:t>
            </a:r>
            <a:r>
              <a:rPr lang="en-US" sz="1200" b="1" u="none" strike="noStrike" dirty="0">
                <a:solidFill>
                  <a:schemeClr val="bg1"/>
                </a:solidFill>
                <a:effectLst/>
                <a:uFillTx/>
                <a:latin typeface="Aptos"/>
              </a:rPr>
              <a:t> P1 incidents</a:t>
            </a:r>
            <a:endParaRPr lang="en-US" sz="1200" b="1" u="none" strike="noStrike" dirty="0">
              <a:solidFill>
                <a:schemeClr val="bg1"/>
              </a:solidFill>
              <a:effectLst/>
              <a:uFillTx/>
              <a:latin typeface="Arial"/>
            </a:endParaRPr>
          </a:p>
        </p:txBody>
      </p:sp>
      <p:pic>
        <p:nvPicPr>
          <p:cNvPr id="7" name="Picture 6">
            <a:extLst>
              <a:ext uri="{FF2B5EF4-FFF2-40B4-BE49-F238E27FC236}">
                <a16:creationId xmlns:a16="http://schemas.microsoft.com/office/drawing/2014/main" id="{D936BBA3-24DA-82E4-6377-B9A9A98DA708}"/>
              </a:ext>
            </a:extLst>
          </p:cNvPr>
          <p:cNvPicPr>
            <a:picLocks noChangeAspect="1"/>
          </p:cNvPicPr>
          <p:nvPr/>
        </p:nvPicPr>
        <p:blipFill>
          <a:blip r:embed="rId3"/>
          <a:stretch>
            <a:fillRect/>
          </a:stretch>
        </p:blipFill>
        <p:spPr>
          <a:xfrm>
            <a:off x="0" y="77639"/>
            <a:ext cx="12192000" cy="1949570"/>
          </a:xfrm>
          <a:prstGeom prst="rect">
            <a:avLst/>
          </a:prstGeom>
        </p:spPr>
      </p:pic>
      <p:pic>
        <p:nvPicPr>
          <p:cNvPr id="5" name="Picture 4">
            <a:extLst>
              <a:ext uri="{FF2B5EF4-FFF2-40B4-BE49-F238E27FC236}">
                <a16:creationId xmlns:a16="http://schemas.microsoft.com/office/drawing/2014/main" id="{035DB205-2853-B2DA-8599-1FE0AA99DACD}"/>
              </a:ext>
            </a:extLst>
          </p:cNvPr>
          <p:cNvPicPr>
            <a:picLocks noChangeAspect="1"/>
          </p:cNvPicPr>
          <p:nvPr/>
        </p:nvPicPr>
        <p:blipFill>
          <a:blip r:embed="rId4"/>
          <a:stretch>
            <a:fillRect/>
          </a:stretch>
        </p:blipFill>
        <p:spPr>
          <a:xfrm>
            <a:off x="589131" y="3976779"/>
            <a:ext cx="7513657" cy="905001"/>
          </a:xfrm>
          <a:prstGeom prst="rect">
            <a:avLst/>
          </a:prstGeom>
        </p:spPr>
      </p:pic>
      <p:pic>
        <p:nvPicPr>
          <p:cNvPr id="6" name="Picture 5">
            <a:extLst>
              <a:ext uri="{FF2B5EF4-FFF2-40B4-BE49-F238E27FC236}">
                <a16:creationId xmlns:a16="http://schemas.microsoft.com/office/drawing/2014/main" id="{62528B82-65FB-4015-AFFF-1D68806BB57B}"/>
              </a:ext>
            </a:extLst>
          </p:cNvPr>
          <p:cNvPicPr>
            <a:picLocks noChangeAspect="1"/>
          </p:cNvPicPr>
          <p:nvPr/>
        </p:nvPicPr>
        <p:blipFill>
          <a:blip r:embed="rId5"/>
          <a:stretch>
            <a:fillRect/>
          </a:stretch>
        </p:blipFill>
        <p:spPr>
          <a:xfrm>
            <a:off x="8456049" y="4019393"/>
            <a:ext cx="3428602" cy="22870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3" name="Text 0"/>
          <p:cNvSpPr/>
          <p:nvPr/>
        </p:nvSpPr>
        <p:spPr>
          <a:xfrm>
            <a:off x="457200" y="210240"/>
            <a:ext cx="4571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spc="99" dirty="0">
                <a:solidFill>
                  <a:srgbClr val="20D6C7"/>
                </a:solidFill>
                <a:uFillTx/>
                <a:latin typeface="Aptos"/>
              </a:rPr>
              <a:t>PILLAR 2  |  THE EXECUTIVE CHALLENGE</a:t>
            </a:r>
            <a:endParaRPr lang="en-US" sz="1400" b="0" u="none" strike="noStrike" dirty="0">
              <a:solidFill>
                <a:srgbClr val="000000"/>
              </a:solidFill>
              <a:uFillTx/>
              <a:latin typeface="Arial"/>
            </a:endParaRPr>
          </a:p>
        </p:txBody>
      </p:sp>
      <p:sp>
        <p:nvSpPr>
          <p:cNvPr id="24" name="Text 1"/>
          <p:cNvSpPr/>
          <p:nvPr/>
        </p:nvSpPr>
        <p:spPr>
          <a:xfrm>
            <a:off x="457200" y="457200"/>
            <a:ext cx="11201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dirty="0">
                <a:solidFill>
                  <a:srgbClr val="071B33"/>
                </a:solidFill>
                <a:effectLst/>
                <a:uFillTx/>
                <a:latin typeface="Aptos"/>
              </a:rPr>
              <a:t>Legacy On-Premises File Shares Imposed High </a:t>
            </a:r>
            <a:r>
              <a:rPr lang="en-US" sz="2100" b="1" u="none" strike="noStrike" dirty="0" err="1">
                <a:solidFill>
                  <a:srgbClr val="071B33"/>
                </a:solidFill>
                <a:effectLst/>
                <a:uFillTx/>
                <a:latin typeface="Aptos"/>
              </a:rPr>
              <a:t>OpEx</a:t>
            </a:r>
            <a:r>
              <a:rPr lang="en-US" sz="2100" b="1" u="none" strike="noStrike" dirty="0">
                <a:solidFill>
                  <a:srgbClr val="071B33"/>
                </a:solidFill>
                <a:effectLst/>
                <a:uFillTx/>
                <a:latin typeface="Aptos"/>
              </a:rPr>
              <a:t> and Siloed Corporate Data</a:t>
            </a:r>
            <a:endParaRPr lang="en-US" sz="2100" b="0" u="none" strike="noStrike" dirty="0">
              <a:solidFill>
                <a:srgbClr val="000000"/>
              </a:solidFill>
              <a:effectLst/>
              <a:uFillTx/>
              <a:latin typeface="Arial"/>
            </a:endParaRPr>
          </a:p>
        </p:txBody>
      </p:sp>
      <p:sp>
        <p:nvSpPr>
          <p:cNvPr id="25" name="Text 2"/>
          <p:cNvSpPr/>
          <p:nvPr/>
        </p:nvSpPr>
        <p:spPr>
          <a:xfrm>
            <a:off x="457200" y="914400"/>
            <a:ext cx="1106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58718A"/>
                </a:solidFill>
                <a:effectLst/>
                <a:uFillTx/>
                <a:latin typeface="Aptos"/>
              </a:rPr>
              <a:t>A costly physical footprint, fragmented content and limited modern collaboration constrained the cloud-first strategy.</a:t>
            </a:r>
            <a:endParaRPr lang="en-US" sz="1600" b="0" u="none" strike="noStrike" dirty="0">
              <a:solidFill>
                <a:srgbClr val="000000"/>
              </a:solidFill>
              <a:effectLst/>
              <a:uFillTx/>
              <a:latin typeface="Arial"/>
            </a:endParaRPr>
          </a:p>
        </p:txBody>
      </p:sp>
      <p:sp>
        <p:nvSpPr>
          <p:cNvPr id="26" name="Shape 3"/>
          <p:cNvSpPr/>
          <p:nvPr/>
        </p:nvSpPr>
        <p:spPr>
          <a:xfrm>
            <a:off x="457200" y="1234440"/>
            <a:ext cx="11247120" cy="720"/>
          </a:xfrm>
          <a:prstGeom prst="line">
            <a:avLst/>
          </a:prstGeom>
          <a:ln w="12700">
            <a:solidFill>
              <a:srgbClr val="D8E6EF"/>
            </a:solidFill>
            <a:round/>
          </a:ln>
        </p:spPr>
        <p:style>
          <a:lnRef idx="0">
            <a:scrgbClr r="0" g="0" b="0"/>
          </a:lnRef>
          <a:fillRef idx="0">
            <a:scrgbClr r="0" g="0" b="0"/>
          </a:fillRef>
          <a:effectRef idx="0">
            <a:scrgbClr r="0" g="0" b="0"/>
          </a:effectRef>
          <a:fontRef idx="minor"/>
        </p:style>
        <p:txBody>
          <a:bodyPr lIns="90000" tIns="-44280" rIns="90000" bIns="-44280" anchor="t" anchorCtr="1">
            <a:noAutofit/>
          </a:bodyPr>
          <a:lstStyle/>
          <a:p>
            <a:endParaRPr lang="en-US" sz="1800" b="0" u="none" strike="noStrike">
              <a:solidFill>
                <a:srgbClr val="000000"/>
              </a:solidFill>
              <a:effectLst/>
              <a:uFillTx/>
              <a:latin typeface="Arial"/>
            </a:endParaRPr>
          </a:p>
        </p:txBody>
      </p:sp>
      <p:sp>
        <p:nvSpPr>
          <p:cNvPr id="28" name="Shape 4"/>
          <p:cNvSpPr/>
          <p:nvPr/>
        </p:nvSpPr>
        <p:spPr>
          <a:xfrm>
            <a:off x="457200" y="1333275"/>
            <a:ext cx="2313432" cy="639304"/>
          </a:xfrm>
          <a:prstGeom prst="roundRect">
            <a:avLst>
              <a:gd name="adj" fmla="val 10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 name="Text 5"/>
          <p:cNvSpPr/>
          <p:nvPr/>
        </p:nvSpPr>
        <p:spPr>
          <a:xfrm>
            <a:off x="567000" y="1543515"/>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E85D5D"/>
                </a:solidFill>
                <a:effectLst/>
                <a:uFillTx/>
                <a:latin typeface="Aptos"/>
              </a:rPr>
              <a:t>$112K</a:t>
            </a:r>
            <a:endParaRPr lang="en-US" sz="2200" b="0" u="none" strike="noStrike" dirty="0">
              <a:solidFill>
                <a:srgbClr val="000000"/>
              </a:solidFill>
              <a:effectLst/>
              <a:uFillTx/>
              <a:latin typeface="Arial"/>
            </a:endParaRPr>
          </a:p>
        </p:txBody>
      </p:sp>
      <p:sp>
        <p:nvSpPr>
          <p:cNvPr id="30" name="Text 6"/>
          <p:cNvSpPr/>
          <p:nvPr/>
        </p:nvSpPr>
        <p:spPr>
          <a:xfrm>
            <a:off x="1446244" y="1525042"/>
            <a:ext cx="1324387"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dirty="0">
                <a:solidFill>
                  <a:srgbClr val="071B33"/>
                </a:solidFill>
                <a:latin typeface="Aptos"/>
              </a:rPr>
              <a:t>A</a:t>
            </a:r>
            <a:r>
              <a:rPr lang="en-US" sz="1000" b="1" u="none" strike="noStrike" dirty="0">
                <a:solidFill>
                  <a:srgbClr val="071B33"/>
                </a:solidFill>
                <a:effectLst/>
                <a:uFillTx/>
                <a:latin typeface="Aptos"/>
              </a:rPr>
              <a:t>nnual legacy </a:t>
            </a:r>
            <a:r>
              <a:rPr lang="en-US" sz="1000" b="1" u="none" strike="noStrike" dirty="0" err="1">
                <a:solidFill>
                  <a:srgbClr val="071B33"/>
                </a:solidFill>
                <a:effectLst/>
                <a:uFillTx/>
                <a:latin typeface="Aptos"/>
              </a:rPr>
              <a:t>OpEx</a:t>
            </a:r>
            <a:r>
              <a:rPr lang="en-US" sz="1000" b="1" dirty="0">
                <a:solidFill>
                  <a:srgbClr val="071B33"/>
                </a:solidFill>
                <a:latin typeface="Aptos"/>
              </a:rPr>
              <a:t>:</a:t>
            </a:r>
            <a:r>
              <a:rPr lang="en-US" sz="1000" b="1" u="none" strike="noStrike" dirty="0">
                <a:solidFill>
                  <a:srgbClr val="071B33"/>
                </a:solidFill>
                <a:effectLst/>
                <a:uFillTx/>
                <a:latin typeface="Aptos"/>
              </a:rPr>
              <a:t> Before migration</a:t>
            </a:r>
            <a:endParaRPr lang="en-US" sz="1000" b="0" u="none" strike="noStrike" dirty="0">
              <a:solidFill>
                <a:srgbClr val="000000"/>
              </a:solidFill>
              <a:effectLst/>
              <a:uFillTx/>
              <a:latin typeface="Arial"/>
            </a:endParaRPr>
          </a:p>
        </p:txBody>
      </p:sp>
      <p:sp>
        <p:nvSpPr>
          <p:cNvPr id="31" name="Shape 7"/>
          <p:cNvSpPr/>
          <p:nvPr/>
        </p:nvSpPr>
        <p:spPr>
          <a:xfrm>
            <a:off x="2880360" y="1333275"/>
            <a:ext cx="2175840" cy="641464"/>
          </a:xfrm>
          <a:prstGeom prst="roundRect">
            <a:avLst>
              <a:gd name="adj" fmla="val 10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 name="Text 8"/>
          <p:cNvSpPr/>
          <p:nvPr/>
        </p:nvSpPr>
        <p:spPr>
          <a:xfrm>
            <a:off x="2990160" y="1543515"/>
            <a:ext cx="987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59E5B"/>
                </a:solidFill>
                <a:effectLst/>
                <a:uFillTx/>
                <a:latin typeface="Aptos"/>
              </a:rPr>
              <a:t>130K+</a:t>
            </a:r>
            <a:endParaRPr lang="en-US" sz="2200" b="0" u="none" strike="noStrike" dirty="0">
              <a:solidFill>
                <a:srgbClr val="000000"/>
              </a:solidFill>
              <a:effectLst/>
              <a:uFillTx/>
              <a:latin typeface="Arial"/>
            </a:endParaRPr>
          </a:p>
        </p:txBody>
      </p:sp>
      <p:sp>
        <p:nvSpPr>
          <p:cNvPr id="33" name="Text 9"/>
          <p:cNvSpPr/>
          <p:nvPr/>
        </p:nvSpPr>
        <p:spPr>
          <a:xfrm>
            <a:off x="3849552" y="1543515"/>
            <a:ext cx="1096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dirty="0">
                <a:solidFill>
                  <a:srgbClr val="071B33"/>
                </a:solidFill>
                <a:latin typeface="Aptos"/>
              </a:rPr>
              <a:t>C</a:t>
            </a:r>
            <a:r>
              <a:rPr lang="en-US" sz="1000" b="1" u="none" strike="noStrike" dirty="0">
                <a:solidFill>
                  <a:srgbClr val="071B33"/>
                </a:solidFill>
                <a:effectLst/>
                <a:uFillTx/>
                <a:latin typeface="Aptos"/>
              </a:rPr>
              <a:t>orporate</a:t>
            </a:r>
            <a:r>
              <a:rPr lang="en-US" sz="900" b="1" u="none" strike="noStrike" dirty="0">
                <a:solidFill>
                  <a:srgbClr val="071B33"/>
                </a:solidFill>
                <a:effectLst/>
                <a:uFillTx/>
                <a:latin typeface="Aptos"/>
              </a:rPr>
              <a:t> documents migrated</a:t>
            </a:r>
            <a:endParaRPr lang="en-US" sz="900" b="0" u="none" strike="noStrike" dirty="0">
              <a:solidFill>
                <a:srgbClr val="000000"/>
              </a:solidFill>
              <a:effectLst/>
              <a:uFillTx/>
              <a:latin typeface="Arial"/>
            </a:endParaRPr>
          </a:p>
        </p:txBody>
      </p:sp>
      <p:sp>
        <p:nvSpPr>
          <p:cNvPr id="34" name="Shape 10"/>
          <p:cNvSpPr/>
          <p:nvPr/>
        </p:nvSpPr>
        <p:spPr>
          <a:xfrm>
            <a:off x="5303520" y="1333275"/>
            <a:ext cx="1581480" cy="642904"/>
          </a:xfrm>
          <a:prstGeom prst="roundRect">
            <a:avLst>
              <a:gd name="adj" fmla="val 10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 name="Text 11"/>
          <p:cNvSpPr/>
          <p:nvPr/>
        </p:nvSpPr>
        <p:spPr>
          <a:xfrm>
            <a:off x="5413320" y="1543515"/>
            <a:ext cx="7495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20D6C7"/>
                </a:solidFill>
                <a:effectLst/>
                <a:uFillTx/>
                <a:latin typeface="Aptos"/>
              </a:rPr>
              <a:t>13</a:t>
            </a:r>
            <a:endParaRPr lang="en-US" sz="2200" b="0" u="none" strike="noStrike">
              <a:solidFill>
                <a:srgbClr val="000000"/>
              </a:solidFill>
              <a:effectLst/>
              <a:uFillTx/>
              <a:latin typeface="Arial"/>
            </a:endParaRPr>
          </a:p>
        </p:txBody>
      </p:sp>
      <p:sp>
        <p:nvSpPr>
          <p:cNvPr id="36" name="Text 12"/>
          <p:cNvSpPr/>
          <p:nvPr/>
        </p:nvSpPr>
        <p:spPr>
          <a:xfrm>
            <a:off x="5788080" y="1543515"/>
            <a:ext cx="1096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dirty="0">
                <a:solidFill>
                  <a:srgbClr val="071B33"/>
                </a:solidFill>
                <a:latin typeface="Aptos"/>
              </a:rPr>
              <a:t>SharePoint </a:t>
            </a:r>
            <a:r>
              <a:rPr lang="en-US" sz="1000" b="1" u="none" strike="noStrike" dirty="0">
                <a:solidFill>
                  <a:srgbClr val="071B33"/>
                </a:solidFill>
                <a:effectLst/>
                <a:uFillTx/>
                <a:latin typeface="Aptos"/>
              </a:rPr>
              <a:t>site collections migrated</a:t>
            </a:r>
            <a:endParaRPr lang="en-US" sz="1000" b="0" u="none" strike="noStrike" dirty="0">
              <a:solidFill>
                <a:srgbClr val="000000"/>
              </a:solidFill>
              <a:effectLst/>
              <a:uFillTx/>
              <a:latin typeface="Arial"/>
            </a:endParaRPr>
          </a:p>
        </p:txBody>
      </p:sp>
      <p:sp>
        <p:nvSpPr>
          <p:cNvPr id="46" name="Text 22"/>
          <p:cNvSpPr/>
          <p:nvPr/>
        </p:nvSpPr>
        <p:spPr>
          <a:xfrm>
            <a:off x="6400800" y="5321880"/>
            <a:ext cx="48459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marL="171450" indent="-171450" defTabSz="914400">
              <a:lnSpc>
                <a:spcPct val="100000"/>
              </a:lnSpc>
              <a:buFont typeface="Arial" panose="020B0604020202020204" pitchFamily="34" charset="0"/>
              <a:buChar char="•"/>
              <a:tabLst>
                <a:tab pos="0" algn="l"/>
              </a:tabLst>
            </a:pPr>
            <a:r>
              <a:rPr lang="en-US" sz="1200" b="0" u="none" strike="noStrike" dirty="0">
                <a:solidFill>
                  <a:schemeClr val="bg1"/>
                </a:solidFill>
                <a:effectLst/>
                <a:uFillTx/>
                <a:latin typeface="Aptos"/>
              </a:rPr>
              <a:t>Access &amp; Compliance Liabilities: INS and HR lacked mobile responsiveness and governed permissions.</a:t>
            </a:r>
            <a:endParaRPr lang="en-US" sz="1200" b="0" u="none" strike="noStrike" dirty="0">
              <a:solidFill>
                <a:schemeClr val="bg1"/>
              </a:solidFill>
              <a:effectLst/>
              <a:uFillTx/>
              <a:latin typeface="Arial"/>
            </a:endParaRPr>
          </a:p>
        </p:txBody>
      </p:sp>
      <p:pic>
        <p:nvPicPr>
          <p:cNvPr id="5" name="Picture 4">
            <a:extLst>
              <a:ext uri="{FF2B5EF4-FFF2-40B4-BE49-F238E27FC236}">
                <a16:creationId xmlns:a16="http://schemas.microsoft.com/office/drawing/2014/main" id="{1AC78829-16F5-9C9A-8337-206B7C7F5F72}"/>
              </a:ext>
            </a:extLst>
          </p:cNvPr>
          <p:cNvPicPr>
            <a:picLocks noChangeAspect="1"/>
          </p:cNvPicPr>
          <p:nvPr/>
        </p:nvPicPr>
        <p:blipFill>
          <a:blip r:embed="rId3"/>
          <a:stretch>
            <a:fillRect/>
          </a:stretch>
        </p:blipFill>
        <p:spPr>
          <a:xfrm>
            <a:off x="442637" y="145083"/>
            <a:ext cx="3861507" cy="241341"/>
          </a:xfrm>
          <a:prstGeom prst="rect">
            <a:avLst/>
          </a:prstGeom>
        </p:spPr>
      </p:pic>
      <p:sp>
        <p:nvSpPr>
          <p:cNvPr id="7" name="Shape 4">
            <a:extLst>
              <a:ext uri="{FF2B5EF4-FFF2-40B4-BE49-F238E27FC236}">
                <a16:creationId xmlns:a16="http://schemas.microsoft.com/office/drawing/2014/main" id="{5652872E-980F-A0EF-F627-AFFC82B9FA3A}"/>
              </a:ext>
            </a:extLst>
          </p:cNvPr>
          <p:cNvSpPr/>
          <p:nvPr/>
        </p:nvSpPr>
        <p:spPr>
          <a:xfrm>
            <a:off x="7026490" y="1335976"/>
            <a:ext cx="2238804" cy="639304"/>
          </a:xfrm>
          <a:prstGeom prst="roundRect">
            <a:avLst>
              <a:gd name="adj" fmla="val 10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9" name="Text 5">
            <a:extLst>
              <a:ext uri="{FF2B5EF4-FFF2-40B4-BE49-F238E27FC236}">
                <a16:creationId xmlns:a16="http://schemas.microsoft.com/office/drawing/2014/main" id="{6550D3BF-1033-5372-2336-898547338952}"/>
              </a:ext>
            </a:extLst>
          </p:cNvPr>
          <p:cNvSpPr/>
          <p:nvPr/>
        </p:nvSpPr>
        <p:spPr>
          <a:xfrm>
            <a:off x="7136291" y="1546216"/>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FF0000"/>
                </a:solidFill>
                <a:effectLst/>
                <a:uFillTx/>
                <a:latin typeface="Aptos"/>
              </a:rPr>
              <a:t>$12K</a:t>
            </a:r>
            <a:endParaRPr lang="en-US" sz="2200" b="0" u="none" strike="noStrike" dirty="0">
              <a:solidFill>
                <a:srgbClr val="FF0000"/>
              </a:solidFill>
              <a:effectLst/>
              <a:uFillTx/>
              <a:latin typeface="Arial"/>
            </a:endParaRPr>
          </a:p>
        </p:txBody>
      </p:sp>
      <p:sp>
        <p:nvSpPr>
          <p:cNvPr id="11" name="Text 6">
            <a:extLst>
              <a:ext uri="{FF2B5EF4-FFF2-40B4-BE49-F238E27FC236}">
                <a16:creationId xmlns:a16="http://schemas.microsoft.com/office/drawing/2014/main" id="{079F4198-3D72-1EE3-3E10-FB1430096DF8}"/>
              </a:ext>
            </a:extLst>
          </p:cNvPr>
          <p:cNvSpPr/>
          <p:nvPr/>
        </p:nvSpPr>
        <p:spPr>
          <a:xfrm>
            <a:off x="7895143" y="1516650"/>
            <a:ext cx="1370151"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dirty="0">
                <a:solidFill>
                  <a:srgbClr val="071B33"/>
                </a:solidFill>
                <a:latin typeface="Aptos"/>
              </a:rPr>
              <a:t>A</a:t>
            </a:r>
            <a:r>
              <a:rPr lang="en-US" sz="1000" b="1" u="none" strike="noStrike" dirty="0">
                <a:solidFill>
                  <a:srgbClr val="071B33"/>
                </a:solidFill>
                <a:effectLst/>
                <a:uFillTx/>
                <a:latin typeface="Aptos"/>
              </a:rPr>
              <a:t>nnual Cloud </a:t>
            </a:r>
            <a:r>
              <a:rPr lang="en-US" sz="1000" b="1" u="none" strike="noStrike" dirty="0" err="1">
                <a:solidFill>
                  <a:srgbClr val="071B33"/>
                </a:solidFill>
                <a:effectLst/>
                <a:uFillTx/>
                <a:latin typeface="Aptos"/>
              </a:rPr>
              <a:t>OpEx</a:t>
            </a:r>
            <a:r>
              <a:rPr lang="en-US" sz="1000" b="1" dirty="0">
                <a:solidFill>
                  <a:srgbClr val="071B33"/>
                </a:solidFill>
                <a:latin typeface="Aptos"/>
              </a:rPr>
              <a:t>:</a:t>
            </a:r>
          </a:p>
          <a:p>
            <a:pPr defTabSz="914400">
              <a:lnSpc>
                <a:spcPct val="100000"/>
              </a:lnSpc>
              <a:tabLst>
                <a:tab pos="0" algn="l"/>
              </a:tabLst>
            </a:pPr>
            <a:r>
              <a:rPr lang="en-US" sz="1000" b="1" u="none" strike="noStrike" dirty="0">
                <a:solidFill>
                  <a:srgbClr val="071B33"/>
                </a:solidFill>
                <a:effectLst/>
                <a:uFillTx/>
                <a:latin typeface="Aptos"/>
              </a:rPr>
              <a:t> After migration</a:t>
            </a:r>
            <a:endParaRPr lang="en-US" sz="1000" b="0" u="none" strike="noStrike" dirty="0">
              <a:solidFill>
                <a:srgbClr val="000000"/>
              </a:solidFill>
              <a:effectLst/>
              <a:uFillTx/>
              <a:latin typeface="Arial"/>
            </a:endParaRPr>
          </a:p>
        </p:txBody>
      </p:sp>
      <p:sp>
        <p:nvSpPr>
          <p:cNvPr id="13" name="Shape 4">
            <a:extLst>
              <a:ext uri="{FF2B5EF4-FFF2-40B4-BE49-F238E27FC236}">
                <a16:creationId xmlns:a16="http://schemas.microsoft.com/office/drawing/2014/main" id="{62A82A71-ED0C-8B8D-6BA2-1B70E5313769}"/>
              </a:ext>
            </a:extLst>
          </p:cNvPr>
          <p:cNvSpPr/>
          <p:nvPr/>
        </p:nvSpPr>
        <p:spPr>
          <a:xfrm>
            <a:off x="9495996" y="1363016"/>
            <a:ext cx="2238804" cy="639304"/>
          </a:xfrm>
          <a:prstGeom prst="roundRect">
            <a:avLst>
              <a:gd name="adj" fmla="val 10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15" name="Text 5">
            <a:extLst>
              <a:ext uri="{FF2B5EF4-FFF2-40B4-BE49-F238E27FC236}">
                <a16:creationId xmlns:a16="http://schemas.microsoft.com/office/drawing/2014/main" id="{0216F230-0E83-53DF-0A58-4A2205F2ABEB}"/>
              </a:ext>
            </a:extLst>
          </p:cNvPr>
          <p:cNvSpPr/>
          <p:nvPr/>
        </p:nvSpPr>
        <p:spPr>
          <a:xfrm>
            <a:off x="9605797" y="1573256"/>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dirty="0">
                <a:solidFill>
                  <a:srgbClr val="00B050"/>
                </a:solidFill>
                <a:effectLst/>
                <a:uFillTx/>
                <a:latin typeface="Aptos"/>
              </a:rPr>
              <a:t>$100K</a:t>
            </a:r>
            <a:endParaRPr lang="en-US" sz="2200" b="0" u="none" strike="noStrike" dirty="0">
              <a:solidFill>
                <a:srgbClr val="00B050"/>
              </a:solidFill>
              <a:effectLst/>
              <a:uFillTx/>
              <a:latin typeface="Arial"/>
            </a:endParaRPr>
          </a:p>
        </p:txBody>
      </p:sp>
      <p:sp>
        <p:nvSpPr>
          <p:cNvPr id="17" name="Text 6">
            <a:extLst>
              <a:ext uri="{FF2B5EF4-FFF2-40B4-BE49-F238E27FC236}">
                <a16:creationId xmlns:a16="http://schemas.microsoft.com/office/drawing/2014/main" id="{E141927C-D574-BCFC-DDCC-7AC015A3B34C}"/>
              </a:ext>
            </a:extLst>
          </p:cNvPr>
          <p:cNvSpPr/>
          <p:nvPr/>
        </p:nvSpPr>
        <p:spPr>
          <a:xfrm>
            <a:off x="10562086" y="1628640"/>
            <a:ext cx="890594" cy="3439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dirty="0">
                <a:solidFill>
                  <a:srgbClr val="FF0000"/>
                </a:solidFill>
                <a:latin typeface="Aptos"/>
              </a:rPr>
              <a:t>Annual Savings!</a:t>
            </a:r>
          </a:p>
          <a:p>
            <a:pPr defTabSz="914400">
              <a:lnSpc>
                <a:spcPct val="100000"/>
              </a:lnSpc>
              <a:tabLst>
                <a:tab pos="0" algn="l"/>
              </a:tabLst>
            </a:pPr>
            <a:r>
              <a:rPr lang="en-US" sz="1400" b="1" u="none" strike="noStrike" dirty="0">
                <a:solidFill>
                  <a:srgbClr val="FF0000"/>
                </a:solidFill>
                <a:uFillTx/>
                <a:latin typeface="Aptos"/>
              </a:rPr>
              <a:t> </a:t>
            </a:r>
            <a:endParaRPr lang="en-US" sz="1400" b="1" u="none" strike="noStrike" dirty="0">
              <a:solidFill>
                <a:srgbClr val="FF0000"/>
              </a:solidFill>
              <a:uFillTx/>
              <a:latin typeface="Arial"/>
            </a:endParaRPr>
          </a:p>
        </p:txBody>
      </p:sp>
      <p:pic>
        <p:nvPicPr>
          <p:cNvPr id="19" name="Picture 18">
            <a:extLst>
              <a:ext uri="{FF2B5EF4-FFF2-40B4-BE49-F238E27FC236}">
                <a16:creationId xmlns:a16="http://schemas.microsoft.com/office/drawing/2014/main" id="{12D0FF10-5A17-6103-6D28-21EF831367FD}"/>
              </a:ext>
            </a:extLst>
          </p:cNvPr>
          <p:cNvPicPr>
            <a:picLocks noChangeAspect="1"/>
          </p:cNvPicPr>
          <p:nvPr/>
        </p:nvPicPr>
        <p:blipFill>
          <a:blip r:embed="rId4"/>
          <a:stretch>
            <a:fillRect/>
          </a:stretch>
        </p:blipFill>
        <p:spPr>
          <a:xfrm>
            <a:off x="2108437" y="2119438"/>
            <a:ext cx="7031183" cy="43713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48" name="Text 0"/>
          <p:cNvSpPr/>
          <p:nvPr/>
        </p:nvSpPr>
        <p:spPr>
          <a:xfrm>
            <a:off x="457200" y="210240"/>
            <a:ext cx="4571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1" u="none" strike="noStrike" spc="99">
                <a:solidFill>
                  <a:srgbClr val="20D6C7"/>
                </a:solidFill>
                <a:effectLst/>
                <a:uFillTx/>
                <a:latin typeface="Aptos"/>
              </a:rPr>
              <a:t>PILLAR 3  |  THE ARCHITECTURAL BLUEPRINT</a:t>
            </a:r>
            <a:endParaRPr lang="en-US" sz="700" b="0" u="none" strike="noStrike">
              <a:solidFill>
                <a:srgbClr val="000000"/>
              </a:solidFill>
              <a:effectLst/>
              <a:uFillTx/>
              <a:latin typeface="Arial"/>
            </a:endParaRPr>
          </a:p>
        </p:txBody>
      </p:sp>
      <p:sp>
        <p:nvSpPr>
          <p:cNvPr id="49" name="Text 1"/>
          <p:cNvSpPr/>
          <p:nvPr/>
        </p:nvSpPr>
        <p:spPr>
          <a:xfrm>
            <a:off x="457200" y="457200"/>
            <a:ext cx="11201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dirty="0">
                <a:solidFill>
                  <a:srgbClr val="071B33"/>
                </a:solidFill>
                <a:effectLst/>
                <a:uFillTx/>
                <a:latin typeface="Aptos"/>
              </a:rPr>
              <a:t>Engineering Content Staging, Permission Preservation and the Azure SMB Exception</a:t>
            </a:r>
            <a:endParaRPr lang="en-US" sz="2100" b="0" u="none" strike="noStrike" dirty="0">
              <a:solidFill>
                <a:srgbClr val="000000"/>
              </a:solidFill>
              <a:effectLst/>
              <a:uFillTx/>
              <a:latin typeface="Arial"/>
            </a:endParaRPr>
          </a:p>
        </p:txBody>
      </p:sp>
      <p:sp>
        <p:nvSpPr>
          <p:cNvPr id="50" name="Text 2"/>
          <p:cNvSpPr/>
          <p:nvPr/>
        </p:nvSpPr>
        <p:spPr>
          <a:xfrm>
            <a:off x="3610947" y="914400"/>
            <a:ext cx="8093373"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u="none" strike="noStrike" dirty="0">
                <a:solidFill>
                  <a:srgbClr val="58718A"/>
                </a:solidFill>
                <a:effectLst/>
                <a:uFillTx/>
                <a:latin typeface="Aptos"/>
              </a:rPr>
              <a:t>A Governed migration pattern moved modern content to Microsoft 365 while protecting macro-dependent legacy workflows.</a:t>
            </a:r>
            <a:endParaRPr lang="en-US" sz="1400" u="none" strike="noStrike" dirty="0">
              <a:solidFill>
                <a:srgbClr val="000000"/>
              </a:solidFill>
              <a:effectLst/>
              <a:uFillTx/>
              <a:latin typeface="Arial"/>
            </a:endParaRPr>
          </a:p>
        </p:txBody>
      </p:sp>
      <p:sp>
        <p:nvSpPr>
          <p:cNvPr id="51" name="Shape 3"/>
          <p:cNvSpPr/>
          <p:nvPr/>
        </p:nvSpPr>
        <p:spPr>
          <a:xfrm>
            <a:off x="457200" y="1234440"/>
            <a:ext cx="11247120" cy="720"/>
          </a:xfrm>
          <a:prstGeom prst="line">
            <a:avLst/>
          </a:prstGeom>
          <a:ln w="12700">
            <a:solidFill>
              <a:srgbClr val="D8E6EF"/>
            </a:solidFill>
            <a:round/>
          </a:ln>
        </p:spPr>
        <p:style>
          <a:lnRef idx="0">
            <a:scrgbClr r="0" g="0" b="0"/>
          </a:lnRef>
          <a:fillRef idx="0">
            <a:scrgbClr r="0" g="0" b="0"/>
          </a:fillRef>
          <a:effectRef idx="0">
            <a:scrgbClr r="0" g="0" b="0"/>
          </a:effectRef>
          <a:fontRef idx="minor"/>
        </p:style>
        <p:txBody>
          <a:bodyPr lIns="90000" tIns="-44280" rIns="90000" bIns="-44280" anchor="t" anchorCtr="1">
            <a:noAutofit/>
          </a:bodyPr>
          <a:lstStyle/>
          <a:p>
            <a:endParaRPr lang="en-US" sz="1800" b="0" u="none" strike="noStrike">
              <a:solidFill>
                <a:srgbClr val="000000"/>
              </a:solidFill>
              <a:effectLst/>
              <a:uFillTx/>
              <a:latin typeface="Arial"/>
            </a:endParaRPr>
          </a:p>
        </p:txBody>
      </p:sp>
      <p:sp>
        <p:nvSpPr>
          <p:cNvPr id="75" name="PlaceHolder 1"/>
          <p:cNvSpPr>
            <a:spLocks noGrp="1"/>
          </p:cNvSpPr>
          <p:nvPr>
            <p:ph type="sldNum" idx="6"/>
          </p:nvPr>
        </p:nvSpPr>
        <p:spPr>
          <a:xfrm>
            <a:off x="11247120" y="6565320"/>
            <a:ext cx="411120" cy="136800"/>
          </a:xfrm>
          <a:prstGeom prst="rect">
            <a:avLst/>
          </a:prstGeom>
          <a:noFill/>
          <a:ln w="0">
            <a:noFill/>
          </a:ln>
        </p:spPr>
        <p:txBody>
          <a:bodyPr lIns="90000" tIns="45000" rIns="90000" bIns="45000" anchor="t">
            <a:noAutofit/>
          </a:bodyPr>
          <a:lstStyle>
            <a:lvl1pPr indent="0" algn="r" defTabSz="914400">
              <a:lnSpc>
                <a:spcPct val="100000"/>
              </a:lnSpc>
              <a:buNone/>
              <a:defRPr lang="en-US" sz="600" b="0" u="none" strike="noStrike">
                <a:solidFill>
                  <a:srgbClr val="58718A"/>
                </a:solidFill>
                <a:effectLst/>
                <a:uFillTx/>
                <a:latin typeface="Aptos"/>
              </a:defRPr>
            </a:lvl1pPr>
          </a:lstStyle>
          <a:p>
            <a:pPr indent="0" algn="r" defTabSz="914400">
              <a:lnSpc>
                <a:spcPct val="100000"/>
              </a:lnSpc>
              <a:buNone/>
            </a:pPr>
            <a:fld id="{E03BA49B-5E4E-45A0-AD0B-186566109F09}" type="slidenum">
              <a:rPr lang="en-US" sz="600" b="0" u="none" strike="noStrike">
                <a:solidFill>
                  <a:srgbClr val="58718A"/>
                </a:solidFill>
                <a:effectLst/>
                <a:uFillTx/>
                <a:latin typeface="Aptos"/>
              </a:rPr>
              <a:t>3</a:t>
            </a:fld>
            <a:endParaRPr lang="en-US" sz="600" b="0" u="none" strike="noStrike">
              <a:solidFill>
                <a:srgbClr val="000000"/>
              </a:solidFill>
              <a:effectLst/>
              <a:uFillTx/>
              <a:latin typeface="Times New Roman"/>
            </a:endParaRPr>
          </a:p>
        </p:txBody>
      </p:sp>
      <p:pic>
        <p:nvPicPr>
          <p:cNvPr id="3" name="Picture 2">
            <a:extLst>
              <a:ext uri="{FF2B5EF4-FFF2-40B4-BE49-F238E27FC236}">
                <a16:creationId xmlns:a16="http://schemas.microsoft.com/office/drawing/2014/main" id="{8A91BDB5-9BCD-52A9-AC77-3CA84BB63D97}"/>
              </a:ext>
            </a:extLst>
          </p:cNvPr>
          <p:cNvPicPr>
            <a:picLocks noChangeAspect="1"/>
          </p:cNvPicPr>
          <p:nvPr/>
        </p:nvPicPr>
        <p:blipFill>
          <a:blip r:embed="rId3"/>
          <a:stretch>
            <a:fillRect/>
          </a:stretch>
        </p:blipFill>
        <p:spPr>
          <a:xfrm>
            <a:off x="439069" y="219734"/>
            <a:ext cx="3610479" cy="219106"/>
          </a:xfrm>
          <a:prstGeom prst="rect">
            <a:avLst/>
          </a:prstGeom>
        </p:spPr>
      </p:pic>
      <p:pic>
        <p:nvPicPr>
          <p:cNvPr id="7" name="Picture 6">
            <a:extLst>
              <a:ext uri="{FF2B5EF4-FFF2-40B4-BE49-F238E27FC236}">
                <a16:creationId xmlns:a16="http://schemas.microsoft.com/office/drawing/2014/main" id="{8036FFCF-4551-10F5-83B4-97049EC89A35}"/>
              </a:ext>
            </a:extLst>
          </p:cNvPr>
          <p:cNvPicPr>
            <a:picLocks noChangeAspect="1"/>
          </p:cNvPicPr>
          <p:nvPr/>
        </p:nvPicPr>
        <p:blipFill>
          <a:blip r:embed="rId4"/>
          <a:stretch>
            <a:fillRect/>
          </a:stretch>
        </p:blipFill>
        <p:spPr>
          <a:xfrm>
            <a:off x="3593414" y="4210906"/>
            <a:ext cx="3614357" cy="1862598"/>
          </a:xfrm>
          <a:prstGeom prst="rect">
            <a:avLst/>
          </a:prstGeom>
        </p:spPr>
      </p:pic>
      <p:pic>
        <p:nvPicPr>
          <p:cNvPr id="9" name="Picture 8">
            <a:extLst>
              <a:ext uri="{FF2B5EF4-FFF2-40B4-BE49-F238E27FC236}">
                <a16:creationId xmlns:a16="http://schemas.microsoft.com/office/drawing/2014/main" id="{FDABCA31-7F47-B16D-A32A-2A7E0D84A330}"/>
              </a:ext>
            </a:extLst>
          </p:cNvPr>
          <p:cNvPicPr>
            <a:picLocks noChangeAspect="1"/>
          </p:cNvPicPr>
          <p:nvPr/>
        </p:nvPicPr>
        <p:blipFill>
          <a:blip r:embed="rId5"/>
          <a:stretch>
            <a:fillRect/>
          </a:stretch>
        </p:blipFill>
        <p:spPr>
          <a:xfrm>
            <a:off x="3610947" y="1294871"/>
            <a:ext cx="8047291" cy="2809159"/>
          </a:xfrm>
          <a:prstGeom prst="rect">
            <a:avLst/>
          </a:prstGeom>
          <a:solidFill>
            <a:srgbClr val="92D050"/>
          </a:solidFill>
        </p:spPr>
      </p:pic>
      <p:sp>
        <p:nvSpPr>
          <p:cNvPr id="11" name="Shape 21">
            <a:extLst>
              <a:ext uri="{FF2B5EF4-FFF2-40B4-BE49-F238E27FC236}">
                <a16:creationId xmlns:a16="http://schemas.microsoft.com/office/drawing/2014/main" id="{C4D78D2B-3325-62AC-59BD-35EFF569F04A}"/>
              </a:ext>
            </a:extLst>
          </p:cNvPr>
          <p:cNvSpPr/>
          <p:nvPr/>
        </p:nvSpPr>
        <p:spPr>
          <a:xfrm>
            <a:off x="7286624" y="4204938"/>
            <a:ext cx="4371615" cy="2504241"/>
          </a:xfrm>
          <a:prstGeom prst="roundRect">
            <a:avLst>
              <a:gd name="adj" fmla="val 4049"/>
            </a:avLst>
          </a:prstGeom>
          <a:solidFill>
            <a:srgbClr val="071B33"/>
          </a:solidFill>
          <a:ln w="12700">
            <a:solidFill>
              <a:srgbClr val="071B3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 name="Text 23">
            <a:extLst>
              <a:ext uri="{FF2B5EF4-FFF2-40B4-BE49-F238E27FC236}">
                <a16:creationId xmlns:a16="http://schemas.microsoft.com/office/drawing/2014/main" id="{F523C51B-84CD-FDF6-F5A0-509C54D625FE}"/>
              </a:ext>
            </a:extLst>
          </p:cNvPr>
          <p:cNvSpPr/>
          <p:nvPr/>
        </p:nvSpPr>
        <p:spPr>
          <a:xfrm>
            <a:off x="7390778" y="5756830"/>
            <a:ext cx="1238429" cy="94528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dirty="0">
                <a:solidFill>
                  <a:srgbClr val="FFC000"/>
                </a:solidFill>
                <a:effectLst/>
                <a:uFillTx/>
                <a:latin typeface="Aptos"/>
              </a:rPr>
              <a:t> Legacy Macro Block: </a:t>
            </a:r>
            <a:r>
              <a:rPr lang="en-US" sz="1000" b="0" u="none" strike="noStrike" dirty="0">
                <a:solidFill>
                  <a:srgbClr val="FFC000"/>
                </a:solidFill>
                <a:effectLst/>
                <a:uFillTx/>
                <a:latin typeface="Aptos"/>
              </a:rPr>
              <a:t>Complex Excel macros depended on physical network paths.</a:t>
            </a:r>
            <a:endParaRPr lang="en-US" sz="1000" b="0" u="none" strike="noStrike" dirty="0">
              <a:solidFill>
                <a:srgbClr val="FFC000"/>
              </a:solidFill>
              <a:effectLst/>
              <a:uFillTx/>
              <a:latin typeface="Arial"/>
            </a:endParaRPr>
          </a:p>
        </p:txBody>
      </p:sp>
      <p:pic>
        <p:nvPicPr>
          <p:cNvPr id="21" name="Picture 20">
            <a:extLst>
              <a:ext uri="{FF2B5EF4-FFF2-40B4-BE49-F238E27FC236}">
                <a16:creationId xmlns:a16="http://schemas.microsoft.com/office/drawing/2014/main" id="{1A91C631-6E26-0B9E-C3BB-84249778067B}"/>
              </a:ext>
            </a:extLst>
          </p:cNvPr>
          <p:cNvPicPr>
            <a:picLocks noChangeAspect="1"/>
          </p:cNvPicPr>
          <p:nvPr/>
        </p:nvPicPr>
        <p:blipFill>
          <a:blip r:embed="rId6"/>
          <a:stretch>
            <a:fillRect/>
          </a:stretch>
        </p:blipFill>
        <p:spPr>
          <a:xfrm>
            <a:off x="7403553" y="4245633"/>
            <a:ext cx="4026447" cy="1489058"/>
          </a:xfrm>
          <a:prstGeom prst="rect">
            <a:avLst/>
          </a:prstGeom>
        </p:spPr>
      </p:pic>
      <p:pic>
        <p:nvPicPr>
          <p:cNvPr id="25" name="Picture 24">
            <a:extLst>
              <a:ext uri="{FF2B5EF4-FFF2-40B4-BE49-F238E27FC236}">
                <a16:creationId xmlns:a16="http://schemas.microsoft.com/office/drawing/2014/main" id="{38AE2AB3-CC64-85A3-CD1F-99FCE1DFB751}"/>
              </a:ext>
            </a:extLst>
          </p:cNvPr>
          <p:cNvPicPr>
            <a:picLocks noChangeAspect="1"/>
          </p:cNvPicPr>
          <p:nvPr/>
        </p:nvPicPr>
        <p:blipFill>
          <a:blip r:embed="rId7"/>
          <a:stretch>
            <a:fillRect/>
          </a:stretch>
        </p:blipFill>
        <p:spPr>
          <a:xfrm>
            <a:off x="311809" y="840960"/>
            <a:ext cx="2981741" cy="5868219"/>
          </a:xfrm>
          <a:prstGeom prst="rect">
            <a:avLst/>
          </a:prstGeom>
        </p:spPr>
      </p:pic>
      <p:sp>
        <p:nvSpPr>
          <p:cNvPr id="29" name="Text 24">
            <a:extLst>
              <a:ext uri="{FF2B5EF4-FFF2-40B4-BE49-F238E27FC236}">
                <a16:creationId xmlns:a16="http://schemas.microsoft.com/office/drawing/2014/main" id="{4D8D1203-EF0E-1D99-A93F-FF4FFCEE66D6}"/>
              </a:ext>
            </a:extLst>
          </p:cNvPr>
          <p:cNvSpPr/>
          <p:nvPr/>
        </p:nvSpPr>
        <p:spPr>
          <a:xfrm>
            <a:off x="8708061" y="5734691"/>
            <a:ext cx="1154473" cy="9452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dirty="0">
                <a:solidFill>
                  <a:srgbClr val="FFC000"/>
                </a:solidFill>
                <a:effectLst/>
                <a:uFillTx/>
                <a:latin typeface="Aptos"/>
              </a:rPr>
              <a:t>Custom-made SMB Solution: </a:t>
            </a:r>
            <a:r>
              <a:rPr lang="en-US" sz="1000" b="0" u="none" strike="noStrike" dirty="0">
                <a:solidFill>
                  <a:srgbClr val="FFC000"/>
                </a:solidFill>
                <a:effectLst/>
                <a:uFillTx/>
                <a:latin typeface="Aptos"/>
              </a:rPr>
              <a:t>14 secure Azure File Storage folders hosted legacy content.</a:t>
            </a:r>
            <a:endParaRPr lang="en-US" sz="1000" b="0" u="none" strike="noStrike" dirty="0">
              <a:solidFill>
                <a:srgbClr val="FFC000"/>
              </a:solidFill>
              <a:effectLst/>
              <a:uFillTx/>
              <a:latin typeface="Arial"/>
            </a:endParaRPr>
          </a:p>
        </p:txBody>
      </p:sp>
      <p:sp>
        <p:nvSpPr>
          <p:cNvPr id="33" name="Text 25">
            <a:extLst>
              <a:ext uri="{FF2B5EF4-FFF2-40B4-BE49-F238E27FC236}">
                <a16:creationId xmlns:a16="http://schemas.microsoft.com/office/drawing/2014/main" id="{8D3E456F-B2DA-A502-9E65-26C3B46DD2DE}"/>
              </a:ext>
            </a:extLst>
          </p:cNvPr>
          <p:cNvSpPr/>
          <p:nvPr/>
        </p:nvSpPr>
        <p:spPr>
          <a:xfrm>
            <a:off x="9894732" y="5627345"/>
            <a:ext cx="1535268" cy="77345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u="none" strike="noStrike" dirty="0">
                <a:solidFill>
                  <a:srgbClr val="FFC000"/>
                </a:solidFill>
                <a:effectLst/>
                <a:uFillTx/>
                <a:latin typeface="Aptos"/>
              </a:rPr>
              <a:t>DFS Path Redirection: </a:t>
            </a:r>
            <a:r>
              <a:rPr lang="en-US" sz="1000" b="0" u="none" strike="noStrike" dirty="0">
                <a:solidFill>
                  <a:srgbClr val="FFC000"/>
                </a:solidFill>
                <a:effectLst/>
                <a:uFillTx/>
                <a:latin typeface="Aptos"/>
              </a:rPr>
              <a:t>UNC paths shifted to Azure endpoints with zero downtime.</a:t>
            </a:r>
            <a:endParaRPr lang="en-US" sz="1000" b="0" u="none" strike="noStrike" dirty="0">
              <a:solidFill>
                <a:srgbClr val="FFC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76" name="Text 0"/>
          <p:cNvSpPr/>
          <p:nvPr/>
        </p:nvSpPr>
        <p:spPr>
          <a:xfrm>
            <a:off x="457200" y="210240"/>
            <a:ext cx="4571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1" u="none" strike="noStrike" spc="99">
                <a:solidFill>
                  <a:srgbClr val="20D6C7"/>
                </a:solidFill>
                <a:effectLst/>
                <a:uFillTx/>
                <a:latin typeface="Aptos"/>
              </a:rPr>
              <a:t>PILLAR 4  |  THE ENGINEERING CRAFT</a:t>
            </a:r>
            <a:endParaRPr lang="en-US" sz="700" b="0" u="none" strike="noStrike">
              <a:solidFill>
                <a:srgbClr val="000000"/>
              </a:solidFill>
              <a:effectLst/>
              <a:uFillTx/>
              <a:latin typeface="Arial"/>
            </a:endParaRPr>
          </a:p>
        </p:txBody>
      </p:sp>
      <p:sp>
        <p:nvSpPr>
          <p:cNvPr id="77" name="Text 1"/>
          <p:cNvSpPr/>
          <p:nvPr/>
        </p:nvSpPr>
        <p:spPr>
          <a:xfrm>
            <a:off x="457200" y="468180"/>
            <a:ext cx="11201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dirty="0">
                <a:solidFill>
                  <a:srgbClr val="071B33"/>
                </a:solidFill>
                <a:effectLst/>
                <a:uFillTx/>
                <a:latin typeface="Aptos"/>
              </a:rPr>
              <a:t>Rigorous Pre-Migration Scans, Agile Backlogs and Service Transition Checklists</a:t>
            </a:r>
            <a:endParaRPr lang="en-US" sz="2100" b="0" u="none" strike="noStrike" dirty="0">
              <a:solidFill>
                <a:srgbClr val="000000"/>
              </a:solidFill>
              <a:effectLst/>
              <a:uFillTx/>
              <a:latin typeface="Arial"/>
            </a:endParaRPr>
          </a:p>
        </p:txBody>
      </p:sp>
      <p:sp>
        <p:nvSpPr>
          <p:cNvPr id="78" name="Text 2"/>
          <p:cNvSpPr/>
          <p:nvPr/>
        </p:nvSpPr>
        <p:spPr>
          <a:xfrm>
            <a:off x="457200" y="976764"/>
            <a:ext cx="10539886" cy="36161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58718A"/>
                </a:solidFill>
                <a:effectLst/>
                <a:uFillTx/>
                <a:latin typeface="Aptos"/>
              </a:rPr>
              <a:t>A disciplined three-phase SDLC </a:t>
            </a:r>
            <a:r>
              <a:rPr lang="en-US" sz="1600" dirty="0">
                <a:solidFill>
                  <a:srgbClr val="58718A"/>
                </a:solidFill>
                <a:latin typeface="Aptos"/>
              </a:rPr>
              <a:t>migration processes to achieve </a:t>
            </a:r>
            <a:r>
              <a:rPr lang="en-US" sz="1600" b="0" u="none" strike="noStrike" dirty="0">
                <a:solidFill>
                  <a:srgbClr val="58718A"/>
                </a:solidFill>
                <a:effectLst/>
                <a:uFillTx/>
                <a:latin typeface="Aptos"/>
              </a:rPr>
              <a:t>protected data integrity, security, delivery velocity and operational readiness.</a:t>
            </a:r>
            <a:endParaRPr lang="en-US" sz="1600" b="0" u="none" strike="noStrike" dirty="0">
              <a:solidFill>
                <a:srgbClr val="000000"/>
              </a:solidFill>
              <a:effectLst/>
              <a:uFillTx/>
              <a:latin typeface="Arial"/>
            </a:endParaRPr>
          </a:p>
        </p:txBody>
      </p:sp>
      <p:sp>
        <p:nvSpPr>
          <p:cNvPr id="79" name="Shape 3"/>
          <p:cNvSpPr/>
          <p:nvPr/>
        </p:nvSpPr>
        <p:spPr>
          <a:xfrm>
            <a:off x="457200" y="1449045"/>
            <a:ext cx="11247120" cy="720"/>
          </a:xfrm>
          <a:prstGeom prst="line">
            <a:avLst/>
          </a:prstGeom>
          <a:ln w="12700">
            <a:solidFill>
              <a:srgbClr val="D8E6EF"/>
            </a:solidFill>
            <a:round/>
          </a:ln>
        </p:spPr>
        <p:style>
          <a:lnRef idx="0">
            <a:scrgbClr r="0" g="0" b="0"/>
          </a:lnRef>
          <a:fillRef idx="0">
            <a:scrgbClr r="0" g="0" b="0"/>
          </a:fillRef>
          <a:effectRef idx="0">
            <a:scrgbClr r="0" g="0" b="0"/>
          </a:effectRef>
          <a:fontRef idx="minor"/>
        </p:style>
        <p:txBody>
          <a:bodyPr lIns="90000" tIns="-44280" rIns="90000" bIns="-44280" anchor="t" anchorCtr="1">
            <a:noAutofit/>
          </a:bodyPr>
          <a:lstStyle/>
          <a:p>
            <a:endParaRPr lang="en-US" sz="1800" b="0" u="none" strike="noStrike">
              <a:solidFill>
                <a:srgbClr val="000000"/>
              </a:solidFill>
              <a:effectLst/>
              <a:uFillTx/>
              <a:latin typeface="Arial"/>
            </a:endParaRPr>
          </a:p>
        </p:txBody>
      </p:sp>
      <p:sp>
        <p:nvSpPr>
          <p:cNvPr id="102" name="Text 25"/>
          <p:cNvSpPr/>
          <p:nvPr/>
        </p:nvSpPr>
        <p:spPr>
          <a:xfrm>
            <a:off x="457200" y="1572775"/>
            <a:ext cx="2742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dirty="0">
                <a:solidFill>
                  <a:srgbClr val="7030A0"/>
                </a:solidFill>
                <a:uFillTx/>
                <a:latin typeface="Aptos"/>
              </a:rPr>
              <a:t>STRATEGIC MIGRATION PLAN</a:t>
            </a:r>
            <a:endParaRPr lang="en-US" sz="1200" b="0" u="none" strike="noStrike" dirty="0">
              <a:solidFill>
                <a:srgbClr val="7030A0"/>
              </a:solidFill>
              <a:uFillTx/>
              <a:latin typeface="Arial"/>
            </a:endParaRPr>
          </a:p>
        </p:txBody>
      </p:sp>
      <p:sp>
        <p:nvSpPr>
          <p:cNvPr id="103" name="Text 26"/>
          <p:cNvSpPr/>
          <p:nvPr/>
        </p:nvSpPr>
        <p:spPr>
          <a:xfrm>
            <a:off x="433056" y="1687255"/>
            <a:ext cx="11201040" cy="426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u="none" strike="noStrike" dirty="0">
                <a:solidFill>
                  <a:srgbClr val="071B33"/>
                </a:solidFill>
                <a:effectLst/>
                <a:uFillTx/>
                <a:latin typeface="Aptos"/>
              </a:rPr>
              <a:t>No content moved without a map, a security baseline, a rollback strategy and an operational handover plan.</a:t>
            </a:r>
            <a:endParaRPr lang="en-US" sz="1700" b="0" u="none" strike="noStrike" dirty="0">
              <a:solidFill>
                <a:srgbClr val="000000"/>
              </a:solidFill>
              <a:effectLst/>
              <a:uFillTx/>
              <a:latin typeface="Arial"/>
            </a:endParaRPr>
          </a:p>
        </p:txBody>
      </p:sp>
      <p:sp>
        <p:nvSpPr>
          <p:cNvPr id="104" name="Text 27"/>
          <p:cNvSpPr/>
          <p:nvPr/>
        </p:nvSpPr>
        <p:spPr>
          <a:xfrm>
            <a:off x="457200" y="2126670"/>
            <a:ext cx="77263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1200" b="1" u="none" strike="noStrike" dirty="0">
                <a:solidFill>
                  <a:srgbClr val="00B050"/>
                </a:solidFill>
                <a:effectLst/>
                <a:uFillTx/>
                <a:latin typeface="Aptos"/>
              </a:rPr>
              <a:t>Plan  →  Pre-scan  →  </a:t>
            </a:r>
            <a:r>
              <a:rPr lang="en-US" sz="1200" b="1" u="none" strike="noStrike" dirty="0">
                <a:solidFill>
                  <a:srgbClr val="002060"/>
                </a:solidFill>
                <a:effectLst/>
                <a:uFillTx/>
                <a:latin typeface="Aptos"/>
              </a:rPr>
              <a:t>Build  →  Test  →  Delta migration  →  CAB  →  </a:t>
            </a:r>
            <a:r>
              <a:rPr lang="en-US" sz="1200" b="1" dirty="0">
                <a:solidFill>
                  <a:srgbClr val="7030A0"/>
                </a:solidFill>
              </a:rPr>
              <a:t>Deployment → </a:t>
            </a:r>
            <a:r>
              <a:rPr lang="en-US" sz="1200" b="1" u="none" strike="noStrike" dirty="0">
                <a:solidFill>
                  <a:srgbClr val="7030A0"/>
                </a:solidFill>
                <a:effectLst/>
                <a:uFillTx/>
                <a:latin typeface="Aptos"/>
              </a:rPr>
              <a:t>Handover  →  Decommission</a:t>
            </a:r>
            <a:endParaRPr lang="en-US" sz="1200" b="1" u="none" strike="noStrike" dirty="0">
              <a:solidFill>
                <a:srgbClr val="7030A0"/>
              </a:solidFill>
              <a:effectLst/>
              <a:uFillTx/>
              <a:latin typeface="Arial"/>
            </a:endParaRPr>
          </a:p>
        </p:txBody>
      </p:sp>
      <p:pic>
        <p:nvPicPr>
          <p:cNvPr id="3" name="Picture 2">
            <a:extLst>
              <a:ext uri="{FF2B5EF4-FFF2-40B4-BE49-F238E27FC236}">
                <a16:creationId xmlns:a16="http://schemas.microsoft.com/office/drawing/2014/main" id="{D004D197-9174-9F53-CFDC-20BE2B39BFEF}"/>
              </a:ext>
            </a:extLst>
          </p:cNvPr>
          <p:cNvPicPr>
            <a:picLocks noChangeAspect="1"/>
          </p:cNvPicPr>
          <p:nvPr/>
        </p:nvPicPr>
        <p:blipFill>
          <a:blip r:embed="rId3"/>
          <a:stretch>
            <a:fillRect/>
          </a:stretch>
        </p:blipFill>
        <p:spPr>
          <a:xfrm>
            <a:off x="433057" y="91212"/>
            <a:ext cx="4248743" cy="342948"/>
          </a:xfrm>
          <a:prstGeom prst="rect">
            <a:avLst/>
          </a:prstGeom>
        </p:spPr>
      </p:pic>
      <p:pic>
        <p:nvPicPr>
          <p:cNvPr id="9" name="Picture 8">
            <a:extLst>
              <a:ext uri="{FF2B5EF4-FFF2-40B4-BE49-F238E27FC236}">
                <a16:creationId xmlns:a16="http://schemas.microsoft.com/office/drawing/2014/main" id="{42688680-19D2-414D-5858-24C66AD0B77B}"/>
              </a:ext>
            </a:extLst>
          </p:cNvPr>
          <p:cNvPicPr>
            <a:picLocks noChangeAspect="1"/>
          </p:cNvPicPr>
          <p:nvPr/>
        </p:nvPicPr>
        <p:blipFill>
          <a:blip r:embed="rId4"/>
          <a:stretch>
            <a:fillRect/>
          </a:stretch>
        </p:blipFill>
        <p:spPr>
          <a:xfrm>
            <a:off x="355461" y="2423095"/>
            <a:ext cx="3848637" cy="2191056"/>
          </a:xfrm>
          <a:prstGeom prst="rect">
            <a:avLst/>
          </a:prstGeom>
        </p:spPr>
      </p:pic>
      <p:pic>
        <p:nvPicPr>
          <p:cNvPr id="11" name="Picture 10">
            <a:extLst>
              <a:ext uri="{FF2B5EF4-FFF2-40B4-BE49-F238E27FC236}">
                <a16:creationId xmlns:a16="http://schemas.microsoft.com/office/drawing/2014/main" id="{3FF9C3D6-245D-9A8B-72F1-896EF74A2C62}"/>
              </a:ext>
            </a:extLst>
          </p:cNvPr>
          <p:cNvPicPr>
            <a:picLocks noChangeAspect="1"/>
          </p:cNvPicPr>
          <p:nvPr/>
        </p:nvPicPr>
        <p:blipFill>
          <a:blip r:embed="rId5"/>
          <a:stretch>
            <a:fillRect/>
          </a:stretch>
        </p:blipFill>
        <p:spPr>
          <a:xfrm>
            <a:off x="915101" y="4756351"/>
            <a:ext cx="2284940" cy="1659405"/>
          </a:xfrm>
          <a:prstGeom prst="rect">
            <a:avLst/>
          </a:prstGeom>
        </p:spPr>
      </p:pic>
      <p:pic>
        <p:nvPicPr>
          <p:cNvPr id="13" name="Picture 12">
            <a:extLst>
              <a:ext uri="{FF2B5EF4-FFF2-40B4-BE49-F238E27FC236}">
                <a16:creationId xmlns:a16="http://schemas.microsoft.com/office/drawing/2014/main" id="{397DA3CF-5C10-93FD-EB29-856E2F5D7B3C}"/>
              </a:ext>
            </a:extLst>
          </p:cNvPr>
          <p:cNvPicPr>
            <a:picLocks noChangeAspect="1"/>
          </p:cNvPicPr>
          <p:nvPr/>
        </p:nvPicPr>
        <p:blipFill>
          <a:blip r:embed="rId6"/>
          <a:stretch>
            <a:fillRect/>
          </a:stretch>
        </p:blipFill>
        <p:spPr>
          <a:xfrm>
            <a:off x="4465355" y="2438215"/>
            <a:ext cx="3718165" cy="2218804"/>
          </a:xfrm>
          <a:prstGeom prst="rect">
            <a:avLst/>
          </a:prstGeom>
        </p:spPr>
      </p:pic>
      <p:pic>
        <p:nvPicPr>
          <p:cNvPr id="15" name="Picture 14">
            <a:extLst>
              <a:ext uri="{FF2B5EF4-FFF2-40B4-BE49-F238E27FC236}">
                <a16:creationId xmlns:a16="http://schemas.microsoft.com/office/drawing/2014/main" id="{024A81B5-DBDE-9535-FC2C-55EA7133D383}"/>
              </a:ext>
            </a:extLst>
          </p:cNvPr>
          <p:cNvPicPr>
            <a:picLocks noChangeAspect="1"/>
          </p:cNvPicPr>
          <p:nvPr/>
        </p:nvPicPr>
        <p:blipFill>
          <a:blip r:embed="rId7"/>
          <a:stretch>
            <a:fillRect/>
          </a:stretch>
        </p:blipFill>
        <p:spPr>
          <a:xfrm>
            <a:off x="3889518" y="2447534"/>
            <a:ext cx="314580" cy="269640"/>
          </a:xfrm>
          <a:prstGeom prst="rect">
            <a:avLst/>
          </a:prstGeom>
        </p:spPr>
      </p:pic>
      <p:pic>
        <p:nvPicPr>
          <p:cNvPr id="17" name="Picture 16">
            <a:extLst>
              <a:ext uri="{FF2B5EF4-FFF2-40B4-BE49-F238E27FC236}">
                <a16:creationId xmlns:a16="http://schemas.microsoft.com/office/drawing/2014/main" id="{59E6AD20-C383-1784-48E7-9B14DDB8DF9B}"/>
              </a:ext>
            </a:extLst>
          </p:cNvPr>
          <p:cNvPicPr>
            <a:picLocks noChangeAspect="1"/>
          </p:cNvPicPr>
          <p:nvPr/>
        </p:nvPicPr>
        <p:blipFill>
          <a:blip r:embed="rId8"/>
          <a:stretch>
            <a:fillRect/>
          </a:stretch>
        </p:blipFill>
        <p:spPr>
          <a:xfrm>
            <a:off x="7882616" y="2447535"/>
            <a:ext cx="282084" cy="269639"/>
          </a:xfrm>
          <a:prstGeom prst="rect">
            <a:avLst/>
          </a:prstGeom>
        </p:spPr>
      </p:pic>
      <p:pic>
        <p:nvPicPr>
          <p:cNvPr id="19" name="Picture 18">
            <a:extLst>
              <a:ext uri="{FF2B5EF4-FFF2-40B4-BE49-F238E27FC236}">
                <a16:creationId xmlns:a16="http://schemas.microsoft.com/office/drawing/2014/main" id="{1393CAC6-F07F-66FA-A474-E5904CFB5A07}"/>
              </a:ext>
            </a:extLst>
          </p:cNvPr>
          <p:cNvPicPr>
            <a:picLocks noChangeAspect="1"/>
          </p:cNvPicPr>
          <p:nvPr/>
        </p:nvPicPr>
        <p:blipFill>
          <a:blip r:embed="rId9"/>
          <a:stretch>
            <a:fillRect/>
          </a:stretch>
        </p:blipFill>
        <p:spPr>
          <a:xfrm>
            <a:off x="10997086" y="149731"/>
            <a:ext cx="1047987" cy="1118189"/>
          </a:xfrm>
          <a:prstGeom prst="rect">
            <a:avLst/>
          </a:prstGeom>
        </p:spPr>
      </p:pic>
      <p:pic>
        <p:nvPicPr>
          <p:cNvPr id="21" name="Picture 20">
            <a:extLst>
              <a:ext uri="{FF2B5EF4-FFF2-40B4-BE49-F238E27FC236}">
                <a16:creationId xmlns:a16="http://schemas.microsoft.com/office/drawing/2014/main" id="{151B0398-E82D-7EC5-D845-6248AAD868E1}"/>
              </a:ext>
            </a:extLst>
          </p:cNvPr>
          <p:cNvPicPr>
            <a:picLocks noChangeAspect="1"/>
          </p:cNvPicPr>
          <p:nvPr/>
        </p:nvPicPr>
        <p:blipFill>
          <a:blip r:embed="rId10"/>
          <a:stretch>
            <a:fillRect/>
          </a:stretch>
        </p:blipFill>
        <p:spPr>
          <a:xfrm>
            <a:off x="8313992" y="2423095"/>
            <a:ext cx="3829584" cy="1822342"/>
          </a:xfrm>
          <a:prstGeom prst="rect">
            <a:avLst/>
          </a:prstGeom>
        </p:spPr>
      </p:pic>
      <p:pic>
        <p:nvPicPr>
          <p:cNvPr id="23" name="Picture 22">
            <a:extLst>
              <a:ext uri="{FF2B5EF4-FFF2-40B4-BE49-F238E27FC236}">
                <a16:creationId xmlns:a16="http://schemas.microsoft.com/office/drawing/2014/main" id="{36AA2445-6CF4-0249-71A2-D6CBDE89F47C}"/>
              </a:ext>
            </a:extLst>
          </p:cNvPr>
          <p:cNvPicPr>
            <a:picLocks noChangeAspect="1"/>
          </p:cNvPicPr>
          <p:nvPr/>
        </p:nvPicPr>
        <p:blipFill>
          <a:blip r:embed="rId11"/>
          <a:stretch>
            <a:fillRect/>
          </a:stretch>
        </p:blipFill>
        <p:spPr>
          <a:xfrm>
            <a:off x="5119356" y="4756351"/>
            <a:ext cx="2410161" cy="1667108"/>
          </a:xfrm>
          <a:prstGeom prst="rect">
            <a:avLst/>
          </a:prstGeom>
        </p:spPr>
      </p:pic>
      <p:pic>
        <p:nvPicPr>
          <p:cNvPr id="25" name="Picture 24">
            <a:extLst>
              <a:ext uri="{FF2B5EF4-FFF2-40B4-BE49-F238E27FC236}">
                <a16:creationId xmlns:a16="http://schemas.microsoft.com/office/drawing/2014/main" id="{8F70C872-9E7C-2764-5647-631721CC95D2}"/>
              </a:ext>
            </a:extLst>
          </p:cNvPr>
          <p:cNvPicPr>
            <a:picLocks noChangeAspect="1"/>
          </p:cNvPicPr>
          <p:nvPr/>
        </p:nvPicPr>
        <p:blipFill>
          <a:blip r:embed="rId12"/>
          <a:stretch>
            <a:fillRect/>
          </a:stretch>
        </p:blipFill>
        <p:spPr>
          <a:xfrm>
            <a:off x="9257605" y="4756351"/>
            <a:ext cx="2272663" cy="1659405"/>
          </a:xfrm>
          <a:prstGeom prst="rect">
            <a:avLst/>
          </a:prstGeom>
        </p:spPr>
      </p:pic>
      <p:pic>
        <p:nvPicPr>
          <p:cNvPr id="27" name="Picture 26">
            <a:extLst>
              <a:ext uri="{FF2B5EF4-FFF2-40B4-BE49-F238E27FC236}">
                <a16:creationId xmlns:a16="http://schemas.microsoft.com/office/drawing/2014/main" id="{917BF5E6-D28E-A0ED-E694-182857DE21FC}"/>
              </a:ext>
            </a:extLst>
          </p:cNvPr>
          <p:cNvPicPr>
            <a:picLocks noChangeAspect="1"/>
          </p:cNvPicPr>
          <p:nvPr/>
        </p:nvPicPr>
        <p:blipFill>
          <a:blip r:embed="rId13"/>
          <a:stretch>
            <a:fillRect/>
          </a:stretch>
        </p:blipFill>
        <p:spPr>
          <a:xfrm>
            <a:off x="11849874" y="2447535"/>
            <a:ext cx="242985" cy="269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6" name="Text 0"/>
          <p:cNvSpPr/>
          <p:nvPr/>
        </p:nvSpPr>
        <p:spPr>
          <a:xfrm>
            <a:off x="457200" y="210240"/>
            <a:ext cx="4571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1" u="none" strike="noStrike" spc="99">
                <a:solidFill>
                  <a:srgbClr val="20D6C7"/>
                </a:solidFill>
                <a:effectLst/>
                <a:uFillTx/>
                <a:latin typeface="Aptos"/>
              </a:rPr>
              <a:t>PILLAR 5  |  THE QUANTIFIED VALUE</a:t>
            </a:r>
            <a:endParaRPr lang="en-US" sz="700" b="0" u="none" strike="noStrike">
              <a:solidFill>
                <a:srgbClr val="000000"/>
              </a:solidFill>
              <a:effectLst/>
              <a:uFillTx/>
              <a:latin typeface="Arial"/>
            </a:endParaRPr>
          </a:p>
        </p:txBody>
      </p:sp>
      <p:sp>
        <p:nvSpPr>
          <p:cNvPr id="107" name="Text 1"/>
          <p:cNvSpPr/>
          <p:nvPr/>
        </p:nvSpPr>
        <p:spPr>
          <a:xfrm>
            <a:off x="457200" y="457200"/>
            <a:ext cx="11201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dirty="0">
                <a:solidFill>
                  <a:srgbClr val="071B33"/>
                </a:solidFill>
                <a:effectLst/>
                <a:uFillTx/>
                <a:latin typeface="Aptos"/>
              </a:rPr>
              <a:t>Strategic Outcomes and Business Impact</a:t>
            </a:r>
            <a:endParaRPr lang="en-US" sz="2100" b="0" u="none" strike="noStrike" dirty="0">
              <a:solidFill>
                <a:srgbClr val="000000"/>
              </a:solidFill>
              <a:effectLst/>
              <a:uFillTx/>
              <a:latin typeface="Arial"/>
            </a:endParaRPr>
          </a:p>
        </p:txBody>
      </p:sp>
      <p:sp>
        <p:nvSpPr>
          <p:cNvPr id="108" name="Text 2"/>
          <p:cNvSpPr/>
          <p:nvPr/>
        </p:nvSpPr>
        <p:spPr>
          <a:xfrm>
            <a:off x="457200" y="914400"/>
            <a:ext cx="1106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dirty="0">
                <a:solidFill>
                  <a:srgbClr val="58718A"/>
                </a:solidFill>
                <a:latin typeface="Aptos"/>
              </a:rPr>
              <a:t>Delivering financial value (Annual saving of $100K), operational excellence (85% </a:t>
            </a:r>
            <a:r>
              <a:rPr lang="en-US" sz="1600" dirty="0" err="1">
                <a:solidFill>
                  <a:srgbClr val="58718A"/>
                </a:solidFill>
                <a:latin typeface="Aptos"/>
              </a:rPr>
              <a:t>opex</a:t>
            </a:r>
            <a:r>
              <a:rPr lang="en-US" sz="1600" dirty="0">
                <a:solidFill>
                  <a:srgbClr val="58718A"/>
                </a:solidFill>
                <a:latin typeface="Aptos"/>
              </a:rPr>
              <a:t> reduction)and future ready collaboration</a:t>
            </a:r>
            <a:endParaRPr lang="en-US" sz="1600" b="0" u="none" strike="noStrike" dirty="0">
              <a:solidFill>
                <a:srgbClr val="000000"/>
              </a:solidFill>
              <a:effectLst/>
              <a:uFillTx/>
              <a:latin typeface="Arial"/>
            </a:endParaRPr>
          </a:p>
        </p:txBody>
      </p:sp>
      <p:sp>
        <p:nvSpPr>
          <p:cNvPr id="109" name="Shape 3"/>
          <p:cNvSpPr/>
          <p:nvPr/>
        </p:nvSpPr>
        <p:spPr>
          <a:xfrm>
            <a:off x="457200" y="1234440"/>
            <a:ext cx="11247120" cy="720"/>
          </a:xfrm>
          <a:prstGeom prst="line">
            <a:avLst/>
          </a:prstGeom>
          <a:ln w="12700">
            <a:solidFill>
              <a:srgbClr val="D8E6EF"/>
            </a:solidFill>
            <a:round/>
          </a:ln>
        </p:spPr>
        <p:style>
          <a:lnRef idx="0">
            <a:scrgbClr r="0" g="0" b="0"/>
          </a:lnRef>
          <a:fillRef idx="0">
            <a:scrgbClr r="0" g="0" b="0"/>
          </a:fillRef>
          <a:effectRef idx="0">
            <a:scrgbClr r="0" g="0" b="0"/>
          </a:effectRef>
          <a:fontRef idx="minor"/>
        </p:style>
        <p:txBody>
          <a:bodyPr lIns="90000" tIns="-44280" rIns="90000" bIns="-44280" anchor="t" anchorCtr="1">
            <a:noAutofit/>
          </a:bodyPr>
          <a:lstStyle/>
          <a:p>
            <a:endParaRPr lang="en-US" sz="1800" b="0" u="none" strike="noStrike">
              <a:solidFill>
                <a:srgbClr val="000000"/>
              </a:solidFill>
              <a:effectLst/>
              <a:uFillTx/>
              <a:latin typeface="Arial"/>
            </a:endParaRPr>
          </a:p>
        </p:txBody>
      </p:sp>
      <p:sp>
        <p:nvSpPr>
          <p:cNvPr id="111" name="Shape 4"/>
          <p:cNvSpPr/>
          <p:nvPr/>
        </p:nvSpPr>
        <p:spPr>
          <a:xfrm>
            <a:off x="475560" y="1302253"/>
            <a:ext cx="2011320" cy="1142640"/>
          </a:xfrm>
          <a:prstGeom prst="roundRect">
            <a:avLst>
              <a:gd name="adj" fmla="val 8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Text 5"/>
          <p:cNvSpPr/>
          <p:nvPr/>
        </p:nvSpPr>
        <p:spPr>
          <a:xfrm>
            <a:off x="640080" y="1521493"/>
            <a:ext cx="16822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dirty="0">
                <a:solidFill>
                  <a:srgbClr val="F2C14E"/>
                </a:solidFill>
                <a:effectLst/>
                <a:uFillTx/>
                <a:latin typeface="Aptos"/>
              </a:rPr>
              <a:t>$100K+</a:t>
            </a:r>
            <a:endParaRPr lang="en-US" sz="2500" b="0" u="none" strike="noStrike" dirty="0">
              <a:solidFill>
                <a:srgbClr val="000000"/>
              </a:solidFill>
              <a:effectLst/>
              <a:uFillTx/>
              <a:latin typeface="Arial"/>
            </a:endParaRPr>
          </a:p>
        </p:txBody>
      </p:sp>
      <p:sp>
        <p:nvSpPr>
          <p:cNvPr id="113" name="Text 6"/>
          <p:cNvSpPr/>
          <p:nvPr/>
        </p:nvSpPr>
        <p:spPr>
          <a:xfrm>
            <a:off x="676800" y="1997053"/>
            <a:ext cx="1608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071B33"/>
                </a:solidFill>
                <a:effectLst/>
                <a:uFillTx/>
                <a:latin typeface="Aptos"/>
              </a:rPr>
              <a:t>ANNUAL RECURRING SAVINGS</a:t>
            </a:r>
            <a:endParaRPr lang="en-US" sz="1200" b="0" u="none" strike="noStrike" dirty="0">
              <a:solidFill>
                <a:srgbClr val="000000"/>
              </a:solidFill>
              <a:effectLst/>
              <a:uFillTx/>
              <a:latin typeface="Arial"/>
            </a:endParaRPr>
          </a:p>
        </p:txBody>
      </p:sp>
      <p:sp>
        <p:nvSpPr>
          <p:cNvPr id="114" name="Shape 7"/>
          <p:cNvSpPr/>
          <p:nvPr/>
        </p:nvSpPr>
        <p:spPr>
          <a:xfrm>
            <a:off x="2743200" y="1302253"/>
            <a:ext cx="2011320" cy="1142640"/>
          </a:xfrm>
          <a:prstGeom prst="roundRect">
            <a:avLst>
              <a:gd name="adj" fmla="val 8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5" name="Text 8"/>
          <p:cNvSpPr/>
          <p:nvPr/>
        </p:nvSpPr>
        <p:spPr>
          <a:xfrm>
            <a:off x="2907720" y="1521493"/>
            <a:ext cx="16822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a:solidFill>
                  <a:srgbClr val="35C46A"/>
                </a:solidFill>
                <a:effectLst/>
                <a:uFillTx/>
                <a:latin typeface="Aptos"/>
              </a:rPr>
              <a:t>85%</a:t>
            </a:r>
            <a:endParaRPr lang="en-US" sz="2500" b="0" u="none" strike="noStrike">
              <a:solidFill>
                <a:srgbClr val="000000"/>
              </a:solidFill>
              <a:effectLst/>
              <a:uFillTx/>
              <a:latin typeface="Arial"/>
            </a:endParaRPr>
          </a:p>
        </p:txBody>
      </p:sp>
      <p:sp>
        <p:nvSpPr>
          <p:cNvPr id="116" name="Text 9"/>
          <p:cNvSpPr/>
          <p:nvPr/>
        </p:nvSpPr>
        <p:spPr>
          <a:xfrm>
            <a:off x="2944440" y="1997053"/>
            <a:ext cx="1608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071B33"/>
                </a:solidFill>
                <a:effectLst/>
                <a:uFillTx/>
                <a:latin typeface="Aptos"/>
              </a:rPr>
              <a:t>OPEX REDUCTION</a:t>
            </a:r>
            <a:endParaRPr lang="en-US" sz="1200" b="0" u="none" strike="noStrike" dirty="0">
              <a:solidFill>
                <a:srgbClr val="000000"/>
              </a:solidFill>
              <a:effectLst/>
              <a:uFillTx/>
              <a:latin typeface="Arial"/>
            </a:endParaRPr>
          </a:p>
        </p:txBody>
      </p:sp>
      <p:sp>
        <p:nvSpPr>
          <p:cNvPr id="117" name="Shape 10"/>
          <p:cNvSpPr/>
          <p:nvPr/>
        </p:nvSpPr>
        <p:spPr>
          <a:xfrm>
            <a:off x="5010840" y="1302253"/>
            <a:ext cx="2011320" cy="1142640"/>
          </a:xfrm>
          <a:prstGeom prst="roundRect">
            <a:avLst>
              <a:gd name="adj" fmla="val 8000"/>
            </a:avLst>
          </a:prstGeom>
          <a:solidFill>
            <a:srgbClr val="FFFFFF"/>
          </a:solidFill>
          <a:ln w="12700">
            <a:solidFill>
              <a:srgbClr val="D8E6EF"/>
            </a:solidFill>
            <a:round/>
          </a:ln>
          <a:effectLst>
            <a:outerShdw blurRad="12600" dist="4582" dir="27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11"/>
          <p:cNvSpPr/>
          <p:nvPr/>
        </p:nvSpPr>
        <p:spPr>
          <a:xfrm>
            <a:off x="5175360" y="1521493"/>
            <a:ext cx="168228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500" b="1" u="none" strike="noStrike" dirty="0">
                <a:solidFill>
                  <a:srgbClr val="20D6C7"/>
                </a:solidFill>
                <a:effectLst/>
                <a:uFillTx/>
                <a:latin typeface="Aptos"/>
              </a:rPr>
              <a:t>100%</a:t>
            </a:r>
            <a:endParaRPr lang="en-US" sz="2500" b="0" u="none" strike="noStrike" dirty="0">
              <a:solidFill>
                <a:srgbClr val="000000"/>
              </a:solidFill>
              <a:effectLst/>
              <a:uFillTx/>
              <a:latin typeface="Arial"/>
            </a:endParaRPr>
          </a:p>
        </p:txBody>
      </p:sp>
      <p:sp>
        <p:nvSpPr>
          <p:cNvPr id="119" name="Text 12"/>
          <p:cNvSpPr/>
          <p:nvPr/>
        </p:nvSpPr>
        <p:spPr>
          <a:xfrm>
            <a:off x="5212080" y="1997053"/>
            <a:ext cx="16088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071B33"/>
                </a:solidFill>
                <a:effectLst/>
                <a:uFillTx/>
                <a:latin typeface="Aptos"/>
              </a:rPr>
              <a:t>DATA INTEGRITY</a:t>
            </a:r>
            <a:endParaRPr lang="en-US" sz="1200" b="0" u="none" strike="noStrike" dirty="0">
              <a:solidFill>
                <a:srgbClr val="000000"/>
              </a:solidFill>
              <a:effectLst/>
              <a:uFillTx/>
              <a:latin typeface="Arial"/>
            </a:endParaRPr>
          </a:p>
        </p:txBody>
      </p:sp>
      <p:graphicFrame>
        <p:nvGraphicFramePr>
          <p:cNvPr id="120" name="Chart 0"/>
          <p:cNvGraphicFramePr/>
          <p:nvPr>
            <p:extLst>
              <p:ext uri="{D42A27DB-BD31-4B8C-83A1-F6EECF244321}">
                <p14:modId xmlns:p14="http://schemas.microsoft.com/office/powerpoint/2010/main" val="2228628286"/>
              </p:ext>
            </p:extLst>
          </p:nvPr>
        </p:nvGraphicFramePr>
        <p:xfrm>
          <a:off x="475560" y="2485451"/>
          <a:ext cx="5028840" cy="2559960"/>
        </p:xfrm>
        <a:graphic>
          <a:graphicData uri="http://schemas.openxmlformats.org/drawingml/2006/chart">
            <c:chart xmlns:c="http://schemas.openxmlformats.org/drawingml/2006/chart" xmlns:r="http://schemas.openxmlformats.org/officeDocument/2006/relationships" r:id="rId3"/>
          </a:graphicData>
        </a:graphic>
      </p:graphicFrame>
      <p:sp>
        <p:nvSpPr>
          <p:cNvPr id="121" name="Shape 13"/>
          <p:cNvSpPr/>
          <p:nvPr/>
        </p:nvSpPr>
        <p:spPr>
          <a:xfrm>
            <a:off x="7186680" y="1299600"/>
            <a:ext cx="4619616" cy="5175124"/>
          </a:xfrm>
          <a:prstGeom prst="roundRect">
            <a:avLst>
              <a:gd name="adj" fmla="val 5814"/>
            </a:avLst>
          </a:prstGeom>
          <a:solidFill>
            <a:srgbClr val="071B33"/>
          </a:solidFill>
          <a:ln w="12700">
            <a:solidFill>
              <a:srgbClr val="071B3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 name="Picture 2">
            <a:extLst>
              <a:ext uri="{FF2B5EF4-FFF2-40B4-BE49-F238E27FC236}">
                <a16:creationId xmlns:a16="http://schemas.microsoft.com/office/drawing/2014/main" id="{5A2B25B7-BD07-07A7-A011-B2D3EA128009}"/>
              </a:ext>
            </a:extLst>
          </p:cNvPr>
          <p:cNvPicPr>
            <a:picLocks noChangeAspect="1"/>
          </p:cNvPicPr>
          <p:nvPr/>
        </p:nvPicPr>
        <p:blipFill>
          <a:blip r:embed="rId4"/>
          <a:stretch>
            <a:fillRect/>
          </a:stretch>
        </p:blipFill>
        <p:spPr>
          <a:xfrm>
            <a:off x="343752" y="134690"/>
            <a:ext cx="5201376" cy="285790"/>
          </a:xfrm>
          <a:prstGeom prst="rect">
            <a:avLst/>
          </a:prstGeom>
        </p:spPr>
      </p:pic>
      <p:pic>
        <p:nvPicPr>
          <p:cNvPr id="5" name="Picture 4">
            <a:extLst>
              <a:ext uri="{FF2B5EF4-FFF2-40B4-BE49-F238E27FC236}">
                <a16:creationId xmlns:a16="http://schemas.microsoft.com/office/drawing/2014/main" id="{9B977D23-14CE-6E8D-9337-E2E2C86385D7}"/>
              </a:ext>
            </a:extLst>
          </p:cNvPr>
          <p:cNvPicPr>
            <a:picLocks noChangeAspect="1"/>
          </p:cNvPicPr>
          <p:nvPr/>
        </p:nvPicPr>
        <p:blipFill>
          <a:blip r:embed="rId5"/>
          <a:stretch>
            <a:fillRect/>
          </a:stretch>
        </p:blipFill>
        <p:spPr>
          <a:xfrm>
            <a:off x="7417837" y="1299600"/>
            <a:ext cx="4134083" cy="3048425"/>
          </a:xfrm>
          <a:prstGeom prst="rect">
            <a:avLst/>
          </a:prstGeom>
        </p:spPr>
      </p:pic>
      <p:pic>
        <p:nvPicPr>
          <p:cNvPr id="7" name="Picture 6">
            <a:extLst>
              <a:ext uri="{FF2B5EF4-FFF2-40B4-BE49-F238E27FC236}">
                <a16:creationId xmlns:a16="http://schemas.microsoft.com/office/drawing/2014/main" id="{7C2FBA61-A3EE-9E1A-4945-F51955D534C7}"/>
              </a:ext>
            </a:extLst>
          </p:cNvPr>
          <p:cNvPicPr>
            <a:picLocks noChangeAspect="1"/>
          </p:cNvPicPr>
          <p:nvPr/>
        </p:nvPicPr>
        <p:blipFill>
          <a:blip r:embed="rId6"/>
          <a:stretch>
            <a:fillRect/>
          </a:stretch>
        </p:blipFill>
        <p:spPr>
          <a:xfrm>
            <a:off x="7417838" y="4412464"/>
            <a:ext cx="4030824" cy="1867037"/>
          </a:xfrm>
          <a:prstGeom prst="rect">
            <a:avLst/>
          </a:prstGeom>
        </p:spPr>
      </p:pic>
      <p:pic>
        <p:nvPicPr>
          <p:cNvPr id="9" name="Picture 8">
            <a:extLst>
              <a:ext uri="{FF2B5EF4-FFF2-40B4-BE49-F238E27FC236}">
                <a16:creationId xmlns:a16="http://schemas.microsoft.com/office/drawing/2014/main" id="{55348DA4-3B85-2B39-886C-D883C895981A}"/>
              </a:ext>
            </a:extLst>
          </p:cNvPr>
          <p:cNvPicPr>
            <a:picLocks noChangeAspect="1"/>
          </p:cNvPicPr>
          <p:nvPr/>
        </p:nvPicPr>
        <p:blipFill>
          <a:blip r:embed="rId7"/>
          <a:stretch>
            <a:fillRect/>
          </a:stretch>
        </p:blipFill>
        <p:spPr>
          <a:xfrm>
            <a:off x="688133" y="5085969"/>
            <a:ext cx="4437441" cy="13887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27" name="Text 0"/>
          <p:cNvSpPr/>
          <p:nvPr/>
        </p:nvSpPr>
        <p:spPr>
          <a:xfrm>
            <a:off x="457200" y="210240"/>
            <a:ext cx="7150608" cy="16581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spc="99" dirty="0">
                <a:solidFill>
                  <a:srgbClr val="20D6C7"/>
                </a:solidFill>
                <a:effectLst/>
                <a:uFillTx/>
                <a:latin typeface="Aptos"/>
              </a:rPr>
              <a:t>HIRING RELEVANCE </a:t>
            </a:r>
            <a:endParaRPr lang="en-US" b="0" u="none" strike="noStrike" dirty="0">
              <a:solidFill>
                <a:srgbClr val="000000"/>
              </a:solidFill>
              <a:effectLst/>
              <a:uFillTx/>
              <a:latin typeface="Arial"/>
            </a:endParaRPr>
          </a:p>
        </p:txBody>
      </p:sp>
      <p:sp>
        <p:nvSpPr>
          <p:cNvPr id="128" name="Text 1"/>
          <p:cNvSpPr/>
          <p:nvPr/>
        </p:nvSpPr>
        <p:spPr>
          <a:xfrm>
            <a:off x="457200" y="457200"/>
            <a:ext cx="1120104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100" b="1" u="none" strike="noStrike" dirty="0">
                <a:solidFill>
                  <a:srgbClr val="071B33"/>
                </a:solidFill>
                <a:effectLst/>
                <a:uFillTx/>
                <a:latin typeface="Aptos"/>
              </a:rPr>
              <a:t>Why This Case Study Matters to Future Managers/Employers</a:t>
            </a:r>
            <a:endParaRPr lang="en-US" sz="2100" b="0" u="none" strike="noStrike" dirty="0">
              <a:solidFill>
                <a:srgbClr val="000000"/>
              </a:solidFill>
              <a:effectLst/>
              <a:uFillTx/>
              <a:latin typeface="Arial"/>
            </a:endParaRPr>
          </a:p>
        </p:txBody>
      </p:sp>
      <p:sp>
        <p:nvSpPr>
          <p:cNvPr id="129" name="Text 2"/>
          <p:cNvSpPr/>
          <p:nvPr/>
        </p:nvSpPr>
        <p:spPr>
          <a:xfrm>
            <a:off x="457200" y="914400"/>
            <a:ext cx="1106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58718A"/>
                </a:solidFill>
                <a:effectLst/>
                <a:uFillTx/>
                <a:latin typeface="Aptos"/>
              </a:rPr>
              <a:t>This case matters because strategic outcomes align to business &amp; technology goals</a:t>
            </a:r>
            <a:endParaRPr lang="en-US" sz="1600" b="0" u="none" strike="noStrike" dirty="0">
              <a:solidFill>
                <a:srgbClr val="000000"/>
              </a:solidFill>
              <a:effectLst/>
              <a:uFillTx/>
              <a:latin typeface="Arial"/>
            </a:endParaRPr>
          </a:p>
        </p:txBody>
      </p:sp>
      <p:sp>
        <p:nvSpPr>
          <p:cNvPr id="130" name="Shape 3"/>
          <p:cNvSpPr/>
          <p:nvPr/>
        </p:nvSpPr>
        <p:spPr>
          <a:xfrm>
            <a:off x="457200" y="1234440"/>
            <a:ext cx="11247120" cy="720"/>
          </a:xfrm>
          <a:prstGeom prst="line">
            <a:avLst/>
          </a:prstGeom>
          <a:ln w="12700">
            <a:solidFill>
              <a:srgbClr val="D8E6EF"/>
            </a:solidFill>
            <a:round/>
          </a:ln>
        </p:spPr>
        <p:style>
          <a:lnRef idx="0">
            <a:scrgbClr r="0" g="0" b="0"/>
          </a:lnRef>
          <a:fillRef idx="0">
            <a:scrgbClr r="0" g="0" b="0"/>
          </a:fillRef>
          <a:effectRef idx="0">
            <a:scrgbClr r="0" g="0" b="0"/>
          </a:effectRef>
          <a:fontRef idx="minor"/>
        </p:style>
        <p:txBody>
          <a:bodyPr lIns="90000" tIns="-44280" rIns="90000" bIns="-44280" anchor="t" anchorCtr="1">
            <a:noAutofit/>
          </a:bodyPr>
          <a:lstStyle/>
          <a:p>
            <a:endParaRPr lang="en-US" sz="1800" b="0" u="none" strike="noStrike">
              <a:solidFill>
                <a:srgbClr val="000000"/>
              </a:solidFill>
              <a:effectLst/>
              <a:uFillTx/>
              <a:latin typeface="Arial"/>
            </a:endParaRPr>
          </a:p>
        </p:txBody>
      </p:sp>
      <p:sp>
        <p:nvSpPr>
          <p:cNvPr id="147" name="Shape 20"/>
          <p:cNvSpPr/>
          <p:nvPr/>
        </p:nvSpPr>
        <p:spPr>
          <a:xfrm>
            <a:off x="300154" y="1334520"/>
            <a:ext cx="11591692" cy="5159586"/>
          </a:xfrm>
          <a:prstGeom prst="roundRect">
            <a:avLst>
              <a:gd name="adj" fmla="val 2410"/>
            </a:avLst>
          </a:prstGeom>
          <a:solidFill>
            <a:srgbClr val="071B33"/>
          </a:solidFill>
          <a:ln w="12700">
            <a:solidFill>
              <a:srgbClr val="071B3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Text 21"/>
          <p:cNvSpPr/>
          <p:nvPr/>
        </p:nvSpPr>
        <p:spPr>
          <a:xfrm>
            <a:off x="8065080" y="1828800"/>
            <a:ext cx="32000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F2C14E"/>
                </a:solidFill>
                <a:effectLst/>
                <a:uFillTx/>
                <a:latin typeface="Aptos"/>
              </a:rPr>
              <a:t>ROLE ALIGNMENT</a:t>
            </a:r>
            <a:endParaRPr lang="en-US" sz="900" b="0" u="none" strike="noStrike">
              <a:solidFill>
                <a:srgbClr val="000000"/>
              </a:solidFill>
              <a:effectLst/>
              <a:uFillTx/>
              <a:latin typeface="Arial"/>
            </a:endParaRPr>
          </a:p>
        </p:txBody>
      </p:sp>
      <p:sp>
        <p:nvSpPr>
          <p:cNvPr id="161" name="Shape 34"/>
          <p:cNvSpPr/>
          <p:nvPr/>
        </p:nvSpPr>
        <p:spPr>
          <a:xfrm>
            <a:off x="1010852" y="4213132"/>
            <a:ext cx="9656733" cy="396190"/>
          </a:xfrm>
          <a:prstGeom prst="roundRect">
            <a:avLst>
              <a:gd name="adj" fmla="val 18182"/>
            </a:avLst>
          </a:prstGeom>
          <a:solidFill>
            <a:srgbClr val="35C46A"/>
          </a:solidFill>
          <a:ln w="12700">
            <a:solidFill>
              <a:srgbClr val="333333">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2" name="Text 35"/>
          <p:cNvSpPr/>
          <p:nvPr/>
        </p:nvSpPr>
        <p:spPr>
          <a:xfrm>
            <a:off x="760620" y="4340328"/>
            <a:ext cx="106981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a:solidFill>
                  <a:srgbClr val="FFFFFF"/>
                </a:solidFill>
                <a:effectLst/>
                <a:uFillTx/>
                <a:latin typeface="Aptos"/>
              </a:rPr>
              <a:t>Role Alignment: How David Liong Adds Value</a:t>
            </a:r>
            <a:endParaRPr lang="en-US" sz="1600" b="0" u="none" strike="noStrike" dirty="0">
              <a:solidFill>
                <a:srgbClr val="000000"/>
              </a:solidFill>
              <a:effectLst/>
              <a:uFillTx/>
              <a:latin typeface="Arial"/>
            </a:endParaRPr>
          </a:p>
        </p:txBody>
      </p:sp>
      <p:pic>
        <p:nvPicPr>
          <p:cNvPr id="3" name="Picture 2">
            <a:extLst>
              <a:ext uri="{FF2B5EF4-FFF2-40B4-BE49-F238E27FC236}">
                <a16:creationId xmlns:a16="http://schemas.microsoft.com/office/drawing/2014/main" id="{B50AAE6B-6E7A-10E3-7D97-6B9C6D1EC12C}"/>
              </a:ext>
            </a:extLst>
          </p:cNvPr>
          <p:cNvPicPr>
            <a:picLocks noChangeAspect="1"/>
          </p:cNvPicPr>
          <p:nvPr/>
        </p:nvPicPr>
        <p:blipFill>
          <a:blip r:embed="rId3"/>
          <a:stretch>
            <a:fillRect/>
          </a:stretch>
        </p:blipFill>
        <p:spPr>
          <a:xfrm>
            <a:off x="1010854" y="1334520"/>
            <a:ext cx="9656732" cy="2105319"/>
          </a:xfrm>
          <a:prstGeom prst="rect">
            <a:avLst/>
          </a:prstGeom>
        </p:spPr>
      </p:pic>
      <p:pic>
        <p:nvPicPr>
          <p:cNvPr id="5" name="Picture 4">
            <a:extLst>
              <a:ext uri="{FF2B5EF4-FFF2-40B4-BE49-F238E27FC236}">
                <a16:creationId xmlns:a16="http://schemas.microsoft.com/office/drawing/2014/main" id="{C0F8E7FA-0360-BB87-4638-09D24B6C3EE6}"/>
              </a:ext>
            </a:extLst>
          </p:cNvPr>
          <p:cNvPicPr>
            <a:picLocks noChangeAspect="1"/>
          </p:cNvPicPr>
          <p:nvPr/>
        </p:nvPicPr>
        <p:blipFill>
          <a:blip r:embed="rId4"/>
          <a:stretch>
            <a:fillRect/>
          </a:stretch>
        </p:blipFill>
        <p:spPr>
          <a:xfrm>
            <a:off x="1630844" y="3439839"/>
            <a:ext cx="8716591" cy="743054"/>
          </a:xfrm>
          <a:prstGeom prst="rect">
            <a:avLst/>
          </a:prstGeom>
        </p:spPr>
      </p:pic>
      <p:pic>
        <p:nvPicPr>
          <p:cNvPr id="7" name="Picture 6">
            <a:extLst>
              <a:ext uri="{FF2B5EF4-FFF2-40B4-BE49-F238E27FC236}">
                <a16:creationId xmlns:a16="http://schemas.microsoft.com/office/drawing/2014/main" id="{A0603167-1369-EEB2-A1B8-F342C8768A43}"/>
              </a:ext>
            </a:extLst>
          </p:cNvPr>
          <p:cNvPicPr>
            <a:picLocks noChangeAspect="1"/>
          </p:cNvPicPr>
          <p:nvPr/>
        </p:nvPicPr>
        <p:blipFill>
          <a:blip r:embed="rId5"/>
          <a:stretch>
            <a:fillRect/>
          </a:stretch>
        </p:blipFill>
        <p:spPr>
          <a:xfrm>
            <a:off x="1010852" y="4609322"/>
            <a:ext cx="9656733" cy="18726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Metadata/LabelInfo.xml><?xml version="1.0" encoding="utf-8"?>
<clbl:labelList xmlns:clbl="http://schemas.microsoft.com/office/2020/mipLabelMetadata">
  <clbl:label id="{defa4170-0d19-0005-0004-bc88714345d2}" enabled="1" method="Standard" siteId="{10cb6ddd-7027-4009-a457-a601afda4818}" contentBits="0" removed="0"/>
</clbl:labelList>
</file>

<file path=docProps/app.xml><?xml version="1.0" encoding="utf-8"?>
<Properties xmlns="http://schemas.openxmlformats.org/officeDocument/2006/extended-properties" xmlns:vt="http://schemas.openxmlformats.org/officeDocument/2006/docPropsVTypes">
  <Template/>
  <TotalTime>2850</TotalTime>
  <Words>827</Words>
  <Application>Microsoft Office PowerPoint</Application>
  <PresentationFormat>Widescreen</PresentationFormat>
  <Paragraphs>64</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Royal Automobile Club of WA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Migration and Financial Optimisation</dc:title>
  <dc:subject>RAC File Share Migration to SharePoint Online</dc:subject>
  <dc:creator>David Liong</dc:creator>
  <dc:description/>
  <cp:lastModifiedBy>David Liong</cp:lastModifiedBy>
  <cp:revision>24</cp:revision>
  <dcterms:created xsi:type="dcterms:W3CDTF">2026-08-29T15:56:23Z</dcterms:created>
  <dcterms:modified xsi:type="dcterms:W3CDTF">2026-08-31T15:32:39Z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6</vt:r8>
  </property>
  <property fmtid="{D5CDD505-2E9C-101B-9397-08002B2CF9AE}" pid="3" name="PresentationFormat">
    <vt:lpwstr>On-screen Show (16:9)</vt:lpwstr>
  </property>
  <property fmtid="{D5CDD505-2E9C-101B-9397-08002B2CF9AE}" pid="4" name="Slides">
    <vt:r8>6</vt:r8>
  </property>
</Properties>
</file>