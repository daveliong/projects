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1" r:id="rId4"/>
    <p:sldId id="262" r:id="rId5"/>
    <p:sldId id="258" r:id="rId6"/>
    <p:sldId id="259" r:id="rId7"/>
    <p:sldId id="260"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49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513" autoAdjust="0"/>
  </p:normalViewPr>
  <p:slideViewPr>
    <p:cSldViewPr snapToGrid="0" snapToObjects="1">
      <p:cViewPr>
        <p:scale>
          <a:sx n="104" d="100"/>
          <a:sy n="104" d="100"/>
        </p:scale>
        <p:origin x="834" y="-73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6405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Introduce yourself and state your strategic role as a 'Technical Project Lead' and 'Solutions Architect'.</a:t>
            </a:r>
          </a:p>
          <a:p>
            <a:r>
              <a:t>Explain that you are presenting an end-to-end Case Study of the Vehicle Inspection Application (VIA) project.</a:t>
            </a:r>
          </a:p>
          <a:p>
            <a:r>
              <a:t>Highlight that this project represents the perfect intersection of your technical depth in Dataverse/Power Platform and your leadership capabilities as a Scrum Master.</a:t>
            </a:r>
          </a:p>
          <a:p>
            <a:r>
              <a:t>Frame the metadata: built for RAC's heavy-demand Motoring Services, replacing physical operational leakage with relational security.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Focus on the 'Executive Challenge' here.</a:t>
            </a:r>
          </a:p>
          <a:p>
            <a:r>
              <a:t>Explain that when you analyzed the environment, you realized this wasn't just an IT development request—it was a critical business sustainability and compliance problem.</a:t>
            </a:r>
          </a:p>
          <a:p>
            <a:r>
              <a:t>Mention that 200k inspections annually meant that even a 2-minute delay per run was highly expensive, translating to massive operational leakage.</a:t>
            </a:r>
          </a:p>
          <a:p>
            <a:r>
              <a:t>Highlight the risks of having physical, un-obfuscated PII paper files floating around roadside patrol vans.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93232-B9F2-155E-FFEF-7B6FA359D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07949-14A3-F6B6-87F0-6472C2D1A0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89697FD-2CC1-8280-CAE5-93F58F28A324}"/>
              </a:ext>
            </a:extLst>
          </p:cNvPr>
          <p:cNvSpPr>
            <a:spLocks noGrp="1"/>
          </p:cNvSpPr>
          <p:nvPr>
            <p:ph type="body" sz="quarter" idx="3"/>
          </p:nvPr>
        </p:nvSpPr>
        <p:spPr/>
        <p:txBody>
          <a:bodyPr/>
          <a:lstStyle/>
          <a:p>
            <a:r>
              <a:rPr dirty="0"/>
              <a:t>SPEAKER NOTES:</a:t>
            </a:r>
          </a:p>
          <a:p>
            <a:r>
              <a:rPr dirty="0"/>
              <a:t>This is your 'Architectural Blueprint' slide.</a:t>
            </a:r>
          </a:p>
          <a:p>
            <a:r>
              <a:rPr dirty="0"/>
              <a:t>Explain that rather than using a flat-file database like SharePoint which lacks enterprise-grade relational integrity, you insisted on Microsoft Dataverse.</a:t>
            </a:r>
          </a:p>
          <a:p>
            <a:r>
              <a:rPr dirty="0"/>
              <a:t>Explain the 5 tables: Vehicle lookup master, Questions dynamic config, Summary header, Response transactional lines, and Media metadata.</a:t>
            </a:r>
          </a:p>
          <a:p>
            <a:r>
              <a:rPr dirty="0"/>
              <a:t>Detail how the Questions table keeps the app data-driven: adding new questions doesn't require code updates, eliminating future technical debt.</a:t>
            </a:r>
          </a:p>
          <a:p>
            <a:r>
              <a:rPr dirty="0"/>
              <a:t>Discuss security: 'Basic User - MWPSOL-141' custom role cloned to restrict Delete/Share, mapped to AD groups, and released via staged rings (0 to 4).</a:t>
            </a:r>
            <a:endParaRPr lang="en-AU" dirty="0"/>
          </a:p>
          <a:p>
            <a:endParaRPr lang="en-AU" dirty="0"/>
          </a:p>
          <a:p>
            <a:r>
              <a:rPr lang="en-AU" sz="1200" kern="1200" dirty="0">
                <a:solidFill>
                  <a:schemeClr val="tx1"/>
                </a:solidFill>
                <a:effectLst/>
                <a:latin typeface="+mn-lt"/>
                <a:ea typeface="+mn-ea"/>
                <a:cs typeface="+mn-cs"/>
              </a:rPr>
              <a:t>followed a </a:t>
            </a:r>
            <a:r>
              <a:rPr lang="en-AU" sz="1200" b="1" kern="1200" dirty="0">
                <a:solidFill>
                  <a:schemeClr val="tx1"/>
                </a:solidFill>
                <a:effectLst/>
                <a:latin typeface="+mn-lt"/>
                <a:ea typeface="+mn-ea"/>
                <a:cs typeface="+mn-cs"/>
              </a:rPr>
              <a:t>'Least Privilege' model</a:t>
            </a:r>
            <a:r>
              <a:rPr lang="en-AU" sz="1200" kern="1200" dirty="0">
                <a:solidFill>
                  <a:schemeClr val="tx1"/>
                </a:solidFill>
                <a:effectLst/>
                <a:latin typeface="+mn-lt"/>
                <a:ea typeface="+mn-ea"/>
                <a:cs typeface="+mn-cs"/>
              </a:rPr>
              <a:t>. I created a custom role called </a:t>
            </a:r>
            <a:r>
              <a:rPr lang="en-AU" sz="1200" b="1" kern="1200" dirty="0">
                <a:solidFill>
                  <a:schemeClr val="tx1"/>
                </a:solidFill>
                <a:effectLst/>
                <a:latin typeface="+mn-lt"/>
                <a:ea typeface="+mn-ea"/>
                <a:cs typeface="+mn-cs"/>
              </a:rPr>
              <a:t>'Basic User - MWPSOL-141'</a:t>
            </a:r>
            <a:r>
              <a:rPr lang="en-AU" sz="1200" kern="1200" dirty="0">
                <a:solidFill>
                  <a:schemeClr val="tx1"/>
                </a:solidFill>
                <a:effectLst/>
                <a:latin typeface="+mn-lt"/>
                <a:ea typeface="+mn-ea"/>
                <a:cs typeface="+mn-cs"/>
              </a:rPr>
              <a:t> by cloning the standard base role and hardening it. I specifically restricted the </a:t>
            </a:r>
            <a:r>
              <a:rPr lang="en-AU" sz="1200" b="1" kern="1200" dirty="0">
                <a:solidFill>
                  <a:schemeClr val="tx1"/>
                </a:solidFill>
                <a:effectLst/>
                <a:latin typeface="+mn-lt"/>
                <a:ea typeface="+mn-ea"/>
                <a:cs typeface="+mn-cs"/>
              </a:rPr>
              <a:t>Delete</a:t>
            </a:r>
            <a:r>
              <a:rPr lang="en-AU" sz="1200" kern="1200" dirty="0">
                <a:solidFill>
                  <a:schemeClr val="tx1"/>
                </a:solidFill>
                <a:effectLst/>
                <a:latin typeface="+mn-lt"/>
                <a:ea typeface="+mn-ea"/>
                <a:cs typeface="+mn-cs"/>
              </a:rPr>
              <a:t> and </a:t>
            </a:r>
            <a:r>
              <a:rPr lang="en-AU" sz="1200" b="1" kern="1200" dirty="0">
                <a:solidFill>
                  <a:schemeClr val="tx1"/>
                </a:solidFill>
                <a:effectLst/>
                <a:latin typeface="+mn-lt"/>
                <a:ea typeface="+mn-ea"/>
                <a:cs typeface="+mn-cs"/>
              </a:rPr>
              <a:t>Share</a:t>
            </a:r>
            <a:r>
              <a:rPr lang="en-AU" sz="1200" kern="1200" dirty="0">
                <a:solidFill>
                  <a:schemeClr val="tx1"/>
                </a:solidFill>
                <a:effectLst/>
                <a:latin typeface="+mn-lt"/>
                <a:ea typeface="+mn-ea"/>
                <a:cs typeface="+mn-cs"/>
              </a:rPr>
              <a:t> permissions on the Inspection tables to protect PII. </a:t>
            </a:r>
          </a:p>
          <a:p>
            <a:r>
              <a:rPr lang="en-AU" sz="1200" kern="1200" dirty="0">
                <a:solidFill>
                  <a:schemeClr val="tx1"/>
                </a:solidFill>
                <a:effectLst/>
                <a:latin typeface="+mn-lt"/>
                <a:ea typeface="+mn-ea"/>
                <a:cs typeface="+mn-cs"/>
              </a:rPr>
              <a:t>This ensured that only members of the verified AD Security Group could interact with the data, which is the same level of compliance rigor I’d apply to the client's SaaS environment.</a:t>
            </a:r>
          </a:p>
          <a:p>
            <a:endParaRPr lang="en-AU" dirty="0"/>
          </a:p>
          <a:p>
            <a:pPr lvl="0" rtl="0" fontAlgn="ctr"/>
            <a:r>
              <a:rPr lang="en-AU" sz="1200" b="1" kern="1200" dirty="0">
                <a:solidFill>
                  <a:schemeClr val="tx1"/>
                </a:solidFill>
                <a:effectLst/>
                <a:latin typeface="+mn-lt"/>
                <a:ea typeface="+mn-ea"/>
                <a:cs typeface="+mn-cs"/>
              </a:rPr>
              <a:t>Question &amp; Inspection Summary Table:</a:t>
            </a:r>
            <a:r>
              <a:rPr lang="en-AU" sz="1200" kern="1200" dirty="0">
                <a:solidFill>
                  <a:schemeClr val="tx1"/>
                </a:solidFill>
                <a:effectLst/>
                <a:latin typeface="+mn-lt"/>
                <a:ea typeface="+mn-ea"/>
                <a:cs typeface="+mn-cs"/>
              </a:rPr>
              <a:t> You granted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of </a:t>
            </a:r>
            <a:r>
              <a:rPr lang="en-AU" sz="1200" b="1" kern="1200" dirty="0">
                <a:solidFill>
                  <a:schemeClr val="tx1"/>
                </a:solidFill>
                <a:effectLst/>
                <a:latin typeface="+mn-lt"/>
                <a:ea typeface="+mn-ea"/>
                <a:cs typeface="+mn-cs"/>
              </a:rPr>
              <a:t>Create &amp; write for users who own the records they create are assigned to the basic user security role</a:t>
            </a:r>
            <a:r>
              <a:rPr lang="en-AU" sz="1200" kern="1200" dirty="0">
                <a:solidFill>
                  <a:schemeClr val="tx1"/>
                </a:solidFill>
                <a:effectLst/>
                <a:latin typeface="+mn-lt"/>
                <a:ea typeface="+mn-ea"/>
                <a:cs typeface="+mn-cs"/>
              </a:rPr>
              <a:t>. The organisation (every other user else in the basic user security role) will have read access to every record, but no one is allowed to delete the records. This ensured that a patrol member could create and edit their own inspections but couldn't necessarily delete records or view inspections from unrelated departments.</a:t>
            </a:r>
          </a:p>
          <a:p>
            <a:pPr lvl="0" rtl="0" fontAlgn="ctr"/>
            <a:r>
              <a:rPr lang="en-AU" sz="1200" b="1" kern="1200" dirty="0">
                <a:solidFill>
                  <a:schemeClr val="tx1"/>
                </a:solidFill>
                <a:effectLst/>
                <a:latin typeface="+mn-lt"/>
                <a:ea typeface="+mn-ea"/>
                <a:cs typeface="+mn-cs"/>
              </a:rPr>
              <a:t>Response Table: </a:t>
            </a:r>
            <a:r>
              <a:rPr lang="en-AU" sz="1200" kern="1200" dirty="0">
                <a:solidFill>
                  <a:schemeClr val="tx1"/>
                </a:solidFill>
                <a:effectLst/>
                <a:latin typeface="+mn-lt"/>
                <a:ea typeface="+mn-ea"/>
                <a:cs typeface="+mn-cs"/>
              </a:rPr>
              <a:t>Grant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of </a:t>
            </a:r>
            <a:r>
              <a:rPr lang="en-AU" sz="1200" b="1" kern="1200" dirty="0">
                <a:solidFill>
                  <a:schemeClr val="tx1"/>
                </a:solidFill>
                <a:effectLst/>
                <a:latin typeface="+mn-lt"/>
                <a:ea typeface="+mn-ea"/>
                <a:cs typeface="+mn-cs"/>
              </a:rPr>
              <a:t>Create for users who own the records they create. </a:t>
            </a:r>
            <a:r>
              <a:rPr lang="en-AU" sz="1200" kern="1200" dirty="0">
                <a:solidFill>
                  <a:schemeClr val="tx1"/>
                </a:solidFill>
                <a:effectLst/>
                <a:latin typeface="+mn-lt"/>
                <a:ea typeface="+mn-ea"/>
                <a:cs typeface="+mn-cs"/>
              </a:rPr>
              <a:t>However, every other user can read any response records and continue to update a record to continue on from where the last person had save it.</a:t>
            </a:r>
          </a:p>
          <a:p>
            <a:pPr lvl="0" rtl="0" fontAlgn="ctr"/>
            <a:r>
              <a:rPr lang="en-AU" sz="1200" b="1" kern="1200" dirty="0">
                <a:solidFill>
                  <a:schemeClr val="tx1"/>
                </a:solidFill>
                <a:effectLst/>
                <a:latin typeface="+mn-lt"/>
                <a:ea typeface="+mn-ea"/>
                <a:cs typeface="+mn-cs"/>
              </a:rPr>
              <a:t>Inspection Photo Table: </a:t>
            </a:r>
            <a:r>
              <a:rPr lang="en-AU" sz="1200" kern="1200" dirty="0">
                <a:solidFill>
                  <a:schemeClr val="tx1"/>
                </a:solidFill>
                <a:effectLst/>
                <a:latin typeface="+mn-lt"/>
                <a:ea typeface="+mn-ea"/>
                <a:cs typeface="+mn-cs"/>
              </a:rPr>
              <a:t>Grant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for </a:t>
            </a:r>
            <a:r>
              <a:rPr lang="en-AU" sz="1200" b="1" kern="1200" dirty="0">
                <a:solidFill>
                  <a:schemeClr val="tx1"/>
                </a:solidFill>
                <a:effectLst/>
                <a:latin typeface="+mn-lt"/>
                <a:ea typeface="+mn-ea"/>
                <a:cs typeface="+mn-cs"/>
              </a:rPr>
              <a:t>Create for users who own the records they create.</a:t>
            </a:r>
            <a:r>
              <a:rPr lang="en-AU" sz="1200" kern="1200" dirty="0">
                <a:solidFill>
                  <a:schemeClr val="tx1"/>
                </a:solidFill>
                <a:effectLst/>
                <a:latin typeface="+mn-lt"/>
                <a:ea typeface="+mn-ea"/>
                <a:cs typeface="+mn-cs"/>
              </a:rPr>
              <a:t> Admin (organisation) has full visibility to entire record to read, write and delete.</a:t>
            </a:r>
          </a:p>
          <a:p>
            <a:endParaRPr lang="en-AU" sz="1200" b="1"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Why this matters:</a:t>
            </a:r>
            <a:endParaRPr lang="en-AU" sz="1200" kern="1200" dirty="0">
              <a:solidFill>
                <a:schemeClr val="tx1"/>
              </a:solidFill>
              <a:effectLst/>
              <a:latin typeface="+mn-lt"/>
              <a:ea typeface="+mn-ea"/>
              <a:cs typeface="+mn-cs"/>
            </a:endParaRPr>
          </a:p>
          <a:p>
            <a:pPr lvl="0" rtl="0" fontAlgn="ctr"/>
            <a:r>
              <a:rPr lang="en-AU" sz="1200" b="1" kern="1200" dirty="0">
                <a:solidFill>
                  <a:schemeClr val="tx1"/>
                </a:solidFill>
                <a:effectLst/>
                <a:latin typeface="+mn-lt"/>
                <a:ea typeface="+mn-ea"/>
                <a:cs typeface="+mn-cs"/>
              </a:rPr>
              <a:t>User scope</a:t>
            </a:r>
            <a:r>
              <a:rPr lang="en-AU" sz="1200" kern="1200" dirty="0">
                <a:solidFill>
                  <a:schemeClr val="tx1"/>
                </a:solidFill>
                <a:effectLst/>
                <a:latin typeface="+mn-lt"/>
                <a:ea typeface="+mn-ea"/>
                <a:cs typeface="+mn-cs"/>
              </a:rPr>
              <a:t> = Least privilege, good for data isolation.</a:t>
            </a:r>
          </a:p>
          <a:p>
            <a:pPr lvl="0" rtl="0" fontAlgn="ctr"/>
            <a:r>
              <a:rPr lang="en-AU" sz="1200" b="1" kern="1200" dirty="0">
                <a:solidFill>
                  <a:schemeClr val="tx1"/>
                </a:solidFill>
                <a:effectLst/>
                <a:latin typeface="+mn-lt"/>
                <a:ea typeface="+mn-ea"/>
                <a:cs typeface="+mn-cs"/>
              </a:rPr>
              <a:t>Organization scope</a:t>
            </a:r>
            <a:r>
              <a:rPr lang="en-AU" sz="1200" kern="1200" dirty="0">
                <a:solidFill>
                  <a:schemeClr val="tx1"/>
                </a:solidFill>
                <a:effectLst/>
                <a:latin typeface="+mn-lt"/>
                <a:ea typeface="+mn-ea"/>
                <a:cs typeface="+mn-cs"/>
              </a:rPr>
              <a:t> = Broad access, suitable for admins or roles that need full visibility/control.</a:t>
            </a:r>
          </a:p>
          <a:p>
            <a:endParaRPr lang="en-AU" dirty="0"/>
          </a:p>
          <a:p>
            <a:r>
              <a:rPr lang="en-AU" dirty="0"/>
              <a:t>	</a:t>
            </a:r>
            <a:endParaRPr dirty="0"/>
          </a:p>
        </p:txBody>
      </p:sp>
      <p:sp>
        <p:nvSpPr>
          <p:cNvPr id="4" name="Slide Number Placeholder 3">
            <a:extLst>
              <a:ext uri="{FF2B5EF4-FFF2-40B4-BE49-F238E27FC236}">
                <a16:creationId xmlns:a16="http://schemas.microsoft.com/office/drawing/2014/main" id="{91E7A001-CD6B-4B8F-8B8D-BEB0A8C04F98}"/>
              </a:ext>
            </a:extLst>
          </p:cNvPr>
          <p:cNvSpPr>
            <a:spLocks noGrp="1"/>
          </p:cNvSpPr>
          <p:nvPr>
            <p:ph type="sldNum" sz="quarter" idx="5"/>
          </p:nvPr>
        </p:nvSpPr>
        <p:spPr/>
      </p:sp>
    </p:spTree>
    <p:extLst>
      <p:ext uri="{BB962C8B-B14F-4D97-AF65-F5344CB8AC3E}">
        <p14:creationId xmlns:p14="http://schemas.microsoft.com/office/powerpoint/2010/main" val="226301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This is your 'Architectural Blueprint' slide.</a:t>
            </a:r>
          </a:p>
          <a:p>
            <a:r>
              <a:t>Explain that rather than using a flat-file database like SharePoint which lacks enterprise-grade relational integrity, you insisted on Microsoft Dataverse.</a:t>
            </a:r>
          </a:p>
          <a:p>
            <a:r>
              <a:t>Explain the 5 tables: Vehicle lookup master, Questions dynamic config, Summary header, Response transactional lines, and Media metadata.</a:t>
            </a:r>
          </a:p>
          <a:p>
            <a:r>
              <a:t>Detail how the Questions table keeps the app data-driven: adding new questions doesn't require code updates, eliminating future technical debt.</a:t>
            </a:r>
          </a:p>
          <a:p>
            <a:r>
              <a:t>Discuss security: 'Basic User - MWPSOL-141' custom role cloned to restrict Delete/Share, mapped to AD groups, and released via staged rings (0 to 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Use this slide to demonstrate your 'Engineering Craft' and complete ownership of the SDLC.</a:t>
            </a:r>
          </a:p>
          <a:p>
            <a:r>
              <a:t>Explain your role as the 'Strategic Translator' bridging the gap between business needs and developer execution.</a:t>
            </a:r>
          </a:p>
          <a:p>
            <a:r>
              <a:t>Discuss Step 1: Running discovery workshops with roadside patrols and writing the SIDs.</a:t>
            </a:r>
          </a:p>
          <a:p>
            <a:r>
              <a:t>Discuss Step 2: Running scrum ceremonies (PSM I), backlog refinement, and introducing Zephyr Scale testing templates to prevent the 'rushed delivery' traps from earlier roles.</a:t>
            </a:r>
          </a:p>
          <a:p>
            <a:r>
              <a:t>Discuss Step 3: Managing pipelines, authoring the environment deployment guides, and handing over support to Helpdesk.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Deliver the 'Quantified Value'—your mic-drop moment.</a:t>
            </a:r>
          </a:p>
          <a:p>
            <a:r>
              <a:t>Explain that you didn't just build an app; you recovered 10,000 hours, equivalent to over 5 FTEs.</a:t>
            </a:r>
          </a:p>
          <a:p>
            <a:r>
              <a:t>Highlight the financial impact: over AU$500,000 in recurring annual value returned to RAC's Motoring Services.</a:t>
            </a:r>
          </a:p>
          <a:p>
            <a:r>
              <a:t>Close by emphasizing that you achieved this with zero technical debt—a clean 3NF database schema and custom security roles that cleared all compliance reviews.</a:t>
            </a:r>
          </a:p>
          <a:p>
            <a:r>
              <a:t>Frame this as the exact blueprint of the results, security posture, and quality standards you will bring to the hiring manager's team.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p:cNvGrpSpPr/>
        <p:nvPr/>
      </p:nvGrpSpPr>
      <p:grpSpPr>
        <a:xfrm>
          <a:off x="0" y="0"/>
          <a:ext cx="0" cy="0"/>
          <a:chOff x="0" y="0"/>
          <a:chExt cx="0" cy="0"/>
        </a:xfrm>
      </p:grpSpPr>
      <p:sp>
        <p:nvSpPr>
          <p:cNvPr id="2" name="TextBox 1"/>
          <p:cNvSpPr txBox="1"/>
          <p:nvPr/>
        </p:nvSpPr>
        <p:spPr>
          <a:xfrm>
            <a:off x="457200" y="1097280"/>
            <a:ext cx="11277295" cy="2011680"/>
          </a:xfrm>
          <a:prstGeom prst="rect">
            <a:avLst/>
          </a:prstGeom>
          <a:noFill/>
        </p:spPr>
        <p:txBody>
          <a:bodyPr wrap="square" lIns="0" tIns="0" rIns="0" bIns="0">
            <a:spAutoFit/>
          </a:bodyPr>
          <a:lstStyle/>
          <a:p>
            <a:pPr>
              <a:spcAft>
                <a:spcPts val="600"/>
              </a:spcAft>
              <a:defRPr sz="3800" b="1">
                <a:solidFill>
                  <a:srgbClr val="FAF9F6"/>
                </a:solidFill>
                <a:latin typeface="Georgia"/>
              </a:defRPr>
            </a:pPr>
            <a:r>
              <a:t>Fleet Mobility &amp; Relational Data Transformation</a:t>
            </a:r>
          </a:p>
          <a:p>
            <a:pPr>
              <a:defRPr sz="2000">
                <a:solidFill>
                  <a:srgbClr val="00C49F"/>
                </a:solidFill>
                <a:latin typeface="Calibri"/>
              </a:defRPr>
            </a:pPr>
            <a:r>
              <a:t>The Vehicle Inspection Application (VIA) Case Study</a:t>
            </a:r>
          </a:p>
        </p:txBody>
      </p:sp>
      <p:sp>
        <p:nvSpPr>
          <p:cNvPr id="3" name="Rounded Rectangle 2"/>
          <p:cNvSpPr/>
          <p:nvPr/>
        </p:nvSpPr>
        <p:spPr>
          <a:xfrm>
            <a:off x="457200" y="3474720"/>
            <a:ext cx="3474720" cy="219456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400"/>
              </a:spcAft>
              <a:defRPr sz="1100" b="1">
                <a:solidFill>
                  <a:srgbClr val="00C49F"/>
                </a:solidFill>
                <a:latin typeface="Calibri"/>
              </a:defRPr>
            </a:pPr>
            <a:r>
              <a:t>LEAD SPECIALIST</a:t>
            </a:r>
          </a:p>
          <a:p>
            <a:pPr>
              <a:spcAft>
                <a:spcPts val="800"/>
              </a:spcAft>
              <a:defRPr sz="1800" b="1">
                <a:solidFill>
                  <a:srgbClr val="FAF9F6"/>
                </a:solidFill>
                <a:latin typeface="Georgia"/>
              </a:defRPr>
            </a:pPr>
            <a:r>
              <a:t>David Liong</a:t>
            </a:r>
          </a:p>
          <a:p>
            <a:pPr>
              <a:spcAft>
                <a:spcPts val="200"/>
              </a:spcAft>
              <a:defRPr sz="1100">
                <a:solidFill>
                  <a:srgbClr val="FAF9F6"/>
                </a:solidFill>
                <a:latin typeface="Calibri"/>
              </a:defRPr>
            </a:pPr>
            <a:r>
              <a:t>• Professional Scrum Master (PSM I)</a:t>
            </a:r>
          </a:p>
          <a:p>
            <a:pPr>
              <a:spcAft>
                <a:spcPts val="200"/>
              </a:spcAft>
              <a:defRPr sz="1100">
                <a:solidFill>
                  <a:srgbClr val="FAF9F6"/>
                </a:solidFill>
                <a:latin typeface="Calibri"/>
              </a:defRPr>
            </a:pPr>
            <a:r>
              <a:t>• Power Platform Developer Focus</a:t>
            </a:r>
          </a:p>
          <a:p>
            <a:pPr>
              <a:spcAft>
                <a:spcPts val="200"/>
              </a:spcAft>
              <a:defRPr sz="1100">
                <a:solidFill>
                  <a:srgbClr val="FAF9F6"/>
                </a:solidFill>
                <a:latin typeface="Calibri"/>
              </a:defRPr>
            </a:pPr>
            <a:r>
              <a:t>• Solution Architect PL-600 Focus</a:t>
            </a:r>
          </a:p>
          <a:p>
            <a:pPr>
              <a:spcAft>
                <a:spcPts val="200"/>
              </a:spcAft>
              <a:defRPr sz="1100">
                <a:solidFill>
                  <a:srgbClr val="FAF9F6"/>
                </a:solidFill>
                <a:latin typeface="Calibri"/>
              </a:defRPr>
            </a:pPr>
            <a:r>
              <a:t>• Experienced Technical BA &amp; Lead</a:t>
            </a:r>
          </a:p>
        </p:txBody>
      </p:sp>
      <p:sp>
        <p:nvSpPr>
          <p:cNvPr id="4" name="Rounded Rectangle 3"/>
          <p:cNvSpPr/>
          <p:nvPr/>
        </p:nvSpPr>
        <p:spPr>
          <a:xfrm>
            <a:off x="4297680" y="3474720"/>
            <a:ext cx="3474720" cy="219456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400"/>
              </a:spcAft>
              <a:defRPr sz="1100" b="1">
                <a:solidFill>
                  <a:srgbClr val="00C49F"/>
                </a:solidFill>
                <a:latin typeface="Calibri"/>
              </a:defRPr>
            </a:pPr>
            <a:r>
              <a:t>TECH STACK</a:t>
            </a:r>
          </a:p>
          <a:p>
            <a:pPr>
              <a:spcAft>
                <a:spcPts val="800"/>
              </a:spcAft>
              <a:defRPr sz="1800" b="1">
                <a:solidFill>
                  <a:srgbClr val="FAF9F6"/>
                </a:solidFill>
                <a:latin typeface="Georgia"/>
              </a:defRPr>
            </a:pPr>
            <a:r>
              <a:t>Power Platform Core</a:t>
            </a:r>
          </a:p>
          <a:p>
            <a:pPr>
              <a:spcAft>
                <a:spcPts val="200"/>
              </a:spcAft>
              <a:defRPr sz="1100">
                <a:solidFill>
                  <a:srgbClr val="FAF9F6"/>
                </a:solidFill>
                <a:latin typeface="Calibri"/>
              </a:defRPr>
            </a:pPr>
            <a:r>
              <a:t>• Microsoft Dataverse (3NF Schema)</a:t>
            </a:r>
          </a:p>
          <a:p>
            <a:pPr>
              <a:spcAft>
                <a:spcPts val="200"/>
              </a:spcAft>
              <a:defRPr sz="1100">
                <a:solidFill>
                  <a:srgbClr val="FAF9F6"/>
                </a:solidFill>
                <a:latin typeface="Calibri"/>
              </a:defRPr>
            </a:pPr>
            <a:r>
              <a:t>• Power Apps (Canvas &amp; Model-Driven)</a:t>
            </a:r>
          </a:p>
          <a:p>
            <a:pPr>
              <a:spcAft>
                <a:spcPts val="200"/>
              </a:spcAft>
              <a:defRPr sz="1100">
                <a:solidFill>
                  <a:srgbClr val="FAF9F6"/>
                </a:solidFill>
                <a:latin typeface="Calibri"/>
              </a:defRPr>
            </a:pPr>
            <a:r>
              <a:t>• Power Automate Flow Orchestration</a:t>
            </a:r>
          </a:p>
          <a:p>
            <a:pPr>
              <a:spcAft>
                <a:spcPts val="200"/>
              </a:spcAft>
              <a:defRPr sz="1100">
                <a:solidFill>
                  <a:srgbClr val="FAF9F6"/>
                </a:solidFill>
                <a:latin typeface="Calibri"/>
              </a:defRPr>
            </a:pPr>
            <a:r>
              <a:t>• SharePoint Online Document Library</a:t>
            </a:r>
          </a:p>
        </p:txBody>
      </p:sp>
      <p:sp>
        <p:nvSpPr>
          <p:cNvPr id="5" name="Rounded Rectangle 4"/>
          <p:cNvSpPr/>
          <p:nvPr/>
        </p:nvSpPr>
        <p:spPr>
          <a:xfrm>
            <a:off x="8138160" y="3474720"/>
            <a:ext cx="3474720" cy="219456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400"/>
              </a:spcAft>
              <a:defRPr sz="1100" b="1">
                <a:solidFill>
                  <a:srgbClr val="00C49F"/>
                </a:solidFill>
                <a:latin typeface="Calibri"/>
              </a:defRPr>
            </a:pPr>
            <a:r>
              <a:t>CLIENT CONTEXT</a:t>
            </a:r>
          </a:p>
          <a:p>
            <a:pPr>
              <a:spcAft>
                <a:spcPts val="800"/>
              </a:spcAft>
              <a:defRPr sz="1800" b="1">
                <a:solidFill>
                  <a:srgbClr val="FAF9F6"/>
                </a:solidFill>
                <a:latin typeface="Georgia"/>
              </a:defRPr>
            </a:pPr>
            <a:r>
              <a:t>RAC Motoring Services</a:t>
            </a:r>
          </a:p>
          <a:p>
            <a:pPr>
              <a:spcAft>
                <a:spcPts val="200"/>
              </a:spcAft>
              <a:defRPr sz="1100">
                <a:solidFill>
                  <a:srgbClr val="FAF9F6"/>
                </a:solidFill>
                <a:latin typeface="Calibri"/>
              </a:defRPr>
            </a:pPr>
            <a:r>
              <a:t>• Sector: Automotive &amp; Roadside</a:t>
            </a:r>
          </a:p>
          <a:p>
            <a:pPr>
              <a:spcAft>
                <a:spcPts val="200"/>
              </a:spcAft>
              <a:defRPr sz="1100">
                <a:solidFill>
                  <a:srgbClr val="FAF9F6"/>
                </a:solidFill>
                <a:latin typeface="Calibri"/>
              </a:defRPr>
            </a:pPr>
            <a:r>
              <a:t>• Scope: 200,000 annual inspections</a:t>
            </a:r>
          </a:p>
          <a:p>
            <a:pPr>
              <a:spcAft>
                <a:spcPts val="200"/>
              </a:spcAft>
              <a:defRPr sz="1100">
                <a:solidFill>
                  <a:srgbClr val="FAF9F6"/>
                </a:solidFill>
                <a:latin typeface="Calibri"/>
              </a:defRPr>
            </a:pPr>
            <a:r>
              <a:t>• Goal: Process digitisation</a:t>
            </a:r>
          </a:p>
          <a:p>
            <a:pPr>
              <a:spcAft>
                <a:spcPts val="200"/>
              </a:spcAft>
              <a:defRPr sz="1100">
                <a:solidFill>
                  <a:srgbClr val="FAF9F6"/>
                </a:solidFill>
                <a:latin typeface="Calibri"/>
              </a:defRPr>
            </a:pPr>
            <a:r>
              <a:t>• Impact: Zero-downtime go-live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77295" cy="640080"/>
          </a:xfrm>
          <a:prstGeom prst="rect">
            <a:avLst/>
          </a:prstGeom>
          <a:noFill/>
        </p:spPr>
        <p:txBody>
          <a:bodyPr wrap="square" lIns="0" tIns="0" rIns="0" bIns="0">
            <a:spAutoFit/>
          </a:bodyPr>
          <a:lstStyle/>
          <a:p>
            <a:pPr>
              <a:defRPr sz="2400" b="1">
                <a:solidFill>
                  <a:srgbClr val="0A192F"/>
                </a:solidFill>
                <a:latin typeface="Georgia"/>
              </a:defRPr>
            </a:pPr>
            <a:r>
              <a:t>Un-Governed Legacy Paper Workflows Constrained Growth</a:t>
            </a:r>
          </a:p>
        </p:txBody>
      </p:sp>
      <p:sp>
        <p:nvSpPr>
          <p:cNvPr id="3" name="TextBox 2"/>
          <p:cNvSpPr txBox="1"/>
          <p:nvPr/>
        </p:nvSpPr>
        <p:spPr>
          <a:xfrm>
            <a:off x="457200" y="914400"/>
            <a:ext cx="11277295" cy="365760"/>
          </a:xfrm>
          <a:prstGeom prst="rect">
            <a:avLst/>
          </a:prstGeom>
          <a:noFill/>
        </p:spPr>
        <p:txBody>
          <a:bodyPr wrap="square" lIns="0" tIns="0" rIns="0" bIns="0">
            <a:spAutoFit/>
          </a:bodyPr>
          <a:lstStyle/>
          <a:p>
            <a:pPr>
              <a:defRPr sz="1200" b="1">
                <a:solidFill>
                  <a:srgbClr val="00C49F"/>
                </a:solidFill>
                <a:latin typeface="Calibri"/>
              </a:defRPr>
            </a:pPr>
            <a:r>
              <a:t>THE EXECUTIVE CHALLENGE (THE PROBLEM)</a:t>
            </a:r>
          </a:p>
        </p:txBody>
      </p:sp>
      <p:sp>
        <p:nvSpPr>
          <p:cNvPr id="4" name="Rectangle 3"/>
          <p:cNvSpPr/>
          <p:nvPr/>
        </p:nvSpPr>
        <p:spPr>
          <a:xfrm>
            <a:off x="457200" y="1417320"/>
            <a:ext cx="11277295" cy="25400"/>
          </a:xfrm>
          <a:prstGeom prst="rect">
            <a:avLst/>
          </a:prstGeom>
          <a:solidFill>
            <a:srgbClr val="00C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920240"/>
            <a:ext cx="4114800" cy="41148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wrap="square" lIns="365760" tIns="365760" rIns="365760" bIns="365760" rtlCol="0" anchor="ctr"/>
          <a:lstStyle/>
          <a:p>
            <a:pPr algn="ctr">
              <a:spcAft>
                <a:spcPts val="1400"/>
              </a:spcAft>
              <a:defRPr sz="1200" b="1">
                <a:solidFill>
                  <a:srgbClr val="00C49F"/>
                </a:solidFill>
                <a:latin typeface="Calibri"/>
              </a:defRPr>
            </a:pPr>
            <a:r>
              <a:t>BUSINESS RISK</a:t>
            </a:r>
          </a:p>
          <a:p>
            <a:pPr>
              <a:spcAft>
                <a:spcPts val="1400"/>
              </a:spcAft>
              <a:defRPr sz="2400" b="1">
                <a:solidFill>
                  <a:srgbClr val="FAF9F6"/>
                </a:solidFill>
                <a:latin typeface="Georgia"/>
              </a:defRPr>
            </a:pPr>
            <a:r>
              <a:t>Operational Leakage</a:t>
            </a:r>
          </a:p>
          <a:p>
            <a:pPr>
              <a:defRPr sz="1400">
                <a:solidFill>
                  <a:srgbClr val="FAF9F6"/>
                </a:solidFill>
                <a:latin typeface="Calibri"/>
              </a:defRPr>
            </a:pPr>
            <a:r>
              <a:t>RAC's mobile patrols were bound to a slow, physical paper workflow for inspections. The lack of standard automation and real-time validation meant that simple transcription took up valuable frontline capacity, exposing the organization to operational friction and compliance threats.</a:t>
            </a:r>
          </a:p>
        </p:txBody>
      </p:sp>
      <p:sp>
        <p:nvSpPr>
          <p:cNvPr id="6" name="Rounded Rectangle 5"/>
          <p:cNvSpPr/>
          <p:nvPr/>
        </p:nvSpPr>
        <p:spPr>
          <a:xfrm>
            <a:off x="4937760" y="1920240"/>
            <a:ext cx="67665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rPr dirty="0"/>
              <a:t>OPERATIONAL INEFFICIENCY</a:t>
            </a:r>
          </a:p>
          <a:p>
            <a:pPr>
              <a:spcAft>
                <a:spcPts val="400"/>
              </a:spcAft>
              <a:defRPr sz="1600" b="1">
                <a:solidFill>
                  <a:srgbClr val="0A192F"/>
                </a:solidFill>
                <a:latin typeface="Georgia"/>
              </a:defRPr>
            </a:pPr>
            <a:r>
              <a:rPr dirty="0"/>
              <a:t>10,000 Hours Wasted Annually</a:t>
            </a:r>
          </a:p>
          <a:p>
            <a:pPr>
              <a:defRPr sz="1100">
                <a:solidFill>
                  <a:srgbClr val="0A192F"/>
                </a:solidFill>
                <a:latin typeface="Calibri"/>
              </a:defRPr>
            </a:pPr>
            <a:r>
              <a:rPr dirty="0"/>
              <a:t>Manual transcription of complex VIN and Engine numbers consumed 2 to 3 minutes of frontline patrol time per job across 200,000 annual runs.</a:t>
            </a:r>
          </a:p>
        </p:txBody>
      </p:sp>
      <p:sp>
        <p:nvSpPr>
          <p:cNvPr id="7" name="Rounded Rectangle 6"/>
          <p:cNvSpPr/>
          <p:nvPr/>
        </p:nvSpPr>
        <p:spPr>
          <a:xfrm>
            <a:off x="4937760" y="3383280"/>
            <a:ext cx="67665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t>COMPLIANCE &amp; SECURITY THREAT</a:t>
            </a:r>
          </a:p>
          <a:p>
            <a:pPr>
              <a:spcAft>
                <a:spcPts val="400"/>
              </a:spcAft>
              <a:defRPr sz="1600" b="1">
                <a:solidFill>
                  <a:srgbClr val="0A192F"/>
                </a:solidFill>
                <a:latin typeface="Georgia"/>
              </a:defRPr>
            </a:pPr>
            <a:r>
              <a:t>Field Exposure of Sensitive PII</a:t>
            </a:r>
          </a:p>
          <a:p>
            <a:pPr>
              <a:defRPr sz="1100">
                <a:solidFill>
                  <a:srgbClr val="0A192F"/>
                </a:solidFill>
                <a:latin typeface="Calibri"/>
              </a:defRPr>
            </a:pPr>
            <a:r>
              <a:t>Physical paper logs with customer and vehicle details remained in roadside vans without obfuscation, creating serious data sovereignty and security risks.</a:t>
            </a:r>
          </a:p>
        </p:txBody>
      </p:sp>
      <p:sp>
        <p:nvSpPr>
          <p:cNvPr id="8" name="Rounded Rectangle 7"/>
          <p:cNvSpPr/>
          <p:nvPr/>
        </p:nvSpPr>
        <p:spPr>
          <a:xfrm>
            <a:off x="4937760" y="4846320"/>
            <a:ext cx="67665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t>SYSTEM ISOLATION</a:t>
            </a:r>
          </a:p>
          <a:p>
            <a:pPr>
              <a:spcAft>
                <a:spcPts val="400"/>
              </a:spcAft>
              <a:defRPr sz="1600" b="1">
                <a:solidFill>
                  <a:srgbClr val="0A192F"/>
                </a:solidFill>
                <a:latin typeface="Georgia"/>
              </a:defRPr>
            </a:pPr>
            <a:r>
              <a:t>Siloed Data &amp; Zero Analytics</a:t>
            </a:r>
          </a:p>
          <a:p>
            <a:pPr>
              <a:defRPr sz="1100">
                <a:solidFill>
                  <a:srgbClr val="0A192F"/>
                </a:solidFill>
                <a:latin typeface="Calibri"/>
              </a:defRPr>
            </a:pPr>
            <a:r>
              <a:t>Data was physically trapped on paper, preventing any real-time tracking, compliance auditing, automated notifications, or Power BI reporting.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DC528359-1E47-D564-D96F-B53212FCE87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3200E05-EAA8-7D55-625E-317EF7645C13}"/>
              </a:ext>
            </a:extLst>
          </p:cNvPr>
          <p:cNvSpPr txBox="1"/>
          <p:nvPr/>
        </p:nvSpPr>
        <p:spPr>
          <a:xfrm>
            <a:off x="457200" y="274320"/>
            <a:ext cx="11277295" cy="369332"/>
          </a:xfrm>
          <a:prstGeom prst="rect">
            <a:avLst/>
          </a:prstGeom>
          <a:noFill/>
        </p:spPr>
        <p:txBody>
          <a:bodyPr wrap="square" lIns="0" tIns="0" rIns="0" bIns="0">
            <a:spAutoFit/>
          </a:bodyPr>
          <a:lstStyle/>
          <a:p>
            <a:pPr>
              <a:defRPr sz="2400" b="1">
                <a:solidFill>
                  <a:srgbClr val="0A192F"/>
                </a:solidFill>
                <a:latin typeface="Georgia"/>
              </a:defRPr>
            </a:pPr>
            <a:r>
              <a:rPr lang="en-AU" dirty="0"/>
              <a:t>Dataverse Normalisation Strategy</a:t>
            </a:r>
            <a:endParaRPr dirty="0"/>
          </a:p>
        </p:txBody>
      </p:sp>
      <p:sp>
        <p:nvSpPr>
          <p:cNvPr id="3" name="TextBox 2">
            <a:extLst>
              <a:ext uri="{FF2B5EF4-FFF2-40B4-BE49-F238E27FC236}">
                <a16:creationId xmlns:a16="http://schemas.microsoft.com/office/drawing/2014/main" id="{70C9C2ED-3ABB-1860-E393-45E7099270D8}"/>
              </a:ext>
            </a:extLst>
          </p:cNvPr>
          <p:cNvSpPr txBox="1"/>
          <p:nvPr/>
        </p:nvSpPr>
        <p:spPr>
          <a:xfrm>
            <a:off x="457200" y="914400"/>
            <a:ext cx="11277295" cy="246221"/>
          </a:xfrm>
          <a:prstGeom prst="rect">
            <a:avLst/>
          </a:prstGeom>
          <a:noFill/>
        </p:spPr>
        <p:txBody>
          <a:bodyPr wrap="square" lIns="0" tIns="0" rIns="0" bIns="0">
            <a:spAutoFit/>
          </a:bodyPr>
          <a:lstStyle/>
          <a:p>
            <a:pPr>
              <a:defRPr sz="1200" b="1">
                <a:solidFill>
                  <a:srgbClr val="00C49F"/>
                </a:solidFill>
                <a:latin typeface="Calibri"/>
              </a:defRPr>
            </a:pPr>
            <a:r>
              <a:rPr sz="1600" dirty="0"/>
              <a:t>THE ARCHITECTURAL BLUEPRINT (THE SOLUTION)</a:t>
            </a:r>
          </a:p>
        </p:txBody>
      </p:sp>
      <p:sp>
        <p:nvSpPr>
          <p:cNvPr id="4" name="Rectangle 3">
            <a:extLst>
              <a:ext uri="{FF2B5EF4-FFF2-40B4-BE49-F238E27FC236}">
                <a16:creationId xmlns:a16="http://schemas.microsoft.com/office/drawing/2014/main" id="{EF9522F7-1480-B7B2-6C0E-0C7005A4C06C}"/>
              </a:ext>
            </a:extLst>
          </p:cNvPr>
          <p:cNvSpPr/>
          <p:nvPr/>
        </p:nvSpPr>
        <p:spPr>
          <a:xfrm>
            <a:off x="457200" y="1417320"/>
            <a:ext cx="11277295" cy="25400"/>
          </a:xfrm>
          <a:prstGeom prst="rect">
            <a:avLst/>
          </a:prstGeom>
          <a:solidFill>
            <a:srgbClr val="00C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8C535C8D-9B6E-CE89-CE9B-E13CC8111EBD}"/>
              </a:ext>
            </a:extLst>
          </p:cNvPr>
          <p:cNvSpPr/>
          <p:nvPr/>
        </p:nvSpPr>
        <p:spPr>
          <a:xfrm>
            <a:off x="457200" y="2596896"/>
            <a:ext cx="548640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lang="en-AU" dirty="0"/>
              <a:t>*Third Normal Form (3NF) Strategy</a:t>
            </a:r>
            <a:endParaRPr dirty="0"/>
          </a:p>
          <a:p>
            <a:pPr>
              <a:spcBef>
                <a:spcPts val="300"/>
              </a:spcBef>
              <a:defRPr sz="1100" b="1">
                <a:solidFill>
                  <a:srgbClr val="0A192F"/>
                </a:solidFill>
                <a:latin typeface="Calibri"/>
              </a:defRPr>
            </a:pPr>
            <a:r>
              <a:rPr lang="en-AU" sz="1100" b="1" dirty="0"/>
              <a:t>David applied Third Normal Form (3NF) to ensure the VIA product could scale to 200,000+ records without performance degradation:</a:t>
            </a:r>
          </a:p>
          <a:p>
            <a:pPr>
              <a:spcBef>
                <a:spcPts val="300"/>
              </a:spcBef>
              <a:defRPr sz="1100" b="1">
                <a:solidFill>
                  <a:srgbClr val="0A192F"/>
                </a:solidFill>
                <a:latin typeface="Calibri"/>
              </a:defRPr>
            </a:pPr>
            <a:endParaRPr lang="en-AU" dirty="0"/>
          </a:p>
          <a:p>
            <a:pPr>
              <a:spcBef>
                <a:spcPts val="300"/>
              </a:spcBef>
              <a:defRPr sz="1100" b="1">
                <a:solidFill>
                  <a:srgbClr val="0A192F"/>
                </a:solidFill>
                <a:latin typeface="Calibri"/>
              </a:defRPr>
            </a:pPr>
            <a:r>
              <a:rPr lang="en-AU" sz="1100" b="1" dirty="0"/>
              <a:t>1NF (Eliminating Duplicates):</a:t>
            </a:r>
            <a:endParaRPr dirty="0"/>
          </a:p>
          <a:p>
            <a:pPr>
              <a:spcAft>
                <a:spcPts val="400"/>
              </a:spcAft>
              <a:defRPr sz="1050">
                <a:solidFill>
                  <a:srgbClr val="64748B"/>
                </a:solidFill>
                <a:latin typeface="Calibri"/>
              </a:defRPr>
            </a:pPr>
            <a:r>
              <a:rPr lang="en-AU" sz="1050" dirty="0"/>
              <a:t>Instead of having 40 columns in the Summary table for 40 questions, David created the </a:t>
            </a:r>
            <a:r>
              <a:rPr lang="en-AU" sz="1050" b="1" dirty="0"/>
              <a:t>Response Table</a:t>
            </a:r>
            <a:r>
              <a:rPr lang="en-AU" sz="1050" dirty="0"/>
              <a:t>. This allows for an infinite number of questions per inspection without changing the data schema</a:t>
            </a:r>
            <a:r>
              <a:rPr dirty="0"/>
              <a:t>.</a:t>
            </a:r>
          </a:p>
          <a:p>
            <a:pPr>
              <a:spcBef>
                <a:spcPts val="300"/>
              </a:spcBef>
              <a:defRPr sz="1100" b="1">
                <a:solidFill>
                  <a:srgbClr val="0A192F"/>
                </a:solidFill>
                <a:latin typeface="Calibri"/>
              </a:defRPr>
            </a:pPr>
            <a:r>
              <a:rPr lang="en-AU" sz="1100" b="1" dirty="0"/>
              <a:t>2NF (Removing Redundancy)</a:t>
            </a:r>
            <a:r>
              <a:rPr dirty="0"/>
              <a:t>:</a:t>
            </a:r>
          </a:p>
          <a:p>
            <a:pPr>
              <a:spcAft>
                <a:spcPts val="400"/>
              </a:spcAft>
              <a:defRPr sz="1050">
                <a:solidFill>
                  <a:srgbClr val="64748B"/>
                </a:solidFill>
                <a:latin typeface="Calibri"/>
              </a:defRPr>
            </a:pPr>
            <a:r>
              <a:rPr lang="en-AU" sz="1050" dirty="0"/>
              <a:t>All vehicle details (Model, Make) live in the </a:t>
            </a:r>
            <a:r>
              <a:rPr lang="en-AU" sz="1050" b="1" dirty="0"/>
              <a:t>Vehicle look up Table</a:t>
            </a:r>
            <a:r>
              <a:rPr lang="en-AU" sz="1050" dirty="0"/>
              <a:t>. The Summary table only stores a </a:t>
            </a:r>
            <a:r>
              <a:rPr lang="en-AU" sz="1050" dirty="0" err="1"/>
              <a:t>Vehicle_ID</a:t>
            </a:r>
            <a:r>
              <a:rPr lang="en-AU" sz="1050" dirty="0"/>
              <a:t> foreign key. This ensures that if a make is corrected, it updates across all historical records automatically.</a:t>
            </a:r>
            <a:endParaRPr dirty="0"/>
          </a:p>
          <a:p>
            <a:pPr>
              <a:spcBef>
                <a:spcPts val="300"/>
              </a:spcBef>
              <a:defRPr sz="1100" b="1">
                <a:solidFill>
                  <a:srgbClr val="0A192F"/>
                </a:solidFill>
                <a:latin typeface="Calibri"/>
              </a:defRPr>
            </a:pPr>
            <a:r>
              <a:rPr lang="en-AU" sz="1100" b="1" dirty="0"/>
              <a:t>3NF (Transitive Dependencies)</a:t>
            </a:r>
            <a:r>
              <a:rPr dirty="0"/>
              <a:t>:</a:t>
            </a:r>
          </a:p>
          <a:p>
            <a:pPr>
              <a:spcAft>
                <a:spcPts val="400"/>
              </a:spcAft>
              <a:defRPr sz="1050">
                <a:solidFill>
                  <a:srgbClr val="64748B"/>
                </a:solidFill>
                <a:latin typeface="Calibri"/>
              </a:defRPr>
            </a:pPr>
            <a:r>
              <a:rPr lang="en-AU" sz="1050" dirty="0"/>
              <a:t>ensured the Summary table only stores data directly related to the </a:t>
            </a:r>
            <a:r>
              <a:rPr lang="en-AU" sz="1050" i="1" dirty="0"/>
              <a:t>event</a:t>
            </a:r>
            <a:r>
              <a:rPr lang="en-AU" sz="1050" dirty="0"/>
              <a:t> (like the timestamp). Data related to the </a:t>
            </a:r>
            <a:r>
              <a:rPr lang="en-AU" sz="1050" i="1" dirty="0"/>
              <a:t>Inspector</a:t>
            </a:r>
            <a:r>
              <a:rPr lang="en-AU" sz="1050" dirty="0"/>
              <a:t> (like their user’s name) is looked up via the </a:t>
            </a:r>
            <a:r>
              <a:rPr lang="en-AU" sz="1050" dirty="0" err="1"/>
              <a:t>SystemUser</a:t>
            </a:r>
            <a:r>
              <a:rPr lang="en-AU" sz="1050" dirty="0"/>
              <a:t> table to prevent data drift</a:t>
            </a:r>
            <a:r>
              <a:rPr dirty="0"/>
              <a:t>.</a:t>
            </a:r>
          </a:p>
        </p:txBody>
      </p:sp>
      <p:sp>
        <p:nvSpPr>
          <p:cNvPr id="6" name="Rounded Rectangle 5">
            <a:extLst>
              <a:ext uri="{FF2B5EF4-FFF2-40B4-BE49-F238E27FC236}">
                <a16:creationId xmlns:a16="http://schemas.microsoft.com/office/drawing/2014/main" id="{ED876C36-9FA7-33F0-D6AD-E5BEB19B3EFC}"/>
              </a:ext>
            </a:extLst>
          </p:cNvPr>
          <p:cNvSpPr/>
          <p:nvPr/>
        </p:nvSpPr>
        <p:spPr>
          <a:xfrm>
            <a:off x="6184087" y="2560320"/>
            <a:ext cx="5486400" cy="4114800"/>
          </a:xfrm>
          <a:prstGeom prst="round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dirty="0"/>
              <a:t>PLATFORM GOVERNANCE &amp; SECURITY</a:t>
            </a:r>
          </a:p>
          <a:p>
            <a:pPr>
              <a:spcAft>
                <a:spcPts val="1000"/>
              </a:spcAft>
              <a:defRPr sz="2000" b="1">
                <a:solidFill>
                  <a:srgbClr val="FAF9F6"/>
                </a:solidFill>
                <a:latin typeface="Georgia"/>
              </a:defRPr>
            </a:pPr>
            <a:r>
              <a:rPr dirty="0"/>
              <a:t>Hardened Security Staging</a:t>
            </a:r>
          </a:p>
          <a:p>
            <a:pPr>
              <a:spcBef>
                <a:spcPts val="300"/>
              </a:spcBef>
              <a:defRPr sz="1100" b="1">
                <a:solidFill>
                  <a:srgbClr val="FAF9F6"/>
                </a:solidFill>
                <a:latin typeface="Calibri"/>
              </a:defRPr>
            </a:pPr>
            <a:r>
              <a:rPr dirty="0"/>
              <a:t>Custom Dataverse Role (Basic User - MWPSOL-141):</a:t>
            </a:r>
          </a:p>
          <a:p>
            <a:r>
              <a:rPr lang="en-AU" sz="1050" dirty="0">
                <a:solidFill>
                  <a:srgbClr val="00C49F"/>
                </a:solidFill>
              </a:rPr>
              <a:t>Followed a </a:t>
            </a:r>
            <a:r>
              <a:rPr lang="en-AU" sz="1050" b="1" dirty="0">
                <a:solidFill>
                  <a:srgbClr val="00C49F"/>
                </a:solidFill>
              </a:rPr>
              <a:t>'Least Privilege' model -</a:t>
            </a:r>
            <a:r>
              <a:rPr lang="en-AU" sz="1050" dirty="0">
                <a:solidFill>
                  <a:srgbClr val="00C49F"/>
                </a:solidFill>
              </a:rPr>
              <a:t>  Created a custom role called </a:t>
            </a:r>
            <a:r>
              <a:rPr lang="en-AU" sz="1050" b="1" dirty="0">
                <a:solidFill>
                  <a:srgbClr val="00C49F"/>
                </a:solidFill>
              </a:rPr>
              <a:t>'Basic User - MWPSOL-141'</a:t>
            </a:r>
            <a:r>
              <a:rPr lang="en-AU" sz="1050" dirty="0">
                <a:solidFill>
                  <a:srgbClr val="00C49F"/>
                </a:solidFill>
              </a:rPr>
              <a:t> by cloning the standard base role and hardening it. This restricted the </a:t>
            </a:r>
            <a:r>
              <a:rPr lang="en-AU" sz="1050" b="1" dirty="0">
                <a:solidFill>
                  <a:srgbClr val="00C49F"/>
                </a:solidFill>
              </a:rPr>
              <a:t>Delete</a:t>
            </a:r>
            <a:r>
              <a:rPr lang="en-AU" sz="1050" dirty="0">
                <a:solidFill>
                  <a:srgbClr val="00C49F"/>
                </a:solidFill>
              </a:rPr>
              <a:t> and </a:t>
            </a:r>
            <a:r>
              <a:rPr lang="en-AU" sz="1050" b="1" dirty="0">
                <a:solidFill>
                  <a:srgbClr val="00C49F"/>
                </a:solidFill>
              </a:rPr>
              <a:t>Share</a:t>
            </a:r>
            <a:r>
              <a:rPr lang="en-AU" sz="1050" dirty="0">
                <a:solidFill>
                  <a:srgbClr val="00C49F"/>
                </a:solidFill>
              </a:rPr>
              <a:t> permissions on the Inspection tables to protect PII.  This ensured that only members of the verified AD Security Group could interact with the data, which is the same level of compliance rigor I’d apply to the client's SaaS environment.</a:t>
            </a:r>
          </a:p>
          <a:p>
            <a:endParaRPr lang="en-AU" sz="1000" dirty="0"/>
          </a:p>
          <a:p>
            <a:pPr>
              <a:spcBef>
                <a:spcPts val="300"/>
              </a:spcBef>
              <a:defRPr sz="1100" b="1">
                <a:solidFill>
                  <a:srgbClr val="FAF9F6"/>
                </a:solidFill>
                <a:latin typeface="Calibri"/>
              </a:defRPr>
            </a:pPr>
            <a:r>
              <a:rPr dirty="0"/>
              <a:t>Container Access &amp; Entra ID Security Groups:</a:t>
            </a:r>
          </a:p>
          <a:p>
            <a:pPr>
              <a:spcAft>
                <a:spcPts val="600"/>
              </a:spcAft>
              <a:defRPr sz="1050">
                <a:solidFill>
                  <a:srgbClr val="00C49F"/>
                </a:solidFill>
                <a:latin typeface="Calibri"/>
              </a:defRPr>
            </a:pPr>
            <a:r>
              <a:rPr dirty="0"/>
              <a:t>Mapped the custom Dataverse security profiles strictly to Active Directory (Entra ID) Security Groups to manage secure user entry automatically.</a:t>
            </a:r>
          </a:p>
          <a:p>
            <a:pPr>
              <a:spcBef>
                <a:spcPts val="300"/>
              </a:spcBef>
              <a:defRPr sz="1100" b="1">
                <a:solidFill>
                  <a:srgbClr val="FAF9F6"/>
                </a:solidFill>
                <a:latin typeface="Calibri"/>
              </a:defRPr>
            </a:pPr>
            <a:r>
              <a:rPr dirty="0"/>
              <a:t>Controlled Release Rings:</a:t>
            </a:r>
          </a:p>
          <a:p>
            <a:pPr>
              <a:spcAft>
                <a:spcPts val="600"/>
              </a:spcAft>
              <a:defRPr sz="1050">
                <a:solidFill>
                  <a:srgbClr val="00C49F"/>
                </a:solidFill>
                <a:latin typeface="Calibri"/>
              </a:defRPr>
            </a:pPr>
            <a:r>
              <a:rPr dirty="0"/>
              <a:t>Configured staged deployment via Active Directory release groups (Rings 0 through 4) to manage change rollout and mitigate production risk.</a:t>
            </a:r>
            <a:endParaRPr lang="en-AU" dirty="0"/>
          </a:p>
          <a:p>
            <a:pPr>
              <a:spcAft>
                <a:spcPts val="600"/>
              </a:spcAft>
              <a:defRPr sz="1050">
                <a:solidFill>
                  <a:srgbClr val="00C49F"/>
                </a:solidFill>
                <a:latin typeface="Calibri"/>
              </a:defRPr>
            </a:pPr>
            <a:endParaRPr lang="en-AU" dirty="0"/>
          </a:p>
          <a:p>
            <a:pPr>
              <a:spcAft>
                <a:spcPts val="600"/>
              </a:spcAft>
              <a:defRPr sz="1050">
                <a:solidFill>
                  <a:srgbClr val="00C49F"/>
                </a:solidFill>
                <a:latin typeface="Calibri"/>
              </a:defRPr>
            </a:pPr>
            <a:endParaRPr dirty="0"/>
          </a:p>
        </p:txBody>
      </p:sp>
      <p:sp>
        <p:nvSpPr>
          <p:cNvPr id="9" name="Rounded Rectangle 5">
            <a:extLst>
              <a:ext uri="{FF2B5EF4-FFF2-40B4-BE49-F238E27FC236}">
                <a16:creationId xmlns:a16="http://schemas.microsoft.com/office/drawing/2014/main" id="{52281A89-4F83-68EC-AA2E-49511A6F7F27}"/>
              </a:ext>
            </a:extLst>
          </p:cNvPr>
          <p:cNvSpPr/>
          <p:nvPr/>
        </p:nvSpPr>
        <p:spPr>
          <a:xfrm>
            <a:off x="457200" y="1579880"/>
            <a:ext cx="11277294" cy="85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defRPr sz="1100">
                <a:solidFill>
                  <a:srgbClr val="0A192F"/>
                </a:solidFill>
                <a:latin typeface="Calibri"/>
              </a:defRPr>
            </a:pPr>
            <a:r>
              <a:rPr lang="en-AU" sz="1200" dirty="0"/>
              <a:t>Architect the VIA project using this *normalised 5-table relational model because it mirrors how a professional SaaS product should behave. By separating </a:t>
            </a:r>
            <a:r>
              <a:rPr lang="en-AU" sz="1200" b="1" dirty="0"/>
              <a:t>Questions</a:t>
            </a:r>
            <a:r>
              <a:rPr lang="en-AU" sz="1200" dirty="0"/>
              <a:t> from </a:t>
            </a:r>
            <a:r>
              <a:rPr lang="en-AU" sz="1200" b="1" dirty="0"/>
              <a:t>Responses</a:t>
            </a:r>
            <a:r>
              <a:rPr lang="en-AU" sz="1200" dirty="0"/>
              <a:t>, David made the system 'Future-Proof.' If a user needs to add a new checklist question tomorrow, they don't need a developer to change the UI; they just add a row to the </a:t>
            </a:r>
            <a:r>
              <a:rPr lang="en-AU" sz="1200" b="1" dirty="0"/>
              <a:t>Questions Table</a:t>
            </a:r>
            <a:r>
              <a:rPr lang="en-AU" sz="1200" dirty="0"/>
              <a:t>. This reduces technical debt and ensures the </a:t>
            </a:r>
            <a:r>
              <a:rPr lang="en-AU" sz="1200" b="1" dirty="0"/>
              <a:t>new question added in question table is auto populated into the canvas app.</a:t>
            </a:r>
            <a:endParaRPr sz="1200" dirty="0"/>
          </a:p>
        </p:txBody>
      </p:sp>
    </p:spTree>
    <p:extLst>
      <p:ext uri="{BB962C8B-B14F-4D97-AF65-F5344CB8AC3E}">
        <p14:creationId xmlns:p14="http://schemas.microsoft.com/office/powerpoint/2010/main" val="2376835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8BFC8C-F3AC-7AFB-B385-4D96D925BB73}"/>
              </a:ext>
            </a:extLst>
          </p:cNvPr>
          <p:cNvPicPr>
            <a:picLocks noChangeAspect="1"/>
          </p:cNvPicPr>
          <p:nvPr/>
        </p:nvPicPr>
        <p:blipFill>
          <a:blip r:embed="rId2"/>
          <a:stretch>
            <a:fillRect/>
          </a:stretch>
        </p:blipFill>
        <p:spPr>
          <a:xfrm>
            <a:off x="0" y="1124198"/>
            <a:ext cx="12192000" cy="4609603"/>
          </a:xfrm>
          <a:prstGeom prst="rect">
            <a:avLst/>
          </a:prstGeom>
        </p:spPr>
      </p:pic>
    </p:spTree>
    <p:extLst>
      <p:ext uri="{BB962C8B-B14F-4D97-AF65-F5344CB8AC3E}">
        <p14:creationId xmlns:p14="http://schemas.microsoft.com/office/powerpoint/2010/main" val="3395104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77295" cy="640080"/>
          </a:xfrm>
          <a:prstGeom prst="rect">
            <a:avLst/>
          </a:prstGeom>
          <a:noFill/>
        </p:spPr>
        <p:txBody>
          <a:bodyPr wrap="square" lIns="0" tIns="0" rIns="0" bIns="0">
            <a:spAutoFit/>
          </a:bodyPr>
          <a:lstStyle/>
          <a:p>
            <a:pPr>
              <a:defRPr sz="2400" b="1">
                <a:solidFill>
                  <a:srgbClr val="0A192F"/>
                </a:solidFill>
                <a:latin typeface="Georgia"/>
              </a:defRPr>
            </a:pPr>
            <a:r>
              <a:t>Secure Relational 3NF Schema Replaced Flat-File Limits</a:t>
            </a:r>
          </a:p>
        </p:txBody>
      </p:sp>
      <p:sp>
        <p:nvSpPr>
          <p:cNvPr id="3" name="TextBox 2"/>
          <p:cNvSpPr txBox="1"/>
          <p:nvPr/>
        </p:nvSpPr>
        <p:spPr>
          <a:xfrm>
            <a:off x="457200" y="914400"/>
            <a:ext cx="11277295" cy="365760"/>
          </a:xfrm>
          <a:prstGeom prst="rect">
            <a:avLst/>
          </a:prstGeom>
          <a:noFill/>
        </p:spPr>
        <p:txBody>
          <a:bodyPr wrap="square" lIns="0" tIns="0" rIns="0" bIns="0">
            <a:spAutoFit/>
          </a:bodyPr>
          <a:lstStyle/>
          <a:p>
            <a:pPr>
              <a:defRPr sz="1200" b="1">
                <a:solidFill>
                  <a:srgbClr val="00C49F"/>
                </a:solidFill>
                <a:latin typeface="Calibri"/>
              </a:defRPr>
            </a:pPr>
            <a:r>
              <a:t>THE ARCHITECTURAL BLUEPRINT (THE SOLUTION)</a:t>
            </a:r>
          </a:p>
        </p:txBody>
      </p:sp>
      <p:sp>
        <p:nvSpPr>
          <p:cNvPr id="4" name="Rectangle 3"/>
          <p:cNvSpPr/>
          <p:nvPr/>
        </p:nvSpPr>
        <p:spPr>
          <a:xfrm>
            <a:off x="457200" y="1417320"/>
            <a:ext cx="11277295" cy="25400"/>
          </a:xfrm>
          <a:prstGeom prst="rect">
            <a:avLst/>
          </a:prstGeom>
          <a:solidFill>
            <a:srgbClr val="00C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57200" y="1920240"/>
            <a:ext cx="4901184"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dirty="0"/>
              <a:t>DATABASE NORMALISATION (3NF)</a:t>
            </a:r>
          </a:p>
          <a:p>
            <a:pPr>
              <a:spcAft>
                <a:spcPts val="1000"/>
              </a:spcAft>
              <a:defRPr sz="2000" b="1">
                <a:solidFill>
                  <a:srgbClr val="0A192F"/>
                </a:solidFill>
                <a:latin typeface="Georgia"/>
              </a:defRPr>
            </a:pPr>
            <a:r>
              <a:rPr dirty="0"/>
              <a:t>Relational 5-Table Schema</a:t>
            </a:r>
          </a:p>
          <a:p>
            <a:pPr>
              <a:spcBef>
                <a:spcPts val="300"/>
              </a:spcBef>
              <a:defRPr sz="1100" b="1">
                <a:solidFill>
                  <a:srgbClr val="0A192F"/>
                </a:solidFill>
                <a:latin typeface="Calibri"/>
              </a:defRPr>
            </a:pPr>
            <a:r>
              <a:rPr dirty="0"/>
              <a:t>Vehicle (Master Lookup):</a:t>
            </a:r>
          </a:p>
          <a:p>
            <a:pPr>
              <a:spcAft>
                <a:spcPts val="400"/>
              </a:spcAft>
              <a:defRPr sz="1050">
                <a:solidFill>
                  <a:srgbClr val="64748B"/>
                </a:solidFill>
                <a:latin typeface="Calibri"/>
              </a:defRPr>
            </a:pPr>
            <a:r>
              <a:rPr dirty="0"/>
              <a:t>Stores persistent asset data (VIN, Rego, Make, Model) to eliminate repetitive typing.</a:t>
            </a:r>
          </a:p>
          <a:p>
            <a:pPr>
              <a:spcBef>
                <a:spcPts val="300"/>
              </a:spcBef>
              <a:defRPr sz="1100" b="1">
                <a:solidFill>
                  <a:srgbClr val="0A192F"/>
                </a:solidFill>
                <a:latin typeface="Calibri"/>
              </a:defRPr>
            </a:pPr>
            <a:r>
              <a:rPr dirty="0"/>
              <a:t>Questions (Metadata Config):</a:t>
            </a:r>
          </a:p>
          <a:p>
            <a:pPr>
              <a:spcAft>
                <a:spcPts val="400"/>
              </a:spcAft>
              <a:defRPr sz="1050">
                <a:solidFill>
                  <a:srgbClr val="64748B"/>
                </a:solidFill>
                <a:latin typeface="Calibri"/>
              </a:defRPr>
            </a:pPr>
            <a:r>
              <a:rPr dirty="0"/>
              <a:t>Keeps the system fully data-driven. Checklist questions are loaded from database dynamically without redeploying code.</a:t>
            </a:r>
          </a:p>
          <a:p>
            <a:pPr>
              <a:spcBef>
                <a:spcPts val="300"/>
              </a:spcBef>
              <a:defRPr sz="1100" b="1">
                <a:solidFill>
                  <a:srgbClr val="0A192F"/>
                </a:solidFill>
                <a:latin typeface="Calibri"/>
              </a:defRPr>
            </a:pPr>
            <a:r>
              <a:rPr dirty="0"/>
              <a:t>Summary (Header Transaction):</a:t>
            </a:r>
          </a:p>
          <a:p>
            <a:pPr>
              <a:spcAft>
                <a:spcPts val="400"/>
              </a:spcAft>
              <a:defRPr sz="1050">
                <a:solidFill>
                  <a:srgbClr val="64748B"/>
                </a:solidFill>
                <a:latin typeface="Calibri"/>
              </a:defRPr>
            </a:pPr>
            <a:r>
              <a:rPr dirty="0"/>
              <a:t>Stores core event details (Inspector name, Overall status, GPS location, timestamp).</a:t>
            </a:r>
          </a:p>
          <a:p>
            <a:pPr>
              <a:spcBef>
                <a:spcPts val="300"/>
              </a:spcBef>
              <a:defRPr sz="1100" b="1">
                <a:solidFill>
                  <a:srgbClr val="0A192F"/>
                </a:solidFill>
                <a:latin typeface="Calibri"/>
              </a:defRPr>
            </a:pPr>
            <a:r>
              <a:rPr dirty="0"/>
              <a:t>Response (Line Items Child):</a:t>
            </a:r>
          </a:p>
          <a:p>
            <a:pPr>
              <a:spcAft>
                <a:spcPts val="400"/>
              </a:spcAft>
              <a:defRPr sz="1050">
                <a:solidFill>
                  <a:srgbClr val="64748B"/>
                </a:solidFill>
                <a:latin typeface="Calibri"/>
              </a:defRPr>
            </a:pPr>
            <a:r>
              <a:rPr dirty="0"/>
              <a:t>Captures transactional pass/fail answers for 40+ inspection points linked back to Header.</a:t>
            </a:r>
          </a:p>
          <a:p>
            <a:pPr>
              <a:spcBef>
                <a:spcPts val="300"/>
              </a:spcBef>
              <a:defRPr sz="1100" b="1">
                <a:solidFill>
                  <a:srgbClr val="0A192F"/>
                </a:solidFill>
                <a:latin typeface="Calibri"/>
              </a:defRPr>
            </a:pPr>
            <a:r>
              <a:rPr dirty="0"/>
              <a:t>Media Metadata (Attachments):</a:t>
            </a:r>
          </a:p>
          <a:p>
            <a:pPr>
              <a:spcAft>
                <a:spcPts val="400"/>
              </a:spcAft>
              <a:defRPr sz="1050">
                <a:solidFill>
                  <a:srgbClr val="64748B"/>
                </a:solidFill>
                <a:latin typeface="Calibri"/>
              </a:defRPr>
            </a:pPr>
            <a:r>
              <a:rPr dirty="0"/>
              <a:t>Stores secure photo links. Files are offloaded to a governed SharePoint Document Library to reduce Dataverse storage costs.</a:t>
            </a:r>
          </a:p>
        </p:txBody>
      </p:sp>
      <p:pic>
        <p:nvPicPr>
          <p:cNvPr id="11" name="Picture 10">
            <a:extLst>
              <a:ext uri="{FF2B5EF4-FFF2-40B4-BE49-F238E27FC236}">
                <a16:creationId xmlns:a16="http://schemas.microsoft.com/office/drawing/2014/main" id="{085715EE-EC60-30F4-376C-30B021D4CDE3}"/>
              </a:ext>
            </a:extLst>
          </p:cNvPr>
          <p:cNvPicPr>
            <a:picLocks noChangeAspect="1"/>
          </p:cNvPicPr>
          <p:nvPr/>
        </p:nvPicPr>
        <p:blipFill>
          <a:blip r:embed="rId3"/>
          <a:stretch>
            <a:fillRect/>
          </a:stretch>
        </p:blipFill>
        <p:spPr>
          <a:xfrm>
            <a:off x="5531717" y="1920240"/>
            <a:ext cx="6202778" cy="4114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77295" cy="640080"/>
          </a:xfrm>
          <a:prstGeom prst="rect">
            <a:avLst/>
          </a:prstGeom>
          <a:noFill/>
        </p:spPr>
        <p:txBody>
          <a:bodyPr wrap="square" lIns="0" tIns="0" rIns="0" bIns="0">
            <a:spAutoFit/>
          </a:bodyPr>
          <a:lstStyle/>
          <a:p>
            <a:pPr>
              <a:defRPr sz="2400" b="1">
                <a:solidFill>
                  <a:srgbClr val="0A192F"/>
                </a:solidFill>
                <a:latin typeface="Georgia"/>
              </a:defRPr>
            </a:pPr>
            <a:r>
              <a:t>Structured E2E Lifecycle Delivery Mitigated Implementation Risks</a:t>
            </a:r>
          </a:p>
        </p:txBody>
      </p:sp>
      <p:sp>
        <p:nvSpPr>
          <p:cNvPr id="3" name="TextBox 2"/>
          <p:cNvSpPr txBox="1"/>
          <p:nvPr/>
        </p:nvSpPr>
        <p:spPr>
          <a:xfrm>
            <a:off x="457200" y="914400"/>
            <a:ext cx="11277295" cy="365760"/>
          </a:xfrm>
          <a:prstGeom prst="rect">
            <a:avLst/>
          </a:prstGeom>
          <a:noFill/>
        </p:spPr>
        <p:txBody>
          <a:bodyPr wrap="square" lIns="0" tIns="0" rIns="0" bIns="0">
            <a:spAutoFit/>
          </a:bodyPr>
          <a:lstStyle/>
          <a:p>
            <a:pPr>
              <a:defRPr sz="1200" b="1">
                <a:solidFill>
                  <a:srgbClr val="00C49F"/>
                </a:solidFill>
                <a:latin typeface="Calibri"/>
              </a:defRPr>
            </a:pPr>
            <a:r>
              <a:t>THE ENGINEERING CRAFT (SKILLS &amp; METHODOLOGY)</a:t>
            </a:r>
          </a:p>
        </p:txBody>
      </p:sp>
      <p:sp>
        <p:nvSpPr>
          <p:cNvPr id="4" name="Rectangle 3"/>
          <p:cNvSpPr/>
          <p:nvPr/>
        </p:nvSpPr>
        <p:spPr>
          <a:xfrm>
            <a:off x="457200" y="1417320"/>
            <a:ext cx="11277295" cy="25400"/>
          </a:xfrm>
          <a:prstGeom prst="rect">
            <a:avLst/>
          </a:prstGeom>
          <a:solidFill>
            <a:srgbClr val="00C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57200" y="1920240"/>
            <a:ext cx="34747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t>1. ANALYSING REQUIREMENTS</a:t>
            </a:r>
          </a:p>
          <a:p>
            <a:pPr>
              <a:spcAft>
                <a:spcPts val="1200"/>
              </a:spcAft>
              <a:defRPr sz="1500" b="1">
                <a:solidFill>
                  <a:srgbClr val="0A192F"/>
                </a:solidFill>
                <a:latin typeface="Georgia"/>
              </a:defRPr>
            </a:pPr>
            <a:r>
              <a:t>Stakeholder Workshop &amp; SID Elicitation</a:t>
            </a:r>
          </a:p>
          <a:p>
            <a:pPr>
              <a:spcAft>
                <a:spcPts val="600"/>
              </a:spcAft>
              <a:defRPr sz="1100">
                <a:solidFill>
                  <a:srgbClr val="64748B"/>
                </a:solidFill>
                <a:latin typeface="Calibri"/>
              </a:defRPr>
            </a:pPr>
            <a:r>
              <a:t>• Facilitated inception workshops directly with frontline patrols to map operational workflows.</a:t>
            </a:r>
          </a:p>
          <a:p>
            <a:pPr>
              <a:spcAft>
                <a:spcPts val="600"/>
              </a:spcAft>
              <a:defRPr sz="1100">
                <a:solidFill>
                  <a:srgbClr val="64748B"/>
                </a:solidFill>
                <a:latin typeface="Calibri"/>
              </a:defRPr>
            </a:pPr>
            <a:r>
              <a:t>• Translated fluid business 'pain' into structured technical and functional requirements.</a:t>
            </a:r>
          </a:p>
          <a:p>
            <a:pPr>
              <a:spcAft>
                <a:spcPts val="600"/>
              </a:spcAft>
              <a:defRPr sz="1100">
                <a:solidFill>
                  <a:srgbClr val="64748B"/>
                </a:solidFill>
                <a:latin typeface="Calibri"/>
              </a:defRPr>
            </a:pPr>
            <a:r>
              <a:t>• Authored comprehensive Solution Intent Documents (SIDs) as the single source of truth.</a:t>
            </a:r>
          </a:p>
          <a:p>
            <a:pPr>
              <a:spcAft>
                <a:spcPts val="600"/>
              </a:spcAft>
              <a:defRPr sz="1100">
                <a:solidFill>
                  <a:srgbClr val="64748B"/>
                </a:solidFill>
                <a:latin typeface="Calibri"/>
              </a:defRPr>
            </a:pPr>
            <a:r>
              <a:t>• Managed technical trade-offs, prioritizing immediate MVP features over long-term API extensions.</a:t>
            </a:r>
          </a:p>
        </p:txBody>
      </p:sp>
      <p:sp>
        <p:nvSpPr>
          <p:cNvPr id="6" name="Rounded Rectangle 5"/>
          <p:cNvSpPr/>
          <p:nvPr/>
        </p:nvSpPr>
        <p:spPr>
          <a:xfrm>
            <a:off x="4297680" y="1920240"/>
            <a:ext cx="34747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t>2. SCRUM LEADERSHIP &amp; QA</a:t>
            </a:r>
          </a:p>
          <a:p>
            <a:pPr>
              <a:spcAft>
                <a:spcPts val="1200"/>
              </a:spcAft>
              <a:defRPr sz="1500" b="1">
                <a:solidFill>
                  <a:srgbClr val="0A192F"/>
                </a:solidFill>
                <a:latin typeface="Georgia"/>
              </a:defRPr>
            </a:pPr>
            <a:r>
              <a:t>Agile Execution &amp; Zephyr Testing</a:t>
            </a:r>
          </a:p>
          <a:p>
            <a:pPr>
              <a:spcAft>
                <a:spcPts val="600"/>
              </a:spcAft>
              <a:defRPr sz="1100">
                <a:solidFill>
                  <a:srgbClr val="64748B"/>
                </a:solidFill>
                <a:latin typeface="Calibri"/>
              </a:defRPr>
            </a:pPr>
            <a:r>
              <a:t>• Operated as Scrum Master (PSM I), facilitating retrospectives, daily scrums, and backlog grooming.</a:t>
            </a:r>
          </a:p>
          <a:p>
            <a:pPr>
              <a:spcAft>
                <a:spcPts val="600"/>
              </a:spcAft>
              <a:defRPr sz="1100">
                <a:solidFill>
                  <a:srgbClr val="64748B"/>
                </a:solidFill>
                <a:latin typeface="Calibri"/>
              </a:defRPr>
            </a:pPr>
            <a:r>
              <a:t>• Established standard code-quality metrics and coordinated peer reviews with secondary developers.</a:t>
            </a:r>
          </a:p>
          <a:p>
            <a:pPr>
              <a:spcAft>
                <a:spcPts val="600"/>
              </a:spcAft>
              <a:defRPr sz="1100">
                <a:solidFill>
                  <a:srgbClr val="64748B"/>
                </a:solidFill>
                <a:latin typeface="Calibri"/>
              </a:defRPr>
            </a:pPr>
            <a:r>
              <a:t>• Authored developer-ready QA checklists and test scripts managed in the Zephyr Scale tool.</a:t>
            </a:r>
          </a:p>
          <a:p>
            <a:pPr>
              <a:spcAft>
                <a:spcPts val="600"/>
              </a:spcAft>
              <a:defRPr sz="1100">
                <a:solidFill>
                  <a:srgbClr val="64748B"/>
                </a:solidFill>
                <a:latin typeface="Calibri"/>
              </a:defRPr>
            </a:pPr>
            <a:r>
              <a:t>• Designed try-catch logic and local data imports to troubleshoot and resolve empty-table errors in UAT.</a:t>
            </a:r>
          </a:p>
        </p:txBody>
      </p:sp>
      <p:sp>
        <p:nvSpPr>
          <p:cNvPr id="7" name="Rounded Rectangle 6"/>
          <p:cNvSpPr/>
          <p:nvPr/>
        </p:nvSpPr>
        <p:spPr>
          <a:xfrm>
            <a:off x="8138160" y="1920240"/>
            <a:ext cx="34747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t>3. ALM &amp; DEPLOYMENT GOVERNANCE</a:t>
            </a:r>
          </a:p>
          <a:p>
            <a:pPr>
              <a:spcAft>
                <a:spcPts val="1200"/>
              </a:spcAft>
              <a:defRPr sz="1500" b="1">
                <a:solidFill>
                  <a:srgbClr val="0A192F"/>
                </a:solidFill>
                <a:latin typeface="Georgia"/>
              </a:defRPr>
            </a:pPr>
            <a:r>
              <a:t>Environment Staging &amp; Helpdesk Handover</a:t>
            </a:r>
          </a:p>
          <a:p>
            <a:pPr>
              <a:spcAft>
                <a:spcPts val="600"/>
              </a:spcAft>
              <a:defRPr sz="1100">
                <a:solidFill>
                  <a:srgbClr val="64748B"/>
                </a:solidFill>
                <a:latin typeface="Calibri"/>
              </a:defRPr>
            </a:pPr>
            <a:r>
              <a:t>• Standardized Infrastructure as Code (IaC) using automated pipelines (Azure DevOps and GitHub).</a:t>
            </a:r>
          </a:p>
          <a:p>
            <a:pPr>
              <a:spcAft>
                <a:spcPts val="600"/>
              </a:spcAft>
              <a:defRPr sz="1100">
                <a:solidFill>
                  <a:srgbClr val="64748B"/>
                </a:solidFill>
                <a:latin typeface="Calibri"/>
              </a:defRPr>
            </a:pPr>
            <a:r>
              <a:t>• Created first-of-their-kind, robust deployment guides to manage environment transition.</a:t>
            </a:r>
          </a:p>
          <a:p>
            <a:pPr>
              <a:spcAft>
                <a:spcPts val="600"/>
              </a:spcAft>
              <a:defRPr sz="1100">
                <a:solidFill>
                  <a:srgbClr val="64748B"/>
                </a:solidFill>
                <a:latin typeface="Calibri"/>
              </a:defRPr>
            </a:pPr>
            <a:r>
              <a:t>• Produced approved Service Definition and Transition checklists for BAU operations.</a:t>
            </a:r>
          </a:p>
          <a:p>
            <a:pPr>
              <a:spcAft>
                <a:spcPts val="600"/>
              </a:spcAft>
              <a:defRPr sz="1100">
                <a:solidFill>
                  <a:srgbClr val="64748B"/>
                </a:solidFill>
                <a:latin typeface="Calibri"/>
              </a:defRPr>
            </a:pPr>
            <a:r>
              <a:t>• Conducted peer mentorship and training to hand over Level 1 support to the Helpdesk team.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77295" cy="640080"/>
          </a:xfrm>
          <a:prstGeom prst="rect">
            <a:avLst/>
          </a:prstGeom>
          <a:noFill/>
        </p:spPr>
        <p:txBody>
          <a:bodyPr wrap="square" lIns="0" tIns="0" rIns="0" bIns="0">
            <a:spAutoFit/>
          </a:bodyPr>
          <a:lstStyle/>
          <a:p>
            <a:pPr>
              <a:defRPr sz="2400" b="1">
                <a:solidFill>
                  <a:srgbClr val="FAF9F6"/>
                </a:solidFill>
                <a:latin typeface="Georgia"/>
              </a:defRPr>
            </a:pPr>
            <a:r>
              <a:t>Operational &amp; Compliance Transformation Yielded 100% Success</a:t>
            </a:r>
          </a:p>
        </p:txBody>
      </p:sp>
      <p:sp>
        <p:nvSpPr>
          <p:cNvPr id="3" name="TextBox 2"/>
          <p:cNvSpPr txBox="1"/>
          <p:nvPr/>
        </p:nvSpPr>
        <p:spPr>
          <a:xfrm>
            <a:off x="457200" y="868680"/>
            <a:ext cx="11277295" cy="365760"/>
          </a:xfrm>
          <a:prstGeom prst="rect">
            <a:avLst/>
          </a:prstGeom>
          <a:noFill/>
        </p:spPr>
        <p:txBody>
          <a:bodyPr wrap="square" lIns="0" tIns="0" rIns="0" bIns="0">
            <a:spAutoFit/>
          </a:bodyPr>
          <a:lstStyle/>
          <a:p>
            <a:pPr>
              <a:defRPr sz="1200" b="1">
                <a:solidFill>
                  <a:srgbClr val="00C49F"/>
                </a:solidFill>
                <a:latin typeface="Calibri"/>
              </a:defRPr>
            </a:pPr>
            <a:r>
              <a:t>DELIVERING DIRECT, MEASURABLE BUSINESS ROI AND ARCHITECTURAL STABILITY</a:t>
            </a:r>
          </a:p>
        </p:txBody>
      </p:sp>
      <p:sp>
        <p:nvSpPr>
          <p:cNvPr id="4" name="Rectangle 3"/>
          <p:cNvSpPr/>
          <p:nvPr/>
        </p:nvSpPr>
        <p:spPr>
          <a:xfrm>
            <a:off x="457200" y="1417320"/>
            <a:ext cx="11277295" cy="25400"/>
          </a:xfrm>
          <a:prstGeom prst="rect">
            <a:avLst/>
          </a:prstGeom>
          <a:solidFill>
            <a:srgbClr val="00C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57200" y="1920240"/>
            <a:ext cx="3474720" cy="411480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t>RECLAIMED FRONT-LINE CAPACITY</a:t>
            </a:r>
          </a:p>
          <a:p>
            <a:pPr>
              <a:spcAft>
                <a:spcPts val="1400"/>
              </a:spcAft>
              <a:defRPr sz="3600" b="1">
                <a:solidFill>
                  <a:srgbClr val="FAF9F6"/>
                </a:solidFill>
                <a:latin typeface="Georgia"/>
              </a:defRPr>
            </a:pPr>
            <a:r>
              <a:t>10,000 Hours</a:t>
            </a:r>
          </a:p>
          <a:p>
            <a:pPr>
              <a:spcAft>
                <a:spcPts val="600"/>
              </a:spcAft>
              <a:defRPr sz="1100">
                <a:solidFill>
                  <a:srgbClr val="FAF9F6"/>
                </a:solidFill>
                <a:latin typeface="Calibri"/>
              </a:defRPr>
            </a:pPr>
            <a:r>
              <a:t>• Directly saved 2 to 3 minutes of manual transcription effort per roadside patrol job.</a:t>
            </a:r>
          </a:p>
          <a:p>
            <a:pPr>
              <a:spcAft>
                <a:spcPts val="600"/>
              </a:spcAft>
              <a:defRPr sz="1100">
                <a:solidFill>
                  <a:srgbClr val="FAF9F6"/>
                </a:solidFill>
                <a:latin typeface="Calibri"/>
              </a:defRPr>
            </a:pPr>
            <a:r>
              <a:t>• Reclaimed the equivalent productivity of over 5 full-time employees (FTEs), returning them directly back to active field service.</a:t>
            </a:r>
          </a:p>
          <a:p>
            <a:pPr>
              <a:spcAft>
                <a:spcPts val="600"/>
              </a:spcAft>
              <a:defRPr sz="1100">
                <a:solidFill>
                  <a:srgbClr val="FAF9F6"/>
                </a:solidFill>
                <a:latin typeface="Calibri"/>
              </a:defRPr>
            </a:pPr>
            <a:r>
              <a:t>• Completely eliminated transcription error logs and automated field reporting workflows.</a:t>
            </a:r>
          </a:p>
        </p:txBody>
      </p:sp>
      <p:sp>
        <p:nvSpPr>
          <p:cNvPr id="6" name="Rounded Rectangle 5"/>
          <p:cNvSpPr/>
          <p:nvPr/>
        </p:nvSpPr>
        <p:spPr>
          <a:xfrm>
            <a:off x="4297680" y="1920240"/>
            <a:ext cx="3474720" cy="411480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t>COMMERCIAL RETURN ON INVESTMENT</a:t>
            </a:r>
          </a:p>
          <a:p>
            <a:pPr>
              <a:spcAft>
                <a:spcPts val="1400"/>
              </a:spcAft>
              <a:defRPr sz="3600" b="1">
                <a:solidFill>
                  <a:srgbClr val="FAF9F6"/>
                </a:solidFill>
                <a:latin typeface="Georgia"/>
              </a:defRPr>
            </a:pPr>
            <a:r>
              <a:t>AU$500,000+</a:t>
            </a:r>
          </a:p>
          <a:p>
            <a:pPr>
              <a:spcAft>
                <a:spcPts val="600"/>
              </a:spcAft>
              <a:defRPr sz="1100">
                <a:solidFill>
                  <a:srgbClr val="FAF9F6"/>
                </a:solidFill>
                <a:latin typeface="Calibri"/>
              </a:defRPr>
            </a:pPr>
            <a:r>
              <a:t>• Direct operational capacity and human labor value returned to Motoring Services.</a:t>
            </a:r>
          </a:p>
          <a:p>
            <a:pPr>
              <a:spcAft>
                <a:spcPts val="600"/>
              </a:spcAft>
              <a:defRPr sz="1100">
                <a:solidFill>
                  <a:srgbClr val="FAF9F6"/>
                </a:solidFill>
                <a:latin typeface="Calibri"/>
              </a:defRPr>
            </a:pPr>
            <a:r>
              <a:t>• Substantially reduced downstream administrative and data remediation costs.</a:t>
            </a:r>
          </a:p>
          <a:p>
            <a:pPr>
              <a:spcAft>
                <a:spcPts val="600"/>
              </a:spcAft>
              <a:defRPr sz="1100">
                <a:solidFill>
                  <a:srgbClr val="FAF9F6"/>
                </a:solidFill>
                <a:latin typeface="Calibri"/>
              </a:defRPr>
            </a:pPr>
            <a:r>
              <a:t>• Established a secure, scalable model for rapid multi-branch system rollout.</a:t>
            </a:r>
          </a:p>
        </p:txBody>
      </p:sp>
      <p:sp>
        <p:nvSpPr>
          <p:cNvPr id="7" name="Rounded Rectangle 6"/>
          <p:cNvSpPr/>
          <p:nvPr/>
        </p:nvSpPr>
        <p:spPr>
          <a:xfrm>
            <a:off x="8138160" y="1920240"/>
            <a:ext cx="3474720" cy="4114800"/>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t>PLATFORM COMPLIANCE SECURITY</a:t>
            </a:r>
          </a:p>
          <a:p>
            <a:pPr>
              <a:spcAft>
                <a:spcPts val="1400"/>
              </a:spcAft>
              <a:defRPr sz="3600" b="1">
                <a:solidFill>
                  <a:srgbClr val="FAF9F6"/>
                </a:solidFill>
                <a:latin typeface="Georgia"/>
              </a:defRPr>
            </a:pPr>
            <a:r>
              <a:t>Zero Debt</a:t>
            </a:r>
          </a:p>
          <a:p>
            <a:pPr>
              <a:spcAft>
                <a:spcPts val="600"/>
              </a:spcAft>
              <a:defRPr sz="1100">
                <a:solidFill>
                  <a:srgbClr val="FAF9F6"/>
                </a:solidFill>
                <a:latin typeface="Calibri"/>
              </a:defRPr>
            </a:pPr>
            <a:r>
              <a:t>• Relational 5-table Dataverse schema successfully cleared all corporate security and compliance audits.</a:t>
            </a:r>
          </a:p>
          <a:p>
            <a:pPr>
              <a:spcAft>
                <a:spcPts val="600"/>
              </a:spcAft>
              <a:defRPr sz="1100">
                <a:solidFill>
                  <a:srgbClr val="FAF9F6"/>
                </a:solidFill>
                <a:latin typeface="Calibri"/>
              </a:defRPr>
            </a:pPr>
            <a:r>
              <a:t>• Hardened security roles eliminated sensitive PII exposure in the field.</a:t>
            </a:r>
          </a:p>
          <a:p>
            <a:pPr>
              <a:spcAft>
                <a:spcPts val="600"/>
              </a:spcAft>
              <a:defRPr sz="1100">
                <a:solidFill>
                  <a:srgbClr val="FAF9F6"/>
                </a:solidFill>
                <a:latin typeface="Calibri"/>
              </a:defRPr>
            </a:pPr>
            <a:r>
              <a:t>• Provided a repeatable governance blueprint for future Power Platform implementations.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10cb6ddd-7027-4009-a457-a601afda4818}" contentBits="0" removed="0"/>
</clbl:labelList>
</file>

<file path=docProps/app.xml><?xml version="1.0" encoding="utf-8"?>
<Properties xmlns="http://schemas.openxmlformats.org/officeDocument/2006/extended-properties" xmlns:vt="http://schemas.openxmlformats.org/officeDocument/2006/docPropsVTypes">
  <TotalTime>549</TotalTime>
  <Words>2056</Words>
  <Application>Microsoft Office PowerPoint</Application>
  <PresentationFormat>Widescreen</PresentationFormat>
  <Paragraphs>153</Paragraphs>
  <Slides>7</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David Liong</cp:lastModifiedBy>
  <cp:revision>4</cp:revision>
  <dcterms:created xsi:type="dcterms:W3CDTF">2013-01-27T09:14:16Z</dcterms:created>
  <dcterms:modified xsi:type="dcterms:W3CDTF">2026-09-01T23:30:39Z</dcterms:modified>
  <cp:category/>
</cp:coreProperties>
</file>