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9" r:id="rId4"/>
    <p:sldId id="263" r:id="rId5"/>
    <p:sldId id="261" r:id="rId6"/>
    <p:sldId id="258" r:id="rId7"/>
    <p:sldId id="260"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C514"/>
    <a:srgbClr val="0D2B49"/>
    <a:srgbClr val="00C49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402" autoAdjust="0"/>
  </p:normalViewPr>
  <p:slideViewPr>
    <p:cSldViewPr snapToGrid="0" snapToObjects="1">
      <p:cViewPr varScale="1">
        <p:scale>
          <a:sx n="75" d="100"/>
          <a:sy n="75" d="100"/>
        </p:scale>
        <p:origin x="1194"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6405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a:t>
            </a:r>
          </a:p>
          <a:p>
            <a:r>
              <a:t>Introduce yourself and state your strategic role as a 'Technical Project Lead' and 'Solutions Architect'.</a:t>
            </a:r>
          </a:p>
          <a:p>
            <a:r>
              <a:t>Explain that you are presenting an end-to-end Case Study of the Vehicle Inspection Application (VIA) project.</a:t>
            </a:r>
          </a:p>
          <a:p>
            <a:r>
              <a:t>Highlight that this project represents the perfect intersection of your technical depth in Dataverse/Power Platform and your leadership capabilities as a Scrum Master.</a:t>
            </a:r>
          </a:p>
          <a:p>
            <a:r>
              <a:t>Frame the metadata: built for RAC's heavy-demand Motoring Services, replacing physical operational leakage with relational security.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SPEAKER NOTES:</a:t>
            </a:r>
          </a:p>
          <a:p>
            <a:r>
              <a:rPr dirty="0"/>
              <a:t>Focus on the 'Executive Challenge' here.</a:t>
            </a:r>
          </a:p>
          <a:p>
            <a:r>
              <a:rPr dirty="0"/>
              <a:t>Explain that when you analyzed the environment, you realized this wasn't just an IT development request—it was a critical business sustainability and compliance problem.</a:t>
            </a:r>
          </a:p>
          <a:p>
            <a:r>
              <a:rPr dirty="0"/>
              <a:t>Mention that 200k inspections annually meant that even a 2-minute delay per run was highly expensive, translating to massive operational leakage.</a:t>
            </a:r>
          </a:p>
          <a:p>
            <a:r>
              <a:rPr dirty="0"/>
              <a:t>Highlight the risks of having physical, un-obfuscated PII paper files floating around roadside patrol vans.</a:t>
            </a:r>
            <a:endParaRPr lang="en-AU" dirty="0"/>
          </a:p>
          <a:p>
            <a:endParaRPr lang="en-AU" dirty="0"/>
          </a:p>
          <a:p>
            <a:r>
              <a:rPr lang="en-AU" sz="1200" b="1" kern="1200" dirty="0">
                <a:solidFill>
                  <a:schemeClr val="tx1"/>
                </a:solidFill>
                <a:effectLst/>
                <a:latin typeface="+mn-lt"/>
                <a:ea typeface="+mn-ea"/>
                <a:cs typeface="+mn-cs"/>
              </a:rPr>
              <a:t>Context (The Business Problem)</a:t>
            </a:r>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"At RAC, I led the digital transformation of the </a:t>
            </a:r>
            <a:r>
              <a:rPr lang="en-AU" sz="1200" b="1" kern="1200" dirty="0">
                <a:solidFill>
                  <a:schemeClr val="tx1"/>
                </a:solidFill>
                <a:effectLst/>
                <a:latin typeface="+mn-lt"/>
                <a:ea typeface="+mn-ea"/>
                <a:cs typeface="+mn-cs"/>
              </a:rPr>
              <a:t>Vehicle Inspection Application (VIA)</a:t>
            </a:r>
            <a:r>
              <a:rPr lang="en-AU" sz="1200" kern="1200" dirty="0">
                <a:solidFill>
                  <a:schemeClr val="tx1"/>
                </a:solidFill>
                <a:effectLst/>
                <a:latin typeface="+mn-lt"/>
                <a:ea typeface="+mn-ea"/>
                <a:cs typeface="+mn-cs"/>
              </a:rPr>
              <a:t>. Our Breakdown Patrols were using paper forms, causing massive data silos and operational delays. As the </a:t>
            </a:r>
            <a:r>
              <a:rPr lang="en-AU" sz="1200" b="1" kern="1200" dirty="0">
                <a:solidFill>
                  <a:schemeClr val="tx1"/>
                </a:solidFill>
                <a:effectLst/>
                <a:latin typeface="+mn-lt"/>
                <a:ea typeface="+mn-ea"/>
                <a:cs typeface="+mn-cs"/>
              </a:rPr>
              <a:t>Analyst Programmer</a:t>
            </a:r>
            <a:r>
              <a:rPr lang="en-AU" sz="1200" kern="1200" dirty="0">
                <a:solidFill>
                  <a:schemeClr val="tx1"/>
                </a:solidFill>
                <a:effectLst/>
                <a:latin typeface="+mn-lt"/>
                <a:ea typeface="+mn-ea"/>
                <a:cs typeface="+mn-cs"/>
              </a:rPr>
              <a:t>, I was tasked with moving this to a high-performance </a:t>
            </a:r>
            <a:r>
              <a:rPr lang="en-AU" sz="1200" b="1" kern="1200" dirty="0">
                <a:solidFill>
                  <a:schemeClr val="tx1"/>
                </a:solidFill>
                <a:effectLst/>
                <a:latin typeface="+mn-lt"/>
                <a:ea typeface="+mn-ea"/>
                <a:cs typeface="+mn-cs"/>
              </a:rPr>
              <a:t>Dataverse</a:t>
            </a:r>
            <a:r>
              <a:rPr lang="en-AU" sz="1200" kern="1200" dirty="0">
                <a:solidFill>
                  <a:schemeClr val="tx1"/>
                </a:solidFill>
                <a:effectLst/>
                <a:latin typeface="+mn-lt"/>
                <a:ea typeface="+mn-ea"/>
                <a:cs typeface="+mn-cs"/>
              </a:rPr>
              <a:t> solution optimized for Surface Go tablets. My goal was to create a 'Single Source of Truth' that could handle 200,000 annual inspections while maintaining strict compliance for the Auto Services division."</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SPEAKER NOTES:</a:t>
            </a:r>
          </a:p>
          <a:p>
            <a:r>
              <a:rPr dirty="0"/>
              <a:t>Use this slide to demonstrate your 'Engineering Craft' and complete ownership of the SDLC.</a:t>
            </a:r>
          </a:p>
          <a:p>
            <a:r>
              <a:rPr dirty="0"/>
              <a:t>Explain your role as the 'Strategic Translator' bridging the gap between business needs and developer execution.</a:t>
            </a:r>
          </a:p>
          <a:p>
            <a:r>
              <a:rPr dirty="0"/>
              <a:t>Discuss Step 1: Running discovery workshops with roadside patrols and writing the SIDs.</a:t>
            </a:r>
          </a:p>
          <a:p>
            <a:r>
              <a:rPr dirty="0"/>
              <a:t>Discuss Step 2: Running scrum ceremonies (PSM I), backlog refinement, and introducing Zephyr Scale testing templates to prevent the 'rushed delivery' traps from earlier roles.</a:t>
            </a:r>
          </a:p>
          <a:p>
            <a:r>
              <a:rPr dirty="0"/>
              <a:t>Discuss Step 3: Managing pipelines, authoring the environment deployment guides, and handing over support to Helpdesk.</a:t>
            </a:r>
            <a:endParaRPr lang="en-AU" dirty="0"/>
          </a:p>
          <a:p>
            <a:endParaRPr lang="en-AU" dirty="0"/>
          </a:p>
          <a:p>
            <a:pPr lvl="0" rtl="0" fontAlgn="ctr"/>
            <a:r>
              <a:rPr lang="en-AU" sz="1200" kern="1200" dirty="0">
                <a:solidFill>
                  <a:schemeClr val="tx1"/>
                </a:solidFill>
                <a:effectLst/>
                <a:latin typeface="+mn-lt"/>
                <a:ea typeface="+mn-ea"/>
                <a:cs typeface="+mn-cs"/>
              </a:rPr>
              <a:t>I began by </a:t>
            </a:r>
            <a:r>
              <a:rPr lang="en-AU" sz="1200" b="1" kern="1200" dirty="0">
                <a:solidFill>
                  <a:schemeClr val="tx1"/>
                </a:solidFill>
                <a:effectLst/>
                <a:latin typeface="+mn-lt"/>
                <a:ea typeface="+mn-ea"/>
                <a:cs typeface="+mn-cs"/>
              </a:rPr>
              <a:t>engaging directly with Breakdown Patrols and key stakeholders to gather detailed requirements during inception worksho</a:t>
            </a:r>
            <a:r>
              <a:rPr lang="en-AU" sz="1200" kern="1200" dirty="0">
                <a:solidFill>
                  <a:schemeClr val="tx1"/>
                </a:solidFill>
                <a:effectLst/>
                <a:latin typeface="+mn-lt"/>
                <a:ea typeface="+mn-ea"/>
                <a:cs typeface="+mn-cs"/>
              </a:rPr>
              <a:t>p, deeply understanding their on-the-ground challenges with the manual, paper-based forms. </a:t>
            </a:r>
            <a:endParaRPr lang="en-AU" sz="1050" kern="1200" dirty="0">
              <a:solidFill>
                <a:schemeClr val="tx1"/>
              </a:solidFill>
              <a:effectLst/>
              <a:latin typeface="+mn-lt"/>
              <a:ea typeface="+mn-ea"/>
              <a:cs typeface="+mn-cs"/>
            </a:endParaRPr>
          </a:p>
          <a:p>
            <a:pPr lvl="0" rtl="0" fontAlgn="ctr"/>
            <a:r>
              <a:rPr lang="en-AU" sz="1200" kern="1200" dirty="0">
                <a:solidFill>
                  <a:schemeClr val="tx1"/>
                </a:solidFill>
                <a:effectLst/>
                <a:latin typeface="+mn-lt"/>
                <a:ea typeface="+mn-ea"/>
                <a:cs typeface="+mn-cs"/>
              </a:rPr>
              <a:t>"A key challenge was the stakeholder's request to pre-fill vehicle data like make, model via a lookup table. After conducting a technical discovery, I authored a </a:t>
            </a:r>
            <a:r>
              <a:rPr lang="en-AU" sz="1200" b="1" kern="1200" dirty="0">
                <a:solidFill>
                  <a:schemeClr val="tx1"/>
                </a:solidFill>
                <a:effectLst/>
                <a:latin typeface="+mn-lt"/>
                <a:ea typeface="+mn-ea"/>
                <a:cs typeface="+mn-cs"/>
              </a:rPr>
              <a:t>Vehicle Data Options Paper</a:t>
            </a:r>
            <a:r>
              <a:rPr lang="en-AU" sz="1200" kern="1200" dirty="0">
                <a:solidFill>
                  <a:schemeClr val="tx1"/>
                </a:solidFill>
                <a:effectLst/>
                <a:latin typeface="+mn-lt"/>
                <a:ea typeface="+mn-ea"/>
                <a:cs typeface="+mn-cs"/>
              </a:rPr>
              <a:t>. I identified that while an API integration was the 'ideal' end-state for future release, it would introduce significant technical debt and delay the MVP due to the complexity of the Auto Info API authentication.</a:t>
            </a:r>
            <a:endParaRPr lang="en-AU" sz="1050" kern="1200" dirty="0">
              <a:solidFill>
                <a:schemeClr val="tx1"/>
              </a:solidFill>
              <a:effectLst/>
              <a:latin typeface="+mn-lt"/>
              <a:ea typeface="+mn-ea"/>
              <a:cs typeface="+mn-cs"/>
            </a:endParaRPr>
          </a:p>
          <a:p>
            <a:pPr lvl="0" rtl="0" fontAlgn="ctr"/>
            <a:r>
              <a:rPr lang="en-AU" sz="1200" kern="1200" dirty="0">
                <a:solidFill>
                  <a:schemeClr val="tx1"/>
                </a:solidFill>
                <a:effectLst/>
                <a:latin typeface="+mn-lt"/>
                <a:ea typeface="+mn-ea"/>
                <a:cs typeface="+mn-cs"/>
              </a:rPr>
              <a:t>I made the strategic decision to implement a </a:t>
            </a:r>
            <a:r>
              <a:rPr lang="en-AU" sz="1200" b="1" kern="1200" dirty="0">
                <a:solidFill>
                  <a:schemeClr val="tx1"/>
                </a:solidFill>
                <a:effectLst/>
                <a:latin typeface="+mn-lt"/>
                <a:ea typeface="+mn-ea"/>
                <a:cs typeface="+mn-cs"/>
              </a:rPr>
              <a:t>system for R3</a:t>
            </a:r>
            <a:r>
              <a:rPr lang="en-AU" sz="1200" kern="1200" dirty="0">
                <a:solidFill>
                  <a:schemeClr val="tx1"/>
                </a:solidFill>
                <a:effectLst/>
                <a:latin typeface="+mn-lt"/>
                <a:ea typeface="+mn-ea"/>
                <a:cs typeface="+mn-cs"/>
              </a:rPr>
              <a:t>—standardizing the data entry within Dataverse but keeping it manual for speed-to-market. I architected the back-end using </a:t>
            </a:r>
            <a:r>
              <a:rPr lang="en-AU" sz="1200" b="1" kern="1200" dirty="0">
                <a:solidFill>
                  <a:schemeClr val="tx1"/>
                </a:solidFill>
                <a:effectLst/>
                <a:latin typeface="+mn-lt"/>
                <a:ea typeface="+mn-ea"/>
                <a:cs typeface="+mn-cs"/>
              </a:rPr>
              <a:t>Relational Data </a:t>
            </a:r>
            <a:r>
              <a:rPr lang="en-AU" sz="1200" b="1" kern="1200" dirty="0" err="1">
                <a:solidFill>
                  <a:schemeClr val="tx1"/>
                </a:solidFill>
                <a:effectLst/>
                <a:latin typeface="+mn-lt"/>
                <a:ea typeface="+mn-ea"/>
                <a:cs typeface="+mn-cs"/>
              </a:rPr>
              <a:t>Modeling</a:t>
            </a:r>
            <a:r>
              <a:rPr lang="en-AU" sz="1200" kern="1200" dirty="0">
                <a:solidFill>
                  <a:schemeClr val="tx1"/>
                </a:solidFill>
                <a:effectLst/>
                <a:latin typeface="+mn-lt"/>
                <a:ea typeface="+mn-ea"/>
                <a:cs typeface="+mn-cs"/>
              </a:rPr>
              <a:t> (Normalizing the Header and Checklist tables) and built a </a:t>
            </a:r>
            <a:r>
              <a:rPr lang="en-AU" sz="1200" b="1" kern="1200" dirty="0">
                <a:solidFill>
                  <a:schemeClr val="tx1"/>
                </a:solidFill>
                <a:effectLst/>
                <a:latin typeface="+mn-lt"/>
                <a:ea typeface="+mn-ea"/>
                <a:cs typeface="+mn-cs"/>
              </a:rPr>
              <a:t>Custom Access Control Model</a:t>
            </a:r>
            <a:r>
              <a:rPr lang="en-AU" sz="1200" kern="1200" dirty="0">
                <a:solidFill>
                  <a:schemeClr val="tx1"/>
                </a:solidFill>
                <a:effectLst/>
                <a:latin typeface="+mn-lt"/>
                <a:ea typeface="+mn-ea"/>
                <a:cs typeface="+mn-cs"/>
              </a:rPr>
              <a:t>. </a:t>
            </a:r>
            <a:endParaRPr lang="en-AU" sz="1050" kern="1200" dirty="0">
              <a:solidFill>
                <a:schemeClr val="tx1"/>
              </a:solidFill>
              <a:effectLst/>
              <a:latin typeface="+mn-lt"/>
              <a:ea typeface="+mn-ea"/>
              <a:cs typeface="+mn-cs"/>
            </a:endParaRPr>
          </a:p>
          <a:p>
            <a:pPr lvl="0" rtl="0" fontAlgn="ctr"/>
            <a:r>
              <a:rPr lang="en-AU" sz="1200" kern="1200" dirty="0">
                <a:solidFill>
                  <a:schemeClr val="tx1"/>
                </a:solidFill>
                <a:effectLst/>
                <a:latin typeface="+mn-lt"/>
                <a:ea typeface="+mn-ea"/>
                <a:cs typeface="+mn-cs"/>
              </a:rPr>
              <a:t>I cloned the 'Basic User' security role to create a custom profile that restricted data access to specific AD Groups, ensuring we met PII (Personally Identifiable Information) standards. </a:t>
            </a:r>
            <a:endParaRPr lang="en-AU" sz="1050" kern="1200" dirty="0">
              <a:solidFill>
                <a:schemeClr val="tx1"/>
              </a:solidFill>
              <a:effectLst/>
              <a:latin typeface="+mn-lt"/>
              <a:ea typeface="+mn-ea"/>
              <a:cs typeface="+mn-cs"/>
            </a:endParaRPr>
          </a:p>
          <a:p>
            <a:pPr lvl="0" rtl="0" fontAlgn="ctr"/>
            <a:r>
              <a:rPr lang="en-AU" sz="1200" kern="1200" dirty="0">
                <a:solidFill>
                  <a:schemeClr val="tx1"/>
                </a:solidFill>
                <a:effectLst/>
                <a:latin typeface="+mn-lt"/>
                <a:ea typeface="+mn-ea"/>
                <a:cs typeface="+mn-cs"/>
              </a:rPr>
              <a:t>Integrated the canvas app with </a:t>
            </a:r>
            <a:r>
              <a:rPr lang="en-AU" sz="1200" b="1" kern="1200" dirty="0">
                <a:solidFill>
                  <a:schemeClr val="tx1"/>
                </a:solidFill>
                <a:effectLst/>
                <a:latin typeface="+mn-lt"/>
                <a:ea typeface="+mn-ea"/>
                <a:cs typeface="+mn-cs"/>
              </a:rPr>
              <a:t>Power Automate</a:t>
            </a:r>
            <a:r>
              <a:rPr lang="en-AU" sz="1200" kern="1200" dirty="0">
                <a:solidFill>
                  <a:schemeClr val="tx1"/>
                </a:solidFill>
                <a:effectLst/>
                <a:latin typeface="+mn-lt"/>
                <a:ea typeface="+mn-ea"/>
                <a:cs typeface="+mn-cs"/>
              </a:rPr>
              <a:t> for efficient workflow automation and backend data processing. </a:t>
            </a:r>
            <a:endParaRPr lang="en-AU" sz="1050" kern="1200" dirty="0">
              <a:solidFill>
                <a:schemeClr val="tx1"/>
              </a:solidFill>
              <a:effectLst/>
              <a:latin typeface="+mn-lt"/>
              <a:ea typeface="+mn-ea"/>
              <a:cs typeface="+mn-cs"/>
            </a:endParaRPr>
          </a:p>
          <a:p>
            <a:pPr lvl="1" rtl="0" fontAlgn="ctr"/>
            <a:r>
              <a:rPr lang="en-AU" sz="1200" kern="1200" dirty="0">
                <a:solidFill>
                  <a:schemeClr val="tx1"/>
                </a:solidFill>
                <a:effectLst/>
                <a:latin typeface="+mn-lt"/>
                <a:ea typeface="+mn-ea"/>
                <a:cs typeface="+mn-cs"/>
              </a:rPr>
              <a:t>Save record to Dataverse</a:t>
            </a:r>
            <a:endParaRPr lang="en-AU" sz="1050" kern="1200" dirty="0">
              <a:solidFill>
                <a:schemeClr val="tx1"/>
              </a:solidFill>
              <a:effectLst/>
              <a:latin typeface="+mn-lt"/>
              <a:ea typeface="+mn-ea"/>
              <a:cs typeface="+mn-cs"/>
            </a:endParaRPr>
          </a:p>
          <a:p>
            <a:pPr lvl="1" rtl="0" fontAlgn="ctr"/>
            <a:r>
              <a:rPr lang="en-AU" sz="1200" kern="1200" dirty="0">
                <a:solidFill>
                  <a:schemeClr val="tx1"/>
                </a:solidFill>
                <a:effectLst/>
                <a:latin typeface="+mn-lt"/>
                <a:ea typeface="+mn-ea"/>
                <a:cs typeface="+mn-cs"/>
              </a:rPr>
              <a:t>Convert the form to PDF and upload the car inspection checklist report to SharePoint doc library, so that mechanic can later email the report to the customers.</a:t>
            </a:r>
            <a:endParaRPr lang="en-AU" sz="1050" kern="1200" dirty="0">
              <a:solidFill>
                <a:schemeClr val="tx1"/>
              </a:solidFill>
              <a:effectLst/>
              <a:latin typeface="+mn-lt"/>
              <a:ea typeface="+mn-ea"/>
              <a:cs typeface="+mn-cs"/>
            </a:endParaRPr>
          </a:p>
          <a:p>
            <a:pPr lvl="0" rtl="0" fontAlgn="ctr"/>
            <a:r>
              <a:rPr lang="en-AU" sz="1200" kern="1200" dirty="0">
                <a:solidFill>
                  <a:schemeClr val="tx1"/>
                </a:solidFill>
                <a:effectLst/>
                <a:latin typeface="+mn-lt"/>
                <a:ea typeface="+mn-ea"/>
                <a:cs typeface="+mn-cs"/>
              </a:rPr>
              <a:t> </a:t>
            </a:r>
          </a:p>
          <a:p>
            <a:pPr lvl="0" rtl="0" fontAlgn="ctr"/>
            <a:r>
              <a:rPr lang="en-AU" sz="1200" kern="1200" dirty="0">
                <a:solidFill>
                  <a:schemeClr val="tx1"/>
                </a:solidFill>
                <a:effectLst/>
                <a:latin typeface="+mn-lt"/>
                <a:ea typeface="+mn-ea"/>
                <a:cs typeface="+mn-cs"/>
              </a:rPr>
              <a:t>I also managed the full </a:t>
            </a:r>
            <a:r>
              <a:rPr lang="en-AU" sz="1200" b="1" kern="1200" dirty="0">
                <a:solidFill>
                  <a:schemeClr val="tx1"/>
                </a:solidFill>
                <a:effectLst/>
                <a:latin typeface="+mn-lt"/>
                <a:ea typeface="+mn-ea"/>
                <a:cs typeface="+mn-cs"/>
              </a:rPr>
              <a:t> pipeline</a:t>
            </a:r>
            <a:r>
              <a:rPr lang="en-AU" sz="1200" kern="1200" dirty="0">
                <a:solidFill>
                  <a:schemeClr val="tx1"/>
                </a:solidFill>
                <a:effectLst/>
                <a:latin typeface="+mn-lt"/>
                <a:ea typeface="+mn-ea"/>
                <a:cs typeface="+mn-cs"/>
              </a:rPr>
              <a:t> to move the solution from DEV-&gt;UAT to Production, ensuring no environment drift occurred.</a:t>
            </a:r>
            <a:endParaRPr lang="en-AU" sz="1050" kern="1200" dirty="0">
              <a:solidFill>
                <a:schemeClr val="tx1"/>
              </a:solidFill>
              <a:effectLst/>
              <a:latin typeface="+mn-lt"/>
              <a:ea typeface="+mn-ea"/>
              <a:cs typeface="+mn-cs"/>
            </a:endParaRPr>
          </a:p>
          <a:p>
            <a:pPr lvl="1" rtl="0" fontAlgn="ctr"/>
            <a:r>
              <a:rPr lang="en-AU" sz="1200" kern="1200" dirty="0">
                <a:solidFill>
                  <a:schemeClr val="tx1"/>
                </a:solidFill>
                <a:effectLst/>
                <a:latin typeface="+mn-lt"/>
                <a:ea typeface="+mn-ea"/>
                <a:cs typeface="+mn-cs"/>
              </a:rPr>
              <a:t>Export and importing vehicle lookup data from DEV across to UAT &amp; production</a:t>
            </a:r>
            <a:endParaRPr lang="en-AU" sz="1050" kern="1200" dirty="0">
              <a:solidFill>
                <a:schemeClr val="tx1"/>
              </a:solidFill>
              <a:effectLst/>
              <a:latin typeface="+mn-lt"/>
              <a:ea typeface="+mn-ea"/>
              <a:cs typeface="+mn-cs"/>
            </a:endParaRPr>
          </a:p>
          <a:p>
            <a:pPr lvl="0" rtl="0" fontAlgn="ctr"/>
            <a:r>
              <a:rPr lang="en-AU" sz="1200" kern="1200" dirty="0">
                <a:solidFill>
                  <a:schemeClr val="tx1"/>
                </a:solidFill>
                <a:effectLst/>
                <a:latin typeface="+mn-lt"/>
                <a:ea typeface="+mn-ea"/>
                <a:cs typeface="+mn-cs"/>
              </a:rPr>
              <a:t>Created a c</a:t>
            </a:r>
            <a:r>
              <a:rPr lang="en-AU" sz="1200" b="1" kern="1200" dirty="0">
                <a:solidFill>
                  <a:schemeClr val="tx1"/>
                </a:solidFill>
                <a:effectLst/>
                <a:latin typeface="+mn-lt"/>
                <a:ea typeface="+mn-ea"/>
                <a:cs typeface="+mn-cs"/>
              </a:rPr>
              <a:t>omprehensive deployment guide</a:t>
            </a:r>
            <a:r>
              <a:rPr lang="en-AU" sz="1200" kern="1200" dirty="0">
                <a:solidFill>
                  <a:schemeClr val="tx1"/>
                </a:solidFill>
                <a:effectLst/>
                <a:latin typeface="+mn-lt"/>
                <a:ea typeface="+mn-ea"/>
                <a:cs typeface="+mn-cs"/>
              </a:rPr>
              <a:t> for moving the app from UAT to production, as no existing documentation was available when I inherited the work</a:t>
            </a:r>
            <a:endParaRPr lang="en-AU" sz="1050" kern="1200" dirty="0">
              <a:solidFill>
                <a:schemeClr val="tx1"/>
              </a:solidFill>
              <a:effectLst/>
              <a:latin typeface="+mn-lt"/>
              <a:ea typeface="+mn-ea"/>
              <a:cs typeface="+mn-cs"/>
            </a:endParaRPr>
          </a:p>
          <a:p>
            <a:pPr lvl="1" rtl="0" fontAlgn="ctr"/>
            <a:r>
              <a:rPr lang="en-AU" sz="1200" kern="1200" dirty="0">
                <a:solidFill>
                  <a:schemeClr val="tx1"/>
                </a:solidFill>
                <a:effectLst/>
                <a:latin typeface="+mn-lt"/>
                <a:ea typeface="+mn-ea"/>
                <a:cs typeface="+mn-cs"/>
              </a:rPr>
              <a:t>Including </a:t>
            </a:r>
            <a:r>
              <a:rPr lang="en-AU" sz="1200" b="1" kern="1200" dirty="0">
                <a:solidFill>
                  <a:schemeClr val="tx1"/>
                </a:solidFill>
                <a:effectLst/>
                <a:latin typeface="+mn-lt"/>
                <a:ea typeface="+mn-ea"/>
                <a:cs typeface="+mn-cs"/>
              </a:rPr>
              <a:t>deployment As-Built document </a:t>
            </a:r>
            <a:r>
              <a:rPr lang="en-AU" sz="1200" kern="1200" dirty="0">
                <a:solidFill>
                  <a:schemeClr val="tx1"/>
                </a:solidFill>
                <a:effectLst/>
                <a:latin typeface="+mn-lt"/>
                <a:ea typeface="+mn-ea"/>
                <a:cs typeface="+mn-cs"/>
              </a:rPr>
              <a:t>for ISO certification process requires</a:t>
            </a:r>
            <a:endParaRPr lang="en-AU" sz="1050" kern="1200" dirty="0">
              <a:solidFill>
                <a:schemeClr val="tx1"/>
              </a:solidFill>
              <a:effectLst/>
              <a:latin typeface="+mn-lt"/>
              <a:ea typeface="+mn-ea"/>
              <a:cs typeface="+mn-cs"/>
            </a:endParaRP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D3FE0-6FBA-9DE2-EF99-6D56C33E48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959C5E-5928-E689-13F0-AB4E7526F6A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BB29E6C-0C69-0D7E-A909-98A68D57B320}"/>
              </a:ext>
            </a:extLst>
          </p:cNvPr>
          <p:cNvSpPr>
            <a:spLocks noGrp="1"/>
          </p:cNvSpPr>
          <p:nvPr>
            <p:ph type="body" sz="quarter" idx="3"/>
          </p:nvPr>
        </p:nvSpPr>
        <p:spPr/>
        <p:txBody>
          <a:bodyPr/>
          <a:lstStyle/>
          <a:p>
            <a:r>
              <a:rPr dirty="0"/>
              <a:t>SPEAKER NOTES:</a:t>
            </a:r>
          </a:p>
          <a:p>
            <a:r>
              <a:rPr dirty="0"/>
              <a:t>This is your 'Architectural Blueprint' slide.</a:t>
            </a:r>
          </a:p>
          <a:p>
            <a:r>
              <a:rPr dirty="0"/>
              <a:t>Explain that rather than using a flat-file database like SharePoint which lacks enterprise-grade relational integrity, you insisted on Microsoft Dataverse.</a:t>
            </a:r>
          </a:p>
          <a:p>
            <a:r>
              <a:rPr dirty="0"/>
              <a:t>Explain the 5 tables: Vehicle lookup master, Questions dynamic config, Summary header, Response transactional lines, and Media metadata.</a:t>
            </a:r>
          </a:p>
          <a:p>
            <a:r>
              <a:rPr dirty="0"/>
              <a:t>Detail how the Questions table keeps the app data-driven: adding new questions doesn't require code updates, eliminating future technical debt.</a:t>
            </a:r>
          </a:p>
          <a:p>
            <a:r>
              <a:rPr dirty="0"/>
              <a:t>Discuss security: 'Basic User - MWPSOL-141' custom role cloned to restrict Delete/Share, mapped to AD groups, and released via staged rings (0 to 4).</a:t>
            </a:r>
            <a:endParaRPr lang="en-AU" dirty="0"/>
          </a:p>
          <a:p>
            <a:endParaRPr lang="en-AU" dirty="0"/>
          </a:p>
          <a:p>
            <a:r>
              <a:rPr lang="en-AU" sz="1200" kern="1200" dirty="0">
                <a:solidFill>
                  <a:schemeClr val="tx1"/>
                </a:solidFill>
                <a:effectLst/>
                <a:latin typeface="+mn-lt"/>
                <a:ea typeface="+mn-ea"/>
                <a:cs typeface="+mn-cs"/>
              </a:rPr>
              <a:t>followed a </a:t>
            </a:r>
            <a:r>
              <a:rPr lang="en-AU" sz="1200" b="1" kern="1200" dirty="0">
                <a:solidFill>
                  <a:schemeClr val="tx1"/>
                </a:solidFill>
                <a:effectLst/>
                <a:latin typeface="+mn-lt"/>
                <a:ea typeface="+mn-ea"/>
                <a:cs typeface="+mn-cs"/>
              </a:rPr>
              <a:t>'Least Privilege' model</a:t>
            </a:r>
            <a:r>
              <a:rPr lang="en-AU" sz="1200" kern="1200" dirty="0">
                <a:solidFill>
                  <a:schemeClr val="tx1"/>
                </a:solidFill>
                <a:effectLst/>
                <a:latin typeface="+mn-lt"/>
                <a:ea typeface="+mn-ea"/>
                <a:cs typeface="+mn-cs"/>
              </a:rPr>
              <a:t>. I created a custom role called </a:t>
            </a:r>
            <a:r>
              <a:rPr lang="en-AU" sz="1200" b="1" kern="1200" dirty="0">
                <a:solidFill>
                  <a:schemeClr val="tx1"/>
                </a:solidFill>
                <a:effectLst/>
                <a:latin typeface="+mn-lt"/>
                <a:ea typeface="+mn-ea"/>
                <a:cs typeface="+mn-cs"/>
              </a:rPr>
              <a:t>'Basic User - MWPSOL-141'</a:t>
            </a:r>
            <a:r>
              <a:rPr lang="en-AU" sz="1200" kern="1200" dirty="0">
                <a:solidFill>
                  <a:schemeClr val="tx1"/>
                </a:solidFill>
                <a:effectLst/>
                <a:latin typeface="+mn-lt"/>
                <a:ea typeface="+mn-ea"/>
                <a:cs typeface="+mn-cs"/>
              </a:rPr>
              <a:t> by cloning the standard base role and hardening it. I specifically restricted the </a:t>
            </a:r>
            <a:r>
              <a:rPr lang="en-AU" sz="1200" b="1" kern="1200" dirty="0">
                <a:solidFill>
                  <a:schemeClr val="tx1"/>
                </a:solidFill>
                <a:effectLst/>
                <a:latin typeface="+mn-lt"/>
                <a:ea typeface="+mn-ea"/>
                <a:cs typeface="+mn-cs"/>
              </a:rPr>
              <a:t>Delete</a:t>
            </a:r>
            <a:r>
              <a:rPr lang="en-AU" sz="1200" kern="1200" dirty="0">
                <a:solidFill>
                  <a:schemeClr val="tx1"/>
                </a:solidFill>
                <a:effectLst/>
                <a:latin typeface="+mn-lt"/>
                <a:ea typeface="+mn-ea"/>
                <a:cs typeface="+mn-cs"/>
              </a:rPr>
              <a:t> and </a:t>
            </a:r>
            <a:r>
              <a:rPr lang="en-AU" sz="1200" b="1" kern="1200" dirty="0">
                <a:solidFill>
                  <a:schemeClr val="tx1"/>
                </a:solidFill>
                <a:effectLst/>
                <a:latin typeface="+mn-lt"/>
                <a:ea typeface="+mn-ea"/>
                <a:cs typeface="+mn-cs"/>
              </a:rPr>
              <a:t>Share</a:t>
            </a:r>
            <a:r>
              <a:rPr lang="en-AU" sz="1200" kern="1200" dirty="0">
                <a:solidFill>
                  <a:schemeClr val="tx1"/>
                </a:solidFill>
                <a:effectLst/>
                <a:latin typeface="+mn-lt"/>
                <a:ea typeface="+mn-ea"/>
                <a:cs typeface="+mn-cs"/>
              </a:rPr>
              <a:t> permissions on the Inspection tables to protect PII. </a:t>
            </a:r>
          </a:p>
          <a:p>
            <a:r>
              <a:rPr lang="en-AU" sz="1200" kern="1200" dirty="0">
                <a:solidFill>
                  <a:schemeClr val="tx1"/>
                </a:solidFill>
                <a:effectLst/>
                <a:latin typeface="+mn-lt"/>
                <a:ea typeface="+mn-ea"/>
                <a:cs typeface="+mn-cs"/>
              </a:rPr>
              <a:t>This ensured that only members of the verified AD Security Group could interact with the data, which is the same level of compliance rigor I’d apply to the client's SaaS environment.</a:t>
            </a:r>
          </a:p>
          <a:p>
            <a:endParaRPr lang="en-AU" dirty="0"/>
          </a:p>
          <a:p>
            <a:pPr lvl="0" rtl="0" fontAlgn="ctr"/>
            <a:r>
              <a:rPr lang="en-AU" sz="1200" b="1" kern="1200" dirty="0">
                <a:solidFill>
                  <a:schemeClr val="tx1"/>
                </a:solidFill>
                <a:effectLst/>
                <a:latin typeface="+mn-lt"/>
                <a:ea typeface="+mn-ea"/>
                <a:cs typeface="+mn-cs"/>
              </a:rPr>
              <a:t>Question &amp; Inspection Summary Table:</a:t>
            </a:r>
            <a:r>
              <a:rPr lang="en-AU" sz="1200" kern="1200" dirty="0">
                <a:solidFill>
                  <a:schemeClr val="tx1"/>
                </a:solidFill>
                <a:effectLst/>
                <a:latin typeface="+mn-lt"/>
                <a:ea typeface="+mn-ea"/>
                <a:cs typeface="+mn-cs"/>
              </a:rPr>
              <a:t> You granted </a:t>
            </a:r>
            <a:r>
              <a:rPr lang="en-AU" sz="1200" b="1" kern="1200" dirty="0">
                <a:solidFill>
                  <a:schemeClr val="tx1"/>
                </a:solidFill>
                <a:effectLst/>
                <a:latin typeface="+mn-lt"/>
                <a:ea typeface="+mn-ea"/>
                <a:cs typeface="+mn-cs"/>
              </a:rPr>
              <a:t>User-level </a:t>
            </a:r>
            <a:r>
              <a:rPr lang="en-AU" sz="1200" kern="1200" dirty="0">
                <a:solidFill>
                  <a:schemeClr val="tx1"/>
                </a:solidFill>
                <a:effectLst/>
                <a:latin typeface="+mn-lt"/>
                <a:ea typeface="+mn-ea"/>
                <a:cs typeface="+mn-cs"/>
              </a:rPr>
              <a:t>access of </a:t>
            </a:r>
            <a:r>
              <a:rPr lang="en-AU" sz="1200" b="1" kern="1200" dirty="0">
                <a:solidFill>
                  <a:schemeClr val="tx1"/>
                </a:solidFill>
                <a:effectLst/>
                <a:latin typeface="+mn-lt"/>
                <a:ea typeface="+mn-ea"/>
                <a:cs typeface="+mn-cs"/>
              </a:rPr>
              <a:t>Create &amp; write for users who own the records they create are assigned to the basic user security role</a:t>
            </a:r>
            <a:r>
              <a:rPr lang="en-AU" sz="1200" kern="1200" dirty="0">
                <a:solidFill>
                  <a:schemeClr val="tx1"/>
                </a:solidFill>
                <a:effectLst/>
                <a:latin typeface="+mn-lt"/>
                <a:ea typeface="+mn-ea"/>
                <a:cs typeface="+mn-cs"/>
              </a:rPr>
              <a:t>. The organisation (every other user else in the basic user security role) will have read access to every record, but no one is allowed to delete the records. This ensured that a patrol member could create and edit their own inspections but couldn't necessarily delete records or view inspections from unrelated departments.</a:t>
            </a:r>
          </a:p>
        </p:txBody>
      </p:sp>
      <p:sp>
        <p:nvSpPr>
          <p:cNvPr id="4" name="Slide Number Placeholder 3">
            <a:extLst>
              <a:ext uri="{FF2B5EF4-FFF2-40B4-BE49-F238E27FC236}">
                <a16:creationId xmlns:a16="http://schemas.microsoft.com/office/drawing/2014/main" id="{0D06A168-7B92-D2E5-4E80-B298DE27E907}"/>
              </a:ext>
            </a:extLst>
          </p:cNvPr>
          <p:cNvSpPr>
            <a:spLocks noGrp="1"/>
          </p:cNvSpPr>
          <p:nvPr>
            <p:ph type="sldNum" sz="quarter" idx="5"/>
          </p:nvPr>
        </p:nvSpPr>
        <p:spPr/>
      </p:sp>
    </p:spTree>
    <p:extLst>
      <p:ext uri="{BB962C8B-B14F-4D97-AF65-F5344CB8AC3E}">
        <p14:creationId xmlns:p14="http://schemas.microsoft.com/office/powerpoint/2010/main" val="3962657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93232-B9F2-155E-FFEF-7B6FA359D9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B07949-14A3-F6B6-87F0-6472C2D1A05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89697FD-2CC1-8280-CAE5-93F58F28A324}"/>
              </a:ext>
            </a:extLst>
          </p:cNvPr>
          <p:cNvSpPr>
            <a:spLocks noGrp="1"/>
          </p:cNvSpPr>
          <p:nvPr>
            <p:ph type="body" sz="quarter" idx="3"/>
          </p:nvPr>
        </p:nvSpPr>
        <p:spPr/>
        <p:txBody>
          <a:bodyPr/>
          <a:lstStyle/>
          <a:p>
            <a:pPr lvl="0" rtl="0" fontAlgn="ctr"/>
            <a:r>
              <a:rPr lang="en-AU" sz="1200" b="1" kern="1200" dirty="0">
                <a:solidFill>
                  <a:schemeClr val="tx1"/>
                </a:solidFill>
                <a:effectLst/>
                <a:latin typeface="+mn-lt"/>
                <a:ea typeface="+mn-ea"/>
                <a:cs typeface="+mn-cs"/>
              </a:rPr>
              <a:t>Response Table: </a:t>
            </a:r>
            <a:r>
              <a:rPr lang="en-AU" sz="1200" kern="1200" dirty="0">
                <a:solidFill>
                  <a:schemeClr val="tx1"/>
                </a:solidFill>
                <a:effectLst/>
                <a:latin typeface="+mn-lt"/>
                <a:ea typeface="+mn-ea"/>
                <a:cs typeface="+mn-cs"/>
              </a:rPr>
              <a:t>Grant </a:t>
            </a:r>
            <a:r>
              <a:rPr lang="en-AU" sz="1200" b="1" kern="1200" dirty="0">
                <a:solidFill>
                  <a:schemeClr val="tx1"/>
                </a:solidFill>
                <a:effectLst/>
                <a:latin typeface="+mn-lt"/>
                <a:ea typeface="+mn-ea"/>
                <a:cs typeface="+mn-cs"/>
              </a:rPr>
              <a:t>User-level </a:t>
            </a:r>
            <a:r>
              <a:rPr lang="en-AU" sz="1200" kern="1200" dirty="0">
                <a:solidFill>
                  <a:schemeClr val="tx1"/>
                </a:solidFill>
                <a:effectLst/>
                <a:latin typeface="+mn-lt"/>
                <a:ea typeface="+mn-ea"/>
                <a:cs typeface="+mn-cs"/>
              </a:rPr>
              <a:t>access of </a:t>
            </a:r>
            <a:r>
              <a:rPr lang="en-AU" sz="1200" b="1" kern="1200" dirty="0">
                <a:solidFill>
                  <a:schemeClr val="tx1"/>
                </a:solidFill>
                <a:effectLst/>
                <a:latin typeface="+mn-lt"/>
                <a:ea typeface="+mn-ea"/>
                <a:cs typeface="+mn-cs"/>
              </a:rPr>
              <a:t>Create for users who own the records they create. </a:t>
            </a:r>
            <a:r>
              <a:rPr lang="en-AU" sz="1200" kern="1200" dirty="0">
                <a:solidFill>
                  <a:schemeClr val="tx1"/>
                </a:solidFill>
                <a:effectLst/>
                <a:latin typeface="+mn-lt"/>
                <a:ea typeface="+mn-ea"/>
                <a:cs typeface="+mn-cs"/>
              </a:rPr>
              <a:t>However, every other user can read any response records and continue to update a record to continue on from where the last person had save it.</a:t>
            </a:r>
          </a:p>
          <a:p>
            <a:pPr lvl="0" rtl="0" fontAlgn="ctr"/>
            <a:r>
              <a:rPr lang="en-AU" sz="1200" b="1" kern="1200" dirty="0">
                <a:solidFill>
                  <a:schemeClr val="tx1"/>
                </a:solidFill>
                <a:effectLst/>
                <a:latin typeface="+mn-lt"/>
                <a:ea typeface="+mn-ea"/>
                <a:cs typeface="+mn-cs"/>
              </a:rPr>
              <a:t>Inspection Photo Table: </a:t>
            </a:r>
            <a:r>
              <a:rPr lang="en-AU" sz="1200" kern="1200" dirty="0">
                <a:solidFill>
                  <a:schemeClr val="tx1"/>
                </a:solidFill>
                <a:effectLst/>
                <a:latin typeface="+mn-lt"/>
                <a:ea typeface="+mn-ea"/>
                <a:cs typeface="+mn-cs"/>
              </a:rPr>
              <a:t>Grant </a:t>
            </a:r>
            <a:r>
              <a:rPr lang="en-AU" sz="1200" b="1" kern="1200" dirty="0">
                <a:solidFill>
                  <a:schemeClr val="tx1"/>
                </a:solidFill>
                <a:effectLst/>
                <a:latin typeface="+mn-lt"/>
                <a:ea typeface="+mn-ea"/>
                <a:cs typeface="+mn-cs"/>
              </a:rPr>
              <a:t>User-level </a:t>
            </a:r>
            <a:r>
              <a:rPr lang="en-AU" sz="1200" kern="1200" dirty="0">
                <a:solidFill>
                  <a:schemeClr val="tx1"/>
                </a:solidFill>
                <a:effectLst/>
                <a:latin typeface="+mn-lt"/>
                <a:ea typeface="+mn-ea"/>
                <a:cs typeface="+mn-cs"/>
              </a:rPr>
              <a:t>access for </a:t>
            </a:r>
            <a:r>
              <a:rPr lang="en-AU" sz="1200" b="1" kern="1200" dirty="0">
                <a:solidFill>
                  <a:schemeClr val="tx1"/>
                </a:solidFill>
                <a:effectLst/>
                <a:latin typeface="+mn-lt"/>
                <a:ea typeface="+mn-ea"/>
                <a:cs typeface="+mn-cs"/>
              </a:rPr>
              <a:t>Create for users who own the records they create.</a:t>
            </a:r>
            <a:r>
              <a:rPr lang="en-AU" sz="1200" kern="1200" dirty="0">
                <a:solidFill>
                  <a:schemeClr val="tx1"/>
                </a:solidFill>
                <a:effectLst/>
                <a:latin typeface="+mn-lt"/>
                <a:ea typeface="+mn-ea"/>
                <a:cs typeface="+mn-cs"/>
              </a:rPr>
              <a:t> Admin (organisation) has full visibility to entire record to read, write and delete.</a:t>
            </a:r>
          </a:p>
          <a:p>
            <a:endParaRPr lang="en-AU" sz="1200" b="1" kern="1200" dirty="0">
              <a:solidFill>
                <a:schemeClr val="tx1"/>
              </a:solidFill>
              <a:effectLst/>
              <a:latin typeface="+mn-lt"/>
              <a:ea typeface="+mn-ea"/>
              <a:cs typeface="+mn-cs"/>
            </a:endParaRPr>
          </a:p>
          <a:p>
            <a:r>
              <a:rPr lang="en-AU" sz="1200" b="1" kern="1200" dirty="0">
                <a:solidFill>
                  <a:schemeClr val="tx1"/>
                </a:solidFill>
                <a:effectLst/>
                <a:latin typeface="+mn-lt"/>
                <a:ea typeface="+mn-ea"/>
                <a:cs typeface="+mn-cs"/>
              </a:rPr>
              <a:t>Why this matters:</a:t>
            </a:r>
            <a:endParaRPr lang="en-AU" sz="1200" kern="1200" dirty="0">
              <a:solidFill>
                <a:schemeClr val="tx1"/>
              </a:solidFill>
              <a:effectLst/>
              <a:latin typeface="+mn-lt"/>
              <a:ea typeface="+mn-ea"/>
              <a:cs typeface="+mn-cs"/>
            </a:endParaRPr>
          </a:p>
          <a:p>
            <a:pPr lvl="0" rtl="0" fontAlgn="ctr"/>
            <a:r>
              <a:rPr lang="en-AU" sz="1200" b="1" kern="1200" dirty="0">
                <a:solidFill>
                  <a:schemeClr val="tx1"/>
                </a:solidFill>
                <a:effectLst/>
                <a:latin typeface="+mn-lt"/>
                <a:ea typeface="+mn-ea"/>
                <a:cs typeface="+mn-cs"/>
              </a:rPr>
              <a:t>User scope</a:t>
            </a:r>
            <a:r>
              <a:rPr lang="en-AU" sz="1200" kern="1200" dirty="0">
                <a:solidFill>
                  <a:schemeClr val="tx1"/>
                </a:solidFill>
                <a:effectLst/>
                <a:latin typeface="+mn-lt"/>
                <a:ea typeface="+mn-ea"/>
                <a:cs typeface="+mn-cs"/>
              </a:rPr>
              <a:t> = Least privilege, good for data isolation.</a:t>
            </a:r>
          </a:p>
          <a:p>
            <a:pPr lvl="0" rtl="0" fontAlgn="ctr"/>
            <a:r>
              <a:rPr lang="en-AU" sz="1200" b="1" kern="1200" dirty="0">
                <a:solidFill>
                  <a:schemeClr val="tx1"/>
                </a:solidFill>
                <a:effectLst/>
                <a:latin typeface="+mn-lt"/>
                <a:ea typeface="+mn-ea"/>
                <a:cs typeface="+mn-cs"/>
              </a:rPr>
              <a:t>Organization scope</a:t>
            </a:r>
            <a:r>
              <a:rPr lang="en-AU" sz="1200" kern="1200" dirty="0">
                <a:solidFill>
                  <a:schemeClr val="tx1"/>
                </a:solidFill>
                <a:effectLst/>
                <a:latin typeface="+mn-lt"/>
                <a:ea typeface="+mn-ea"/>
                <a:cs typeface="+mn-cs"/>
              </a:rPr>
              <a:t> = Broad access, suitable for admins or roles that need full visibility/control.</a:t>
            </a:r>
          </a:p>
          <a:p>
            <a:endParaRPr lang="en-AU" dirty="0"/>
          </a:p>
          <a:p>
            <a:r>
              <a:rPr lang="en-AU" dirty="0"/>
              <a:t>	</a:t>
            </a:r>
            <a:endParaRPr dirty="0"/>
          </a:p>
        </p:txBody>
      </p:sp>
      <p:sp>
        <p:nvSpPr>
          <p:cNvPr id="4" name="Slide Number Placeholder 3">
            <a:extLst>
              <a:ext uri="{FF2B5EF4-FFF2-40B4-BE49-F238E27FC236}">
                <a16:creationId xmlns:a16="http://schemas.microsoft.com/office/drawing/2014/main" id="{91E7A001-CD6B-4B8F-8B8D-BEB0A8C04F98}"/>
              </a:ext>
            </a:extLst>
          </p:cNvPr>
          <p:cNvSpPr>
            <a:spLocks noGrp="1"/>
          </p:cNvSpPr>
          <p:nvPr>
            <p:ph type="sldNum" sz="quarter" idx="5"/>
          </p:nvPr>
        </p:nvSpPr>
        <p:spPr/>
      </p:sp>
    </p:spTree>
    <p:extLst>
      <p:ext uri="{BB962C8B-B14F-4D97-AF65-F5344CB8AC3E}">
        <p14:creationId xmlns:p14="http://schemas.microsoft.com/office/powerpoint/2010/main" val="226301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a:t>
            </a:r>
          </a:p>
          <a:p>
            <a:r>
              <a:t>This is your 'Architectural Blueprint' slide.</a:t>
            </a:r>
          </a:p>
          <a:p>
            <a:r>
              <a:t>Explain that rather than using a flat-file database like SharePoint which lacks enterprise-grade relational integrity, you insisted on Microsoft Dataverse.</a:t>
            </a:r>
          </a:p>
          <a:p>
            <a:r>
              <a:t>Explain the 5 tables: Vehicle lookup master, Questions dynamic config, Summary header, Response transactional lines, and Media metadata.</a:t>
            </a:r>
          </a:p>
          <a:p>
            <a:r>
              <a:t>Detail how the Questions table keeps the app data-driven: adding new questions doesn't require code updates, eliminating future technical debt.</a:t>
            </a:r>
          </a:p>
          <a:p>
            <a:r>
              <a:t>Discuss security: 'Basic User - MWPSOL-141' custom role cloned to restrict Delete/Share, mapped to AD groups, and released via staged rings (0 to 4).</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AU" sz="1200" kern="1200" dirty="0">
                <a:solidFill>
                  <a:schemeClr val="tx1"/>
                </a:solidFill>
                <a:effectLst/>
                <a:latin typeface="+mn-lt"/>
                <a:ea typeface="+mn-ea"/>
                <a:cs typeface="+mn-cs"/>
              </a:rPr>
              <a:t>The result was a successful launch on June 3, 2024, saving the business </a:t>
            </a:r>
            <a:r>
              <a:rPr lang="en-AU" sz="1200" b="1" kern="1200" dirty="0">
                <a:solidFill>
                  <a:schemeClr val="tx1"/>
                </a:solidFill>
                <a:effectLst/>
                <a:latin typeface="+mn-lt"/>
                <a:ea typeface="+mn-ea"/>
                <a:cs typeface="+mn-cs"/>
              </a:rPr>
              <a:t>$500,000 annually</a:t>
            </a:r>
            <a:r>
              <a:rPr lang="en-AU" sz="1200" kern="1200" dirty="0">
                <a:solidFill>
                  <a:schemeClr val="tx1"/>
                </a:solidFill>
                <a:effectLst/>
                <a:latin typeface="+mn-lt"/>
                <a:ea typeface="+mn-ea"/>
                <a:cs typeface="+mn-cs"/>
              </a:rPr>
              <a:t> and  It directly </a:t>
            </a:r>
            <a:r>
              <a:rPr lang="en-AU" sz="1200" b="1" kern="1200" dirty="0">
                <a:solidFill>
                  <a:schemeClr val="tx1"/>
                </a:solidFill>
                <a:effectLst/>
                <a:latin typeface="+mn-lt"/>
                <a:ea typeface="+mn-ea"/>
                <a:cs typeface="+mn-cs"/>
              </a:rPr>
              <a:t>saved Breakdown Patrols 2-3 minutes per job</a:t>
            </a:r>
            <a:r>
              <a:rPr lang="en-AU" sz="1200" kern="1200" dirty="0">
                <a:solidFill>
                  <a:schemeClr val="tx1"/>
                </a:solidFill>
                <a:effectLst/>
                <a:latin typeface="+mn-lt"/>
                <a:ea typeface="+mn-ea"/>
                <a:cs typeface="+mn-cs"/>
              </a:rPr>
              <a:t>, which, based on 200,000 jobs annually, translates to an estimated of </a:t>
            </a:r>
            <a:r>
              <a:rPr lang="en-AU" sz="1200" b="1" kern="1200" dirty="0">
                <a:solidFill>
                  <a:schemeClr val="tx1"/>
                </a:solidFill>
                <a:effectLst/>
                <a:latin typeface="+mn-lt"/>
                <a:ea typeface="+mn-ea"/>
                <a:cs typeface="+mn-cs"/>
              </a:rPr>
              <a:t>total saved time of *416 days annually.</a:t>
            </a:r>
          </a:p>
          <a:p>
            <a:endParaRPr lang="en-AU" sz="1200" kern="1200" dirty="0">
              <a:solidFill>
                <a:schemeClr val="tx1"/>
              </a:solidFill>
              <a:effectLst/>
              <a:latin typeface="+mn-lt"/>
              <a:ea typeface="+mn-ea"/>
              <a:cs typeface="+mn-cs"/>
            </a:endParaRPr>
          </a:p>
          <a:p>
            <a:r>
              <a:rPr lang="en-AU" sz="1200" b="1" kern="1200" dirty="0">
                <a:solidFill>
                  <a:schemeClr val="tx1"/>
                </a:solidFill>
                <a:effectLst/>
                <a:latin typeface="+mn-lt"/>
                <a:ea typeface="+mn-ea"/>
                <a:cs typeface="+mn-cs"/>
              </a:rPr>
              <a:t>*Total Time Saved (Annual)</a:t>
            </a:r>
            <a:endParaRPr lang="en-AU" sz="1200" kern="1200" dirty="0">
              <a:solidFill>
                <a:schemeClr val="tx1"/>
              </a:solidFill>
              <a:effectLst/>
              <a:latin typeface="+mn-lt"/>
              <a:ea typeface="+mn-ea"/>
              <a:cs typeface="+mn-cs"/>
            </a:endParaRPr>
          </a:p>
          <a:p>
            <a:pPr lvl="0" rtl="0" fontAlgn="ctr"/>
            <a:r>
              <a:rPr lang="en-AU" sz="1200" b="1" kern="1200" dirty="0">
                <a:solidFill>
                  <a:schemeClr val="tx1"/>
                </a:solidFill>
                <a:effectLst/>
                <a:latin typeface="+mn-lt"/>
                <a:ea typeface="+mn-ea"/>
                <a:cs typeface="+mn-cs"/>
              </a:rPr>
              <a:t>-Low Estimate (2 mins):</a:t>
            </a:r>
            <a:r>
              <a:rPr lang="en-AU" sz="1200" kern="1200" dirty="0">
                <a:solidFill>
                  <a:schemeClr val="tx1"/>
                </a:solidFill>
                <a:effectLst/>
                <a:latin typeface="+mn-lt"/>
                <a:ea typeface="+mn-ea"/>
                <a:cs typeface="+mn-cs"/>
              </a:rPr>
              <a:t> 6,666 hours (approx. </a:t>
            </a:r>
            <a:r>
              <a:rPr lang="en-AU" sz="1200" b="1" kern="1200" dirty="0">
                <a:solidFill>
                  <a:schemeClr val="tx1"/>
                </a:solidFill>
                <a:effectLst/>
                <a:latin typeface="+mn-lt"/>
                <a:ea typeface="+mn-ea"/>
                <a:cs typeface="+mn-cs"/>
              </a:rPr>
              <a:t>277 days</a:t>
            </a:r>
            <a:r>
              <a:rPr lang="en-AU" sz="1200" kern="1200" dirty="0">
                <a:solidFill>
                  <a:schemeClr val="tx1"/>
                </a:solidFill>
                <a:effectLst/>
                <a:latin typeface="+mn-lt"/>
                <a:ea typeface="+mn-ea"/>
                <a:cs typeface="+mn-cs"/>
              </a:rPr>
              <a:t>)</a:t>
            </a:r>
          </a:p>
          <a:p>
            <a:pPr lvl="0" rtl="0" fontAlgn="ctr"/>
            <a:r>
              <a:rPr lang="en-AU" sz="1200" b="1" kern="1200" dirty="0">
                <a:solidFill>
                  <a:schemeClr val="tx1"/>
                </a:solidFill>
                <a:effectLst/>
                <a:latin typeface="+mn-lt"/>
                <a:ea typeface="+mn-ea"/>
                <a:cs typeface="+mn-cs"/>
              </a:rPr>
              <a:t>-High Estimate (3 mins):</a:t>
            </a:r>
            <a:r>
              <a:rPr lang="en-AU" sz="1200" kern="1200" dirty="0">
                <a:solidFill>
                  <a:schemeClr val="tx1"/>
                </a:solidFill>
                <a:effectLst/>
                <a:latin typeface="+mn-lt"/>
                <a:ea typeface="+mn-ea"/>
                <a:cs typeface="+mn-cs"/>
              </a:rPr>
              <a:t> 10,000 hours (approx. </a:t>
            </a:r>
            <a:r>
              <a:rPr lang="en-AU" sz="1200" b="1" kern="1200" dirty="0">
                <a:solidFill>
                  <a:schemeClr val="tx1"/>
                </a:solidFill>
                <a:effectLst/>
                <a:latin typeface="+mn-lt"/>
                <a:ea typeface="+mn-ea"/>
                <a:cs typeface="+mn-cs"/>
              </a:rPr>
              <a:t>416 days</a:t>
            </a:r>
            <a:r>
              <a:rPr lang="en-AU" sz="1200" kern="1200" dirty="0">
                <a:solidFill>
                  <a:schemeClr val="tx1"/>
                </a:solidFill>
                <a:effectLst/>
                <a:latin typeface="+mn-lt"/>
                <a:ea typeface="+mn-ea"/>
                <a:cs typeface="+mn-cs"/>
              </a:rPr>
              <a:t>)</a:t>
            </a:r>
          </a:p>
          <a:p>
            <a:pPr lvl="0" rtl="0" fontAlgn="ctr"/>
            <a:r>
              <a:rPr lang="en-AU" sz="1200" kern="1200" dirty="0">
                <a:solidFill>
                  <a:schemeClr val="tx1"/>
                </a:solidFill>
                <a:effectLst/>
                <a:latin typeface="+mn-lt"/>
                <a:ea typeface="+mn-ea"/>
                <a:cs typeface="+mn-cs"/>
              </a:rPr>
              <a:t>-100% reduction in manual data entry errors</a:t>
            </a:r>
          </a:p>
          <a:p>
            <a:r>
              <a:rPr lang="en-AU" sz="1200" kern="1200" dirty="0">
                <a:solidFill>
                  <a:schemeClr val="tx1"/>
                </a:solidFill>
                <a:effectLst/>
                <a:latin typeface="+mn-lt"/>
                <a:ea typeface="+mn-ea"/>
                <a:cs typeface="+mn-cs"/>
              </a:rPr>
              <a:t> </a:t>
            </a:r>
          </a:p>
          <a:p>
            <a:r>
              <a:rPr lang="en-AU" sz="1200" kern="1200" dirty="0">
                <a:solidFill>
                  <a:schemeClr val="tx1"/>
                </a:solidFill>
                <a:effectLst/>
                <a:latin typeface="+mn-lt"/>
                <a:ea typeface="+mn-ea"/>
                <a:cs typeface="+mn-cs"/>
              </a:rPr>
              <a:t>This project demonstrates exactly how I work: I don't just build apps; I </a:t>
            </a:r>
            <a:r>
              <a:rPr lang="en-AU" sz="1200" kern="1200" dirty="0" err="1">
                <a:solidFill>
                  <a:schemeClr val="tx1"/>
                </a:solidFill>
                <a:effectLst/>
                <a:latin typeface="+mn-lt"/>
                <a:ea typeface="+mn-ea"/>
                <a:cs typeface="+mn-cs"/>
              </a:rPr>
              <a:t>analyze</a:t>
            </a:r>
            <a:r>
              <a:rPr lang="en-AU" sz="1200" kern="1200" dirty="0">
                <a:solidFill>
                  <a:schemeClr val="tx1"/>
                </a:solidFill>
                <a:effectLst/>
                <a:latin typeface="+mn-lt"/>
                <a:ea typeface="+mn-ea"/>
                <a:cs typeface="+mn-cs"/>
              </a:rPr>
              <a:t> the requirements, weigh the technical trade-offs (like deferring the API for an MVP)</a:t>
            </a:r>
          </a:p>
          <a:p>
            <a:r>
              <a:rPr lang="en-AU" sz="1200" kern="1200" dirty="0">
                <a:solidFill>
                  <a:schemeClr val="tx1"/>
                </a:solidFill>
                <a:effectLst/>
                <a:latin typeface="+mn-lt"/>
                <a:ea typeface="+mn-ea"/>
                <a:cs typeface="+mn-cs"/>
              </a:rPr>
              <a:t> </a:t>
            </a:r>
          </a:p>
          <a:p>
            <a:r>
              <a:rPr lang="en-AU" sz="1200" kern="1200" dirty="0">
                <a:solidFill>
                  <a:schemeClr val="tx1"/>
                </a:solidFill>
                <a:effectLst/>
                <a:latin typeface="+mn-lt"/>
                <a:ea typeface="+mn-ea"/>
                <a:cs typeface="+mn-cs"/>
              </a:rPr>
              <a:t>I don't just write code; I </a:t>
            </a:r>
            <a:r>
              <a:rPr lang="en-AU" sz="1200" b="1" kern="1200" dirty="0" err="1">
                <a:solidFill>
                  <a:schemeClr val="tx1"/>
                </a:solidFill>
                <a:effectLst/>
                <a:latin typeface="+mn-lt"/>
                <a:ea typeface="+mn-ea"/>
                <a:cs typeface="+mn-cs"/>
              </a:rPr>
              <a:t>solutionize</a:t>
            </a:r>
            <a:r>
              <a:rPr lang="en-AU" sz="1200" kern="1200" dirty="0">
                <a:solidFill>
                  <a:schemeClr val="tx1"/>
                </a:solidFill>
                <a:effectLst/>
                <a:latin typeface="+mn-lt"/>
                <a:ea typeface="+mn-ea"/>
                <a:cs typeface="+mn-cs"/>
              </a:rPr>
              <a:t>. I can translate complex council requirements into reusable technical designs, manage the Azure DevOps pipeline, and write the .NET/React logic needed to extend Dataverse beyond its standard limits. I’m ready to help you scale the CouncilFirst platform with that same level of rigor."</a:t>
            </a:r>
          </a:p>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0C7B294-5074-818B-89E0-7CDD78528C22}"/>
              </a:ext>
            </a:extLst>
          </p:cNvPr>
          <p:cNvPicPr>
            <a:picLocks noChangeAspect="1"/>
          </p:cNvPicPr>
          <p:nvPr/>
        </p:nvPicPr>
        <p:blipFill>
          <a:blip r:embed="rId3"/>
          <a:stretch>
            <a:fillRect/>
          </a:stretch>
        </p:blipFill>
        <p:spPr>
          <a:xfrm>
            <a:off x="10579758" y="214105"/>
            <a:ext cx="1131570" cy="1088600"/>
          </a:xfrm>
          <a:prstGeom prst="rect">
            <a:avLst/>
          </a:prstGeom>
        </p:spPr>
      </p:pic>
      <p:pic>
        <p:nvPicPr>
          <p:cNvPr id="11" name="Picture 10">
            <a:extLst>
              <a:ext uri="{FF2B5EF4-FFF2-40B4-BE49-F238E27FC236}">
                <a16:creationId xmlns:a16="http://schemas.microsoft.com/office/drawing/2014/main" id="{AF8FC4E1-21C9-4DB7-987C-7C3F30857B54}"/>
              </a:ext>
            </a:extLst>
          </p:cNvPr>
          <p:cNvPicPr>
            <a:picLocks noChangeAspect="1"/>
          </p:cNvPicPr>
          <p:nvPr/>
        </p:nvPicPr>
        <p:blipFill>
          <a:blip r:embed="rId4"/>
          <a:stretch>
            <a:fillRect/>
          </a:stretch>
        </p:blipFill>
        <p:spPr>
          <a:xfrm>
            <a:off x="0" y="8096"/>
            <a:ext cx="9836278" cy="1744742"/>
          </a:xfrm>
          <a:prstGeom prst="rect">
            <a:avLst/>
          </a:prstGeom>
        </p:spPr>
      </p:pic>
      <p:pic>
        <p:nvPicPr>
          <p:cNvPr id="13" name="Picture 12">
            <a:extLst>
              <a:ext uri="{FF2B5EF4-FFF2-40B4-BE49-F238E27FC236}">
                <a16:creationId xmlns:a16="http://schemas.microsoft.com/office/drawing/2014/main" id="{99DB093C-E585-B6C0-EE0B-4724060A45F9}"/>
              </a:ext>
            </a:extLst>
          </p:cNvPr>
          <p:cNvPicPr>
            <a:picLocks noChangeAspect="1"/>
          </p:cNvPicPr>
          <p:nvPr/>
        </p:nvPicPr>
        <p:blipFill>
          <a:blip r:embed="rId5"/>
          <a:stretch>
            <a:fillRect/>
          </a:stretch>
        </p:blipFill>
        <p:spPr>
          <a:xfrm>
            <a:off x="1" y="1773962"/>
            <a:ext cx="12192000" cy="1674241"/>
          </a:xfrm>
          <a:prstGeom prst="rect">
            <a:avLst/>
          </a:prstGeom>
        </p:spPr>
      </p:pic>
      <p:pic>
        <p:nvPicPr>
          <p:cNvPr id="19" name="Picture 18">
            <a:extLst>
              <a:ext uri="{FF2B5EF4-FFF2-40B4-BE49-F238E27FC236}">
                <a16:creationId xmlns:a16="http://schemas.microsoft.com/office/drawing/2014/main" id="{DC344BD4-0ABB-1393-23FA-4FEC0819A704}"/>
              </a:ext>
            </a:extLst>
          </p:cNvPr>
          <p:cNvPicPr>
            <a:picLocks noChangeAspect="1"/>
          </p:cNvPicPr>
          <p:nvPr/>
        </p:nvPicPr>
        <p:blipFill>
          <a:blip r:embed="rId6"/>
          <a:stretch>
            <a:fillRect/>
          </a:stretch>
        </p:blipFill>
        <p:spPr>
          <a:xfrm>
            <a:off x="564517" y="3919460"/>
            <a:ext cx="2804382" cy="2314353"/>
          </a:xfrm>
          <a:prstGeom prst="rect">
            <a:avLst/>
          </a:prstGeom>
        </p:spPr>
      </p:pic>
      <p:pic>
        <p:nvPicPr>
          <p:cNvPr id="21" name="Picture 20">
            <a:extLst>
              <a:ext uri="{FF2B5EF4-FFF2-40B4-BE49-F238E27FC236}">
                <a16:creationId xmlns:a16="http://schemas.microsoft.com/office/drawing/2014/main" id="{85EC62FA-EF2B-660B-F3DC-A036E543F366}"/>
              </a:ext>
            </a:extLst>
          </p:cNvPr>
          <p:cNvPicPr>
            <a:picLocks noChangeAspect="1"/>
          </p:cNvPicPr>
          <p:nvPr/>
        </p:nvPicPr>
        <p:blipFill>
          <a:blip r:embed="rId7"/>
          <a:stretch>
            <a:fillRect/>
          </a:stretch>
        </p:blipFill>
        <p:spPr>
          <a:xfrm>
            <a:off x="8422631" y="3919460"/>
            <a:ext cx="3407420" cy="2323241"/>
          </a:xfrm>
          <a:prstGeom prst="rect">
            <a:avLst/>
          </a:prstGeom>
        </p:spPr>
      </p:pic>
      <p:pic>
        <p:nvPicPr>
          <p:cNvPr id="23" name="Picture 22">
            <a:extLst>
              <a:ext uri="{FF2B5EF4-FFF2-40B4-BE49-F238E27FC236}">
                <a16:creationId xmlns:a16="http://schemas.microsoft.com/office/drawing/2014/main" id="{E6E100F5-AC97-66C9-608D-EC856312B97D}"/>
              </a:ext>
            </a:extLst>
          </p:cNvPr>
          <p:cNvPicPr>
            <a:picLocks noChangeAspect="1"/>
          </p:cNvPicPr>
          <p:nvPr/>
        </p:nvPicPr>
        <p:blipFill>
          <a:blip r:embed="rId8"/>
          <a:stretch>
            <a:fillRect/>
          </a:stretch>
        </p:blipFill>
        <p:spPr>
          <a:xfrm>
            <a:off x="4271526" y="4662240"/>
            <a:ext cx="3248478" cy="8287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10" name="Shape 0">
            <a:extLst>
              <a:ext uri="{FF2B5EF4-FFF2-40B4-BE49-F238E27FC236}">
                <a16:creationId xmlns:a16="http://schemas.microsoft.com/office/drawing/2014/main" id="{F294C21C-C30D-1A3D-B758-7735E7AF0043}"/>
              </a:ext>
            </a:extLst>
          </p:cNvPr>
          <p:cNvSpPr/>
          <p:nvPr/>
        </p:nvSpPr>
        <p:spPr>
          <a:xfrm>
            <a:off x="0" y="360"/>
            <a:ext cx="12192000" cy="6857640"/>
          </a:xfrm>
          <a:prstGeom prst="rect">
            <a:avLst/>
          </a:prstGeom>
          <a:solidFill>
            <a:srgbClr val="071B33"/>
          </a:solidFill>
          <a:ln w="12700">
            <a:solidFill>
              <a:srgbClr val="333333">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 name="TextBox 1"/>
          <p:cNvSpPr txBox="1"/>
          <p:nvPr/>
        </p:nvSpPr>
        <p:spPr>
          <a:xfrm>
            <a:off x="457200" y="274320"/>
            <a:ext cx="11277295" cy="369332"/>
          </a:xfrm>
          <a:prstGeom prst="rect">
            <a:avLst/>
          </a:prstGeom>
          <a:noFill/>
        </p:spPr>
        <p:txBody>
          <a:bodyPr wrap="square" lIns="0" tIns="0" rIns="0" bIns="0">
            <a:spAutoFit/>
          </a:bodyPr>
          <a:lstStyle/>
          <a:p>
            <a:pPr>
              <a:defRPr sz="2400" b="1">
                <a:solidFill>
                  <a:srgbClr val="0A192F"/>
                </a:solidFill>
                <a:latin typeface="Georgia"/>
              </a:defRPr>
            </a:pPr>
            <a:r>
              <a:rPr dirty="0">
                <a:solidFill>
                  <a:schemeClr val="bg1"/>
                </a:solidFill>
              </a:rPr>
              <a:t>Un-Governed Legacy Paper Workflows Constrained Growth</a:t>
            </a:r>
          </a:p>
        </p:txBody>
      </p:sp>
      <p:sp>
        <p:nvSpPr>
          <p:cNvPr id="3" name="TextBox 2"/>
          <p:cNvSpPr txBox="1"/>
          <p:nvPr/>
        </p:nvSpPr>
        <p:spPr>
          <a:xfrm>
            <a:off x="457200" y="914400"/>
            <a:ext cx="11277295" cy="307777"/>
          </a:xfrm>
          <a:prstGeom prst="rect">
            <a:avLst/>
          </a:prstGeom>
          <a:noFill/>
        </p:spPr>
        <p:txBody>
          <a:bodyPr wrap="square" lIns="0" tIns="0" rIns="0" bIns="0">
            <a:spAutoFit/>
          </a:bodyPr>
          <a:lstStyle/>
          <a:p>
            <a:pPr>
              <a:defRPr sz="1200" b="1">
                <a:solidFill>
                  <a:srgbClr val="00C49F"/>
                </a:solidFill>
                <a:latin typeface="Calibri"/>
              </a:defRPr>
            </a:pPr>
            <a:r>
              <a:rPr lang="en-AU" sz="2000" dirty="0">
                <a:solidFill>
                  <a:srgbClr val="F6C514"/>
                </a:solidFill>
              </a:rPr>
              <a:t>Pillar 1: </a:t>
            </a:r>
            <a:r>
              <a:rPr sz="2000" dirty="0">
                <a:solidFill>
                  <a:srgbClr val="F6C514"/>
                </a:solidFill>
              </a:rPr>
              <a:t>THE EXECUTIVE CHALLENGE (THE PROBLEM)</a:t>
            </a:r>
          </a:p>
        </p:txBody>
      </p:sp>
      <p:sp>
        <p:nvSpPr>
          <p:cNvPr id="4" name="Rectangle 3"/>
          <p:cNvSpPr/>
          <p:nvPr/>
        </p:nvSpPr>
        <p:spPr>
          <a:xfrm>
            <a:off x="457200" y="1417320"/>
            <a:ext cx="11277295" cy="25400"/>
          </a:xfrm>
          <a:prstGeom prst="rect">
            <a:avLst/>
          </a:prstGeom>
          <a:solidFill>
            <a:srgbClr val="F6C5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35280" y="1637863"/>
            <a:ext cx="3219450" cy="3802817"/>
          </a:xfrm>
          <a:prstGeom prst="rect">
            <a:avLst/>
          </a:prstGeom>
          <a:solidFill>
            <a:srgbClr val="0D2B49"/>
          </a:solidFill>
          <a:ln>
            <a:noFill/>
          </a:ln>
        </p:spPr>
        <p:style>
          <a:lnRef idx="1">
            <a:schemeClr val="accent1"/>
          </a:lnRef>
          <a:fillRef idx="3">
            <a:schemeClr val="accent1"/>
          </a:fillRef>
          <a:effectRef idx="2">
            <a:schemeClr val="accent1"/>
          </a:effectRef>
          <a:fontRef idx="minor">
            <a:schemeClr val="lt1"/>
          </a:fontRef>
        </p:style>
        <p:txBody>
          <a:bodyPr wrap="square" lIns="365760" tIns="365760" rIns="365760" bIns="365760" rtlCol="0" anchor="ctr"/>
          <a:lstStyle/>
          <a:p>
            <a:pPr>
              <a:spcAft>
                <a:spcPts val="1400"/>
              </a:spcAft>
              <a:defRPr sz="2400" b="1">
                <a:solidFill>
                  <a:srgbClr val="FAF9F6"/>
                </a:solidFill>
                <a:latin typeface="Georgia"/>
              </a:defRPr>
            </a:pPr>
            <a:r>
              <a:rPr lang="en-AU" dirty="0">
                <a:solidFill>
                  <a:srgbClr val="F6C514"/>
                </a:solidFill>
              </a:rPr>
              <a:t>Executive Impact</a:t>
            </a:r>
            <a:endParaRPr dirty="0">
              <a:solidFill>
                <a:srgbClr val="F6C514"/>
              </a:solidFill>
            </a:endParaRPr>
          </a:p>
          <a:p>
            <a:pPr>
              <a:defRPr sz="1400">
                <a:solidFill>
                  <a:srgbClr val="FAF9F6"/>
                </a:solidFill>
                <a:latin typeface="Calibri"/>
              </a:defRPr>
            </a:pPr>
            <a:r>
              <a:rPr sz="1600" dirty="0"/>
              <a:t>RAC's mobile patrols </a:t>
            </a:r>
            <a:r>
              <a:rPr lang="en-AU" sz="1600" dirty="0"/>
              <a:t>and auto mechanics </a:t>
            </a:r>
            <a:r>
              <a:rPr sz="1600" dirty="0"/>
              <a:t>were bound to a slow, physical paper workflow for </a:t>
            </a:r>
            <a:r>
              <a:rPr lang="en-AU" sz="1600" dirty="0"/>
              <a:t>car </a:t>
            </a:r>
            <a:r>
              <a:rPr sz="1600" dirty="0"/>
              <a:t>inspections. The lack of standard automation and real-time validation meant that simple transcription took up valuable frontline capacity, exposing the organization to operational friction and compliance threats.</a:t>
            </a:r>
          </a:p>
        </p:txBody>
      </p:sp>
      <p:sp>
        <p:nvSpPr>
          <p:cNvPr id="6" name="Rounded Rectangle 5"/>
          <p:cNvSpPr/>
          <p:nvPr/>
        </p:nvSpPr>
        <p:spPr>
          <a:xfrm>
            <a:off x="3623310" y="1626433"/>
            <a:ext cx="6528983"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200"/>
              </a:spcAft>
              <a:defRPr sz="1100" b="1">
                <a:solidFill>
                  <a:srgbClr val="64748B"/>
                </a:solidFill>
                <a:latin typeface="Calibri"/>
              </a:defRPr>
            </a:pPr>
            <a:r>
              <a:rPr sz="1400" dirty="0">
                <a:solidFill>
                  <a:srgbClr val="FF0000"/>
                </a:solidFill>
              </a:rPr>
              <a:t>OPERATIONAL INEFFICIENCY</a:t>
            </a:r>
          </a:p>
          <a:p>
            <a:pPr>
              <a:spcAft>
                <a:spcPts val="400"/>
              </a:spcAft>
              <a:defRPr sz="1600" b="1">
                <a:solidFill>
                  <a:srgbClr val="0A192F"/>
                </a:solidFill>
                <a:latin typeface="Georgia"/>
              </a:defRPr>
            </a:pPr>
            <a:r>
              <a:rPr dirty="0"/>
              <a:t>10,000 Hours Wasted Annually</a:t>
            </a:r>
          </a:p>
          <a:p>
            <a:pPr>
              <a:defRPr sz="1100">
                <a:solidFill>
                  <a:srgbClr val="0A192F"/>
                </a:solidFill>
                <a:latin typeface="Calibri"/>
              </a:defRPr>
            </a:pPr>
            <a:r>
              <a:rPr sz="1400" dirty="0"/>
              <a:t>Manual transcription of complex VIN and Engine numbers consumed 2 to 3 minutes of frontline patrol time per job across 200,000 annual runs.</a:t>
            </a:r>
          </a:p>
        </p:txBody>
      </p:sp>
      <p:sp>
        <p:nvSpPr>
          <p:cNvPr id="7" name="Rounded Rectangle 6"/>
          <p:cNvSpPr/>
          <p:nvPr/>
        </p:nvSpPr>
        <p:spPr>
          <a:xfrm>
            <a:off x="3634740" y="2950626"/>
            <a:ext cx="6528983"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200"/>
              </a:spcAft>
              <a:defRPr sz="1100" b="1">
                <a:solidFill>
                  <a:srgbClr val="64748B"/>
                </a:solidFill>
                <a:latin typeface="Calibri"/>
              </a:defRPr>
            </a:pPr>
            <a:r>
              <a:rPr sz="1400" dirty="0">
                <a:solidFill>
                  <a:srgbClr val="FF0000"/>
                </a:solidFill>
              </a:rPr>
              <a:t>COMPLIANCE &amp; SECURITY THREAT</a:t>
            </a:r>
          </a:p>
          <a:p>
            <a:pPr>
              <a:spcAft>
                <a:spcPts val="400"/>
              </a:spcAft>
              <a:defRPr sz="1600" b="1">
                <a:solidFill>
                  <a:srgbClr val="0A192F"/>
                </a:solidFill>
                <a:latin typeface="Georgia"/>
              </a:defRPr>
            </a:pPr>
            <a:r>
              <a:rPr dirty="0"/>
              <a:t>Field Exposure of Sensitive PII</a:t>
            </a:r>
          </a:p>
          <a:p>
            <a:pPr>
              <a:defRPr sz="1100">
                <a:solidFill>
                  <a:srgbClr val="0A192F"/>
                </a:solidFill>
                <a:latin typeface="Calibri"/>
              </a:defRPr>
            </a:pPr>
            <a:r>
              <a:rPr sz="1400" dirty="0"/>
              <a:t>Physical paper logs with customer and vehicle details remained in roadside vans without obfuscation, creating serious data sovereignty and security risks.</a:t>
            </a:r>
          </a:p>
        </p:txBody>
      </p:sp>
      <p:sp>
        <p:nvSpPr>
          <p:cNvPr id="8" name="Rounded Rectangle 7"/>
          <p:cNvSpPr/>
          <p:nvPr/>
        </p:nvSpPr>
        <p:spPr>
          <a:xfrm>
            <a:off x="3661410" y="4274819"/>
            <a:ext cx="6528983"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200"/>
              </a:spcAft>
              <a:defRPr sz="1100" b="1">
                <a:solidFill>
                  <a:srgbClr val="64748B"/>
                </a:solidFill>
                <a:latin typeface="Calibri"/>
              </a:defRPr>
            </a:pPr>
            <a:r>
              <a:rPr sz="1600" dirty="0">
                <a:solidFill>
                  <a:srgbClr val="FF0000"/>
                </a:solidFill>
              </a:rPr>
              <a:t>SYSTEM ISOLATION</a:t>
            </a:r>
          </a:p>
          <a:p>
            <a:pPr>
              <a:spcAft>
                <a:spcPts val="400"/>
              </a:spcAft>
              <a:defRPr sz="1600" b="1">
                <a:solidFill>
                  <a:srgbClr val="0A192F"/>
                </a:solidFill>
                <a:latin typeface="Georgia"/>
              </a:defRPr>
            </a:pPr>
            <a:r>
              <a:rPr dirty="0"/>
              <a:t>Siloed Data &amp; Zero Analytics</a:t>
            </a:r>
          </a:p>
          <a:p>
            <a:pPr>
              <a:defRPr sz="1100">
                <a:solidFill>
                  <a:srgbClr val="0A192F"/>
                </a:solidFill>
                <a:latin typeface="Calibri"/>
              </a:defRPr>
            </a:pPr>
            <a:r>
              <a:rPr sz="1400" dirty="0"/>
              <a:t>Data was physically trapped on paper, preventing any real-time tracking, compliance auditing, automated notifications, or Power BI reporting.</a:t>
            </a:r>
          </a:p>
        </p:txBody>
      </p:sp>
      <p:sp>
        <p:nvSpPr>
          <p:cNvPr id="12" name="Rounded Rectangle 7">
            <a:extLst>
              <a:ext uri="{FF2B5EF4-FFF2-40B4-BE49-F238E27FC236}">
                <a16:creationId xmlns:a16="http://schemas.microsoft.com/office/drawing/2014/main" id="{A22327DA-C0DC-D288-0D44-90F02F896CF8}"/>
              </a:ext>
            </a:extLst>
          </p:cNvPr>
          <p:cNvSpPr/>
          <p:nvPr/>
        </p:nvSpPr>
        <p:spPr>
          <a:xfrm>
            <a:off x="3615690" y="5577480"/>
            <a:ext cx="6574703"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200"/>
              </a:spcAft>
              <a:defRPr sz="1100" b="1">
                <a:solidFill>
                  <a:srgbClr val="64748B"/>
                </a:solidFill>
                <a:latin typeface="Calibri"/>
              </a:defRPr>
            </a:pPr>
            <a:r>
              <a:rPr lang="en-AU" sz="1600" dirty="0">
                <a:solidFill>
                  <a:srgbClr val="FF0000"/>
                </a:solidFill>
              </a:rPr>
              <a:t>BUSINESS RISK</a:t>
            </a:r>
            <a:endParaRPr sz="1600" dirty="0">
              <a:solidFill>
                <a:srgbClr val="FF0000"/>
              </a:solidFill>
            </a:endParaRPr>
          </a:p>
          <a:p>
            <a:pPr>
              <a:spcAft>
                <a:spcPts val="400"/>
              </a:spcAft>
              <a:defRPr sz="1600" b="1">
                <a:solidFill>
                  <a:srgbClr val="0A192F"/>
                </a:solidFill>
                <a:latin typeface="Georgia"/>
              </a:defRPr>
            </a:pPr>
            <a:r>
              <a:rPr lang="en-AU" dirty="0"/>
              <a:t>Operational Leakage</a:t>
            </a:r>
            <a:endParaRPr dirty="0"/>
          </a:p>
          <a:p>
            <a:pPr>
              <a:defRPr sz="1100">
                <a:solidFill>
                  <a:srgbClr val="0A192F"/>
                </a:solidFill>
                <a:latin typeface="Calibri"/>
              </a:defRPr>
            </a:pPr>
            <a:r>
              <a:rPr lang="en-US" sz="1400" dirty="0">
                <a:solidFill>
                  <a:srgbClr val="1D2D3F"/>
                </a:solidFill>
                <a:latin typeface="+mj-lt"/>
              </a:rPr>
              <a:t>Mobile patrols were bound to slow physical forms without standard automation or real-time validation.</a:t>
            </a:r>
            <a:endParaRPr lang="en-US" sz="1400" dirty="0">
              <a:solidFill>
                <a:srgbClr val="000000"/>
              </a:solidFill>
              <a:latin typeface="+mj-lt"/>
            </a:endParaRPr>
          </a:p>
          <a:p>
            <a:pPr>
              <a:defRPr sz="1100">
                <a:solidFill>
                  <a:srgbClr val="0A192F"/>
                </a:solidFill>
                <a:latin typeface="Calibri"/>
              </a:defRPr>
            </a:pPr>
            <a:r>
              <a:rPr sz="1400" dirty="0"/>
              <a:t>.</a:t>
            </a:r>
          </a:p>
        </p:txBody>
      </p:sp>
      <p:pic>
        <p:nvPicPr>
          <p:cNvPr id="14" name="Picture 13">
            <a:extLst>
              <a:ext uri="{FF2B5EF4-FFF2-40B4-BE49-F238E27FC236}">
                <a16:creationId xmlns:a16="http://schemas.microsoft.com/office/drawing/2014/main" id="{9CC314C3-0293-2A49-D778-6C1E00EF94C7}"/>
              </a:ext>
            </a:extLst>
          </p:cNvPr>
          <p:cNvPicPr>
            <a:picLocks noChangeAspect="1"/>
          </p:cNvPicPr>
          <p:nvPr/>
        </p:nvPicPr>
        <p:blipFill>
          <a:blip r:embed="rId3"/>
          <a:stretch>
            <a:fillRect/>
          </a:stretch>
        </p:blipFill>
        <p:spPr>
          <a:xfrm>
            <a:off x="10266593" y="1637863"/>
            <a:ext cx="1704427" cy="2924619"/>
          </a:xfrm>
          <a:prstGeom prst="rect">
            <a:avLst/>
          </a:prstGeom>
        </p:spPr>
      </p:pic>
      <p:pic>
        <p:nvPicPr>
          <p:cNvPr id="18" name="Picture 17">
            <a:extLst>
              <a:ext uri="{FF2B5EF4-FFF2-40B4-BE49-F238E27FC236}">
                <a16:creationId xmlns:a16="http://schemas.microsoft.com/office/drawing/2014/main" id="{D3734DBD-CCE0-8645-B7CA-DE3E04DD77B6}"/>
              </a:ext>
            </a:extLst>
          </p:cNvPr>
          <p:cNvPicPr>
            <a:picLocks noChangeAspect="1"/>
          </p:cNvPicPr>
          <p:nvPr/>
        </p:nvPicPr>
        <p:blipFill>
          <a:blip r:embed="rId4"/>
          <a:stretch>
            <a:fillRect/>
          </a:stretch>
        </p:blipFill>
        <p:spPr>
          <a:xfrm>
            <a:off x="9527932" y="5628839"/>
            <a:ext cx="451921" cy="451921"/>
          </a:xfrm>
          <a:prstGeom prst="rect">
            <a:avLst/>
          </a:prstGeom>
        </p:spPr>
      </p:pic>
      <p:pic>
        <p:nvPicPr>
          <p:cNvPr id="20" name="Picture 19">
            <a:extLst>
              <a:ext uri="{FF2B5EF4-FFF2-40B4-BE49-F238E27FC236}">
                <a16:creationId xmlns:a16="http://schemas.microsoft.com/office/drawing/2014/main" id="{346668EA-D1CE-E507-677D-A59859D76760}"/>
              </a:ext>
            </a:extLst>
          </p:cNvPr>
          <p:cNvPicPr>
            <a:picLocks noChangeAspect="1"/>
          </p:cNvPicPr>
          <p:nvPr/>
        </p:nvPicPr>
        <p:blipFill>
          <a:blip r:embed="rId5"/>
          <a:stretch>
            <a:fillRect/>
          </a:stretch>
        </p:blipFill>
        <p:spPr>
          <a:xfrm>
            <a:off x="9579268" y="1688559"/>
            <a:ext cx="454877" cy="463000"/>
          </a:xfrm>
          <a:prstGeom prst="rect">
            <a:avLst/>
          </a:prstGeom>
        </p:spPr>
      </p:pic>
      <p:pic>
        <p:nvPicPr>
          <p:cNvPr id="22" name="Picture 21">
            <a:extLst>
              <a:ext uri="{FF2B5EF4-FFF2-40B4-BE49-F238E27FC236}">
                <a16:creationId xmlns:a16="http://schemas.microsoft.com/office/drawing/2014/main" id="{F63C6A99-067B-E31F-4FBD-DECD322BC74D}"/>
              </a:ext>
            </a:extLst>
          </p:cNvPr>
          <p:cNvPicPr>
            <a:picLocks noChangeAspect="1"/>
          </p:cNvPicPr>
          <p:nvPr/>
        </p:nvPicPr>
        <p:blipFill>
          <a:blip r:embed="rId6"/>
          <a:stretch>
            <a:fillRect/>
          </a:stretch>
        </p:blipFill>
        <p:spPr>
          <a:xfrm>
            <a:off x="9463522" y="2976626"/>
            <a:ext cx="543001" cy="533474"/>
          </a:xfrm>
          <a:prstGeom prst="rect">
            <a:avLst/>
          </a:prstGeom>
        </p:spPr>
      </p:pic>
      <p:pic>
        <p:nvPicPr>
          <p:cNvPr id="26" name="Picture 25">
            <a:extLst>
              <a:ext uri="{FF2B5EF4-FFF2-40B4-BE49-F238E27FC236}">
                <a16:creationId xmlns:a16="http://schemas.microsoft.com/office/drawing/2014/main" id="{F4979133-E0B9-7D34-7B37-4ECED66A0F4C}"/>
              </a:ext>
            </a:extLst>
          </p:cNvPr>
          <p:cNvPicPr>
            <a:picLocks noChangeAspect="1"/>
          </p:cNvPicPr>
          <p:nvPr/>
        </p:nvPicPr>
        <p:blipFill>
          <a:blip r:embed="rId7"/>
          <a:stretch>
            <a:fillRect/>
          </a:stretch>
        </p:blipFill>
        <p:spPr>
          <a:xfrm>
            <a:off x="9463522" y="4337529"/>
            <a:ext cx="543001" cy="571580"/>
          </a:xfrm>
          <a:prstGeom prst="rect">
            <a:avLst/>
          </a:prstGeom>
        </p:spPr>
      </p:pic>
      <p:pic>
        <p:nvPicPr>
          <p:cNvPr id="28" name="Picture 27">
            <a:extLst>
              <a:ext uri="{FF2B5EF4-FFF2-40B4-BE49-F238E27FC236}">
                <a16:creationId xmlns:a16="http://schemas.microsoft.com/office/drawing/2014/main" id="{9BF9A494-5F00-A02E-B543-7C2A7EE9DF40}"/>
              </a:ext>
            </a:extLst>
          </p:cNvPr>
          <p:cNvPicPr>
            <a:picLocks noChangeAspect="1"/>
          </p:cNvPicPr>
          <p:nvPr/>
        </p:nvPicPr>
        <p:blipFill>
          <a:blip r:embed="rId8"/>
          <a:stretch>
            <a:fillRect/>
          </a:stretch>
        </p:blipFill>
        <p:spPr>
          <a:xfrm>
            <a:off x="1511557" y="5486400"/>
            <a:ext cx="866896" cy="115268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9" name="Shape 0">
            <a:extLst>
              <a:ext uri="{FF2B5EF4-FFF2-40B4-BE49-F238E27FC236}">
                <a16:creationId xmlns:a16="http://schemas.microsoft.com/office/drawing/2014/main" id="{CA3D628F-8E38-48B5-BF86-50E33AF7A273}"/>
              </a:ext>
            </a:extLst>
          </p:cNvPr>
          <p:cNvSpPr/>
          <p:nvPr/>
        </p:nvSpPr>
        <p:spPr>
          <a:xfrm>
            <a:off x="0" y="0"/>
            <a:ext cx="12192000" cy="6892290"/>
          </a:xfrm>
          <a:prstGeom prst="rect">
            <a:avLst/>
          </a:prstGeom>
          <a:solidFill>
            <a:srgbClr val="071B33"/>
          </a:solidFill>
          <a:ln w="12700">
            <a:solidFill>
              <a:srgbClr val="333333">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 name="TextBox 1"/>
          <p:cNvSpPr txBox="1"/>
          <p:nvPr/>
        </p:nvSpPr>
        <p:spPr>
          <a:xfrm>
            <a:off x="457200" y="274320"/>
            <a:ext cx="11277295" cy="369332"/>
          </a:xfrm>
          <a:prstGeom prst="rect">
            <a:avLst/>
          </a:prstGeom>
          <a:noFill/>
        </p:spPr>
        <p:txBody>
          <a:bodyPr wrap="square" lIns="0" tIns="0" rIns="0" bIns="0">
            <a:spAutoFit/>
          </a:bodyPr>
          <a:lstStyle/>
          <a:p>
            <a:pPr>
              <a:defRPr sz="2400" b="1">
                <a:solidFill>
                  <a:srgbClr val="0A192F"/>
                </a:solidFill>
                <a:latin typeface="Georgia"/>
              </a:defRPr>
            </a:pPr>
            <a:r>
              <a:rPr dirty="0">
                <a:solidFill>
                  <a:schemeClr val="bg1"/>
                </a:solidFill>
              </a:rPr>
              <a:t>Structured </a:t>
            </a:r>
            <a:r>
              <a:rPr lang="en-AU" dirty="0">
                <a:solidFill>
                  <a:schemeClr val="bg1"/>
                </a:solidFill>
              </a:rPr>
              <a:t>Agile</a:t>
            </a:r>
            <a:r>
              <a:rPr dirty="0">
                <a:solidFill>
                  <a:schemeClr val="bg1"/>
                </a:solidFill>
              </a:rPr>
              <a:t> Lifecycle Delivery </a:t>
            </a:r>
            <a:r>
              <a:rPr lang="en-AU" dirty="0">
                <a:solidFill>
                  <a:schemeClr val="bg1"/>
                </a:solidFill>
              </a:rPr>
              <a:t>&amp; </a:t>
            </a:r>
            <a:r>
              <a:rPr dirty="0">
                <a:solidFill>
                  <a:schemeClr val="bg1"/>
                </a:solidFill>
              </a:rPr>
              <a:t>Mitigated Risks</a:t>
            </a:r>
          </a:p>
        </p:txBody>
      </p:sp>
      <p:sp>
        <p:nvSpPr>
          <p:cNvPr id="3" name="TextBox 2"/>
          <p:cNvSpPr txBox="1"/>
          <p:nvPr/>
        </p:nvSpPr>
        <p:spPr>
          <a:xfrm>
            <a:off x="457200" y="914400"/>
            <a:ext cx="11277295" cy="307777"/>
          </a:xfrm>
          <a:prstGeom prst="rect">
            <a:avLst/>
          </a:prstGeom>
          <a:noFill/>
        </p:spPr>
        <p:txBody>
          <a:bodyPr wrap="square" lIns="0" tIns="0" rIns="0" bIns="0">
            <a:spAutoFit/>
          </a:bodyPr>
          <a:lstStyle/>
          <a:p>
            <a:pPr>
              <a:defRPr sz="1200" b="1">
                <a:solidFill>
                  <a:srgbClr val="00C49F"/>
                </a:solidFill>
                <a:latin typeface="Calibri"/>
              </a:defRPr>
            </a:pPr>
            <a:r>
              <a:rPr lang="en-AU" sz="2000" dirty="0">
                <a:solidFill>
                  <a:srgbClr val="FFC000"/>
                </a:solidFill>
              </a:rPr>
              <a:t>Pillar 2: </a:t>
            </a:r>
            <a:r>
              <a:rPr sz="2000" dirty="0">
                <a:solidFill>
                  <a:srgbClr val="FFC000"/>
                </a:solidFill>
              </a:rPr>
              <a:t>THE ENGINEERING CRAFT (SKILLS &amp; METHODOLOGY)</a:t>
            </a:r>
          </a:p>
        </p:txBody>
      </p:sp>
      <p:sp>
        <p:nvSpPr>
          <p:cNvPr id="4" name="Rectangle 3"/>
          <p:cNvSpPr/>
          <p:nvPr/>
        </p:nvSpPr>
        <p:spPr>
          <a:xfrm>
            <a:off x="457200" y="1371600"/>
            <a:ext cx="11277295" cy="25400"/>
          </a:xfrm>
          <a:prstGeom prst="rect">
            <a:avLst/>
          </a:prstGeom>
          <a:solidFill>
            <a:srgbClr val="F6C5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2000250"/>
            <a:ext cx="3474720" cy="448691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600"/>
              </a:spcAft>
              <a:defRPr sz="1100" b="1">
                <a:solidFill>
                  <a:srgbClr val="00C49F"/>
                </a:solidFill>
                <a:latin typeface="Calibri"/>
              </a:defRPr>
            </a:pPr>
            <a:r>
              <a:rPr sz="1400" dirty="0"/>
              <a:t>1. ANALYSING REQUIREMENTS</a:t>
            </a:r>
          </a:p>
          <a:p>
            <a:pPr>
              <a:spcAft>
                <a:spcPts val="1200"/>
              </a:spcAft>
              <a:defRPr sz="1500" b="1">
                <a:solidFill>
                  <a:srgbClr val="0A192F"/>
                </a:solidFill>
                <a:latin typeface="Georgia"/>
              </a:defRPr>
            </a:pPr>
            <a:r>
              <a:rPr sz="1400" dirty="0">
                <a:solidFill>
                  <a:srgbClr val="0D2B49"/>
                </a:solidFill>
              </a:rPr>
              <a:t>Stakeholder Workshop &amp; SID Elicitation</a:t>
            </a:r>
          </a:p>
          <a:p>
            <a:pPr>
              <a:spcAft>
                <a:spcPts val="600"/>
              </a:spcAft>
              <a:defRPr sz="1100">
                <a:solidFill>
                  <a:srgbClr val="64748B"/>
                </a:solidFill>
                <a:latin typeface="Calibri"/>
              </a:defRPr>
            </a:pPr>
            <a:r>
              <a:rPr sz="1400" dirty="0"/>
              <a:t>• Facilitated inception workshops directly with frontline patrols to map operational workflows.</a:t>
            </a:r>
          </a:p>
          <a:p>
            <a:pPr>
              <a:spcAft>
                <a:spcPts val="600"/>
              </a:spcAft>
              <a:defRPr sz="1100">
                <a:solidFill>
                  <a:srgbClr val="64748B"/>
                </a:solidFill>
                <a:latin typeface="Calibri"/>
              </a:defRPr>
            </a:pPr>
            <a:r>
              <a:rPr sz="1400" dirty="0"/>
              <a:t>• Translated fluid business 'pain' into structured technical and functional requirements.</a:t>
            </a:r>
          </a:p>
          <a:p>
            <a:pPr>
              <a:spcAft>
                <a:spcPts val="600"/>
              </a:spcAft>
              <a:defRPr sz="1100">
                <a:solidFill>
                  <a:srgbClr val="64748B"/>
                </a:solidFill>
                <a:latin typeface="Calibri"/>
              </a:defRPr>
            </a:pPr>
            <a:r>
              <a:rPr sz="1400" dirty="0"/>
              <a:t>• Authored comprehensive Solution Intent Documents (SIDs) as the single source of truth.</a:t>
            </a:r>
          </a:p>
          <a:p>
            <a:pPr>
              <a:spcAft>
                <a:spcPts val="600"/>
              </a:spcAft>
              <a:defRPr sz="1100">
                <a:solidFill>
                  <a:srgbClr val="64748B"/>
                </a:solidFill>
                <a:latin typeface="Calibri"/>
              </a:defRPr>
            </a:pPr>
            <a:r>
              <a:rPr sz="1400" dirty="0"/>
              <a:t>• Managed technical trade-offs, prioritizing immediate MVP features over long-term API extensions.</a:t>
            </a:r>
          </a:p>
        </p:txBody>
      </p:sp>
      <p:sp>
        <p:nvSpPr>
          <p:cNvPr id="6" name="Rounded Rectangle 5"/>
          <p:cNvSpPr/>
          <p:nvPr/>
        </p:nvSpPr>
        <p:spPr>
          <a:xfrm>
            <a:off x="4297680" y="2000250"/>
            <a:ext cx="3474720" cy="451231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600"/>
              </a:spcAft>
              <a:defRPr sz="1100" b="1">
                <a:solidFill>
                  <a:srgbClr val="00C49F"/>
                </a:solidFill>
                <a:latin typeface="Calibri"/>
              </a:defRPr>
            </a:pPr>
            <a:r>
              <a:rPr sz="1400" dirty="0"/>
              <a:t>2. SCRUM LEADERSHIP &amp; QA</a:t>
            </a:r>
          </a:p>
          <a:p>
            <a:pPr>
              <a:spcAft>
                <a:spcPts val="1200"/>
              </a:spcAft>
              <a:defRPr sz="1500" b="1">
                <a:solidFill>
                  <a:srgbClr val="0A192F"/>
                </a:solidFill>
                <a:latin typeface="Georgia"/>
              </a:defRPr>
            </a:pPr>
            <a:r>
              <a:rPr sz="1400" dirty="0"/>
              <a:t>Agile Execution &amp; Zephyr Testing</a:t>
            </a:r>
          </a:p>
          <a:p>
            <a:pPr>
              <a:spcAft>
                <a:spcPts val="600"/>
              </a:spcAft>
              <a:defRPr sz="1100">
                <a:solidFill>
                  <a:srgbClr val="64748B"/>
                </a:solidFill>
                <a:latin typeface="Calibri"/>
              </a:defRPr>
            </a:pPr>
            <a:r>
              <a:rPr sz="1400" dirty="0"/>
              <a:t>• Operated as Scrum Master (PSM I), facilitating retrospectives, daily scrums, and backlog grooming.</a:t>
            </a:r>
          </a:p>
          <a:p>
            <a:pPr>
              <a:spcAft>
                <a:spcPts val="600"/>
              </a:spcAft>
              <a:defRPr sz="1100">
                <a:solidFill>
                  <a:srgbClr val="64748B"/>
                </a:solidFill>
                <a:latin typeface="Calibri"/>
              </a:defRPr>
            </a:pPr>
            <a:r>
              <a:rPr sz="1400" dirty="0"/>
              <a:t>• </a:t>
            </a:r>
            <a:r>
              <a:rPr lang="en-AU" sz="1400" dirty="0"/>
              <a:t>Developed and designed a </a:t>
            </a:r>
            <a:r>
              <a:rPr lang="en-AU" sz="1400" b="1" dirty="0"/>
              <a:t>mobile response canvas app</a:t>
            </a:r>
            <a:r>
              <a:rPr sz="1400" dirty="0"/>
              <a:t> and coordinated peer reviews with secondary developers.</a:t>
            </a:r>
          </a:p>
          <a:p>
            <a:pPr>
              <a:spcAft>
                <a:spcPts val="600"/>
              </a:spcAft>
              <a:defRPr sz="1100">
                <a:solidFill>
                  <a:srgbClr val="64748B"/>
                </a:solidFill>
                <a:latin typeface="Calibri"/>
              </a:defRPr>
            </a:pPr>
            <a:r>
              <a:rPr sz="1400" dirty="0"/>
              <a:t>• Authored QA checklists and test scripts managed in the Zephyr Scale tool</a:t>
            </a:r>
            <a:r>
              <a:rPr lang="en-AU" sz="1400" dirty="0"/>
              <a:t> for automated testing</a:t>
            </a:r>
            <a:r>
              <a:rPr sz="1400" dirty="0"/>
              <a:t>.</a:t>
            </a:r>
          </a:p>
          <a:p>
            <a:pPr>
              <a:spcAft>
                <a:spcPts val="600"/>
              </a:spcAft>
              <a:defRPr sz="1100">
                <a:solidFill>
                  <a:srgbClr val="64748B"/>
                </a:solidFill>
                <a:latin typeface="Calibri"/>
              </a:defRPr>
            </a:pPr>
            <a:r>
              <a:rPr sz="1400" dirty="0"/>
              <a:t>• </a:t>
            </a:r>
            <a:r>
              <a:rPr lang="en-AU" sz="1400" dirty="0"/>
              <a:t>Fix bug </a:t>
            </a:r>
            <a:r>
              <a:rPr sz="1400" dirty="0"/>
              <a:t>and </a:t>
            </a:r>
            <a:r>
              <a:rPr lang="en-AU" sz="1400" dirty="0"/>
              <a:t>deploy solutions to coordinate </a:t>
            </a:r>
            <a:r>
              <a:rPr sz="1400" dirty="0"/>
              <a:t>UAT</a:t>
            </a:r>
            <a:r>
              <a:rPr lang="en-AU" sz="1400" dirty="0"/>
              <a:t> testing by end-users to sign-off for production release. </a:t>
            </a:r>
            <a:endParaRPr sz="1400" dirty="0"/>
          </a:p>
        </p:txBody>
      </p:sp>
      <p:sp>
        <p:nvSpPr>
          <p:cNvPr id="7" name="Rounded Rectangle 6"/>
          <p:cNvSpPr/>
          <p:nvPr/>
        </p:nvSpPr>
        <p:spPr>
          <a:xfrm>
            <a:off x="8138160" y="2000250"/>
            <a:ext cx="3474720" cy="451231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600"/>
              </a:spcAft>
              <a:defRPr sz="1100" b="1">
                <a:solidFill>
                  <a:srgbClr val="00C49F"/>
                </a:solidFill>
                <a:latin typeface="Calibri"/>
              </a:defRPr>
            </a:pPr>
            <a:r>
              <a:rPr sz="1400" dirty="0"/>
              <a:t>3. ALM</a:t>
            </a:r>
            <a:r>
              <a:rPr lang="en-AU" sz="1400" dirty="0"/>
              <a:t> </a:t>
            </a:r>
            <a:r>
              <a:rPr sz="1400" dirty="0"/>
              <a:t> DEPLOYMENT </a:t>
            </a:r>
            <a:r>
              <a:rPr lang="en-AU" sz="1400" dirty="0"/>
              <a:t>&amp; POST SUPPORT</a:t>
            </a:r>
            <a:endParaRPr sz="1400" dirty="0"/>
          </a:p>
          <a:p>
            <a:pPr>
              <a:spcAft>
                <a:spcPts val="1200"/>
              </a:spcAft>
              <a:defRPr sz="1500" b="1">
                <a:solidFill>
                  <a:srgbClr val="0A192F"/>
                </a:solidFill>
                <a:latin typeface="Georgia"/>
              </a:defRPr>
            </a:pPr>
            <a:r>
              <a:rPr sz="1400" dirty="0"/>
              <a:t>Environment Staging &amp; Helpdesk Handover</a:t>
            </a:r>
          </a:p>
          <a:p>
            <a:pPr>
              <a:spcAft>
                <a:spcPts val="600"/>
              </a:spcAft>
              <a:defRPr sz="1100">
                <a:solidFill>
                  <a:srgbClr val="64748B"/>
                </a:solidFill>
                <a:latin typeface="Calibri"/>
              </a:defRPr>
            </a:pPr>
            <a:r>
              <a:rPr sz="1400" dirty="0"/>
              <a:t>• </a:t>
            </a:r>
            <a:r>
              <a:rPr lang="en-AU" sz="1400" dirty="0"/>
              <a:t>Published user manual documentations and conducted end-user training.</a:t>
            </a:r>
            <a:endParaRPr sz="1400" dirty="0"/>
          </a:p>
          <a:p>
            <a:pPr>
              <a:spcAft>
                <a:spcPts val="600"/>
              </a:spcAft>
              <a:defRPr sz="1100">
                <a:solidFill>
                  <a:srgbClr val="64748B"/>
                </a:solidFill>
                <a:latin typeface="Calibri"/>
              </a:defRPr>
            </a:pPr>
            <a:r>
              <a:rPr sz="1400" dirty="0"/>
              <a:t>• Created deployment guides to manage environment transition.</a:t>
            </a:r>
          </a:p>
          <a:p>
            <a:pPr>
              <a:spcAft>
                <a:spcPts val="600"/>
              </a:spcAft>
              <a:defRPr sz="1100">
                <a:solidFill>
                  <a:srgbClr val="64748B"/>
                </a:solidFill>
                <a:latin typeface="Calibri"/>
              </a:defRPr>
            </a:pPr>
            <a:r>
              <a:rPr sz="1400" dirty="0"/>
              <a:t>• Produced approved Service Definition and Transition checklists for BAU operations.</a:t>
            </a:r>
          </a:p>
          <a:p>
            <a:pPr>
              <a:spcAft>
                <a:spcPts val="600"/>
              </a:spcAft>
              <a:defRPr sz="1100">
                <a:solidFill>
                  <a:srgbClr val="64748B"/>
                </a:solidFill>
                <a:latin typeface="Calibri"/>
              </a:defRPr>
            </a:pPr>
            <a:r>
              <a:rPr sz="1400" dirty="0"/>
              <a:t>• Conducted hand over Level 1 support to the Helpdesk team.</a:t>
            </a:r>
          </a:p>
        </p:txBody>
      </p:sp>
      <p:pic>
        <p:nvPicPr>
          <p:cNvPr id="11" name="Picture 10">
            <a:extLst>
              <a:ext uri="{FF2B5EF4-FFF2-40B4-BE49-F238E27FC236}">
                <a16:creationId xmlns:a16="http://schemas.microsoft.com/office/drawing/2014/main" id="{BF7F87CD-7F16-832F-D3E6-1BC6AE604FFA}"/>
              </a:ext>
            </a:extLst>
          </p:cNvPr>
          <p:cNvPicPr>
            <a:picLocks noChangeAspect="1"/>
          </p:cNvPicPr>
          <p:nvPr/>
        </p:nvPicPr>
        <p:blipFill>
          <a:blip r:embed="rId3"/>
          <a:stretch>
            <a:fillRect/>
          </a:stretch>
        </p:blipFill>
        <p:spPr>
          <a:xfrm>
            <a:off x="2758203" y="1490041"/>
            <a:ext cx="6411220" cy="371527"/>
          </a:xfrm>
          <a:prstGeom prst="rect">
            <a:avLst/>
          </a:prstGeom>
        </p:spPr>
      </p:pic>
      <p:pic>
        <p:nvPicPr>
          <p:cNvPr id="15" name="Picture 14">
            <a:extLst>
              <a:ext uri="{FF2B5EF4-FFF2-40B4-BE49-F238E27FC236}">
                <a16:creationId xmlns:a16="http://schemas.microsoft.com/office/drawing/2014/main" id="{F6974511-EFA4-2CC9-F60F-654D1EDB6D5E}"/>
              </a:ext>
            </a:extLst>
          </p:cNvPr>
          <p:cNvPicPr>
            <a:picLocks noChangeAspect="1"/>
          </p:cNvPicPr>
          <p:nvPr/>
        </p:nvPicPr>
        <p:blipFill>
          <a:blip r:embed="rId4"/>
          <a:stretch>
            <a:fillRect/>
          </a:stretch>
        </p:blipFill>
        <p:spPr>
          <a:xfrm>
            <a:off x="457200" y="1987298"/>
            <a:ext cx="561011" cy="611502"/>
          </a:xfrm>
          <a:prstGeom prst="rect">
            <a:avLst/>
          </a:prstGeom>
        </p:spPr>
      </p:pic>
      <p:pic>
        <p:nvPicPr>
          <p:cNvPr id="17" name="Picture 16">
            <a:extLst>
              <a:ext uri="{FF2B5EF4-FFF2-40B4-BE49-F238E27FC236}">
                <a16:creationId xmlns:a16="http://schemas.microsoft.com/office/drawing/2014/main" id="{0B649606-F552-02EE-EF6E-E07290DEB560}"/>
              </a:ext>
            </a:extLst>
          </p:cNvPr>
          <p:cNvPicPr>
            <a:picLocks noChangeAspect="1"/>
          </p:cNvPicPr>
          <p:nvPr/>
        </p:nvPicPr>
        <p:blipFill>
          <a:blip r:embed="rId5"/>
          <a:stretch>
            <a:fillRect/>
          </a:stretch>
        </p:blipFill>
        <p:spPr>
          <a:xfrm>
            <a:off x="4286250" y="1998728"/>
            <a:ext cx="540795" cy="573904"/>
          </a:xfrm>
          <a:prstGeom prst="rect">
            <a:avLst/>
          </a:prstGeom>
        </p:spPr>
      </p:pic>
      <p:pic>
        <p:nvPicPr>
          <p:cNvPr id="22" name="Picture 21">
            <a:extLst>
              <a:ext uri="{FF2B5EF4-FFF2-40B4-BE49-F238E27FC236}">
                <a16:creationId xmlns:a16="http://schemas.microsoft.com/office/drawing/2014/main" id="{7720BA80-9E96-A856-E705-A49B56CDFFAC}"/>
              </a:ext>
            </a:extLst>
          </p:cNvPr>
          <p:cNvPicPr>
            <a:picLocks noChangeAspect="1"/>
          </p:cNvPicPr>
          <p:nvPr/>
        </p:nvPicPr>
        <p:blipFill>
          <a:blip r:embed="rId6"/>
          <a:stretch>
            <a:fillRect/>
          </a:stretch>
        </p:blipFill>
        <p:spPr>
          <a:xfrm>
            <a:off x="8106514" y="1987298"/>
            <a:ext cx="540795" cy="514796"/>
          </a:xfrm>
          <a:prstGeom prst="rect">
            <a:avLst/>
          </a:prstGeom>
        </p:spPr>
      </p:pic>
      <p:pic>
        <p:nvPicPr>
          <p:cNvPr id="26" name="Picture 25">
            <a:extLst>
              <a:ext uri="{FF2B5EF4-FFF2-40B4-BE49-F238E27FC236}">
                <a16:creationId xmlns:a16="http://schemas.microsoft.com/office/drawing/2014/main" id="{787B4DF9-BBDA-9BC3-DDC9-42D44AEECA3E}"/>
              </a:ext>
            </a:extLst>
          </p:cNvPr>
          <p:cNvPicPr>
            <a:picLocks noChangeAspect="1"/>
          </p:cNvPicPr>
          <p:nvPr/>
        </p:nvPicPr>
        <p:blipFill>
          <a:blip r:embed="rId7"/>
          <a:stretch>
            <a:fillRect/>
          </a:stretch>
        </p:blipFill>
        <p:spPr>
          <a:xfrm>
            <a:off x="9019427" y="311150"/>
            <a:ext cx="3172268" cy="84784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a:extLst>
            <a:ext uri="{FF2B5EF4-FFF2-40B4-BE49-F238E27FC236}">
              <a16:creationId xmlns:a16="http://schemas.microsoft.com/office/drawing/2014/main" id="{3D0FD491-4A7B-EE13-C479-4895E530948B}"/>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71D6A1E1-5686-A873-1097-08FD5190D23D}"/>
              </a:ext>
            </a:extLst>
          </p:cNvPr>
          <p:cNvSpPr/>
          <p:nvPr/>
        </p:nvSpPr>
        <p:spPr>
          <a:xfrm>
            <a:off x="0" y="0"/>
            <a:ext cx="12192000" cy="6892290"/>
          </a:xfrm>
          <a:prstGeom prst="rect">
            <a:avLst/>
          </a:prstGeom>
          <a:solidFill>
            <a:srgbClr val="071B33"/>
          </a:solidFill>
          <a:ln w="12700">
            <a:solidFill>
              <a:srgbClr val="333333">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 name="TextBox 1">
            <a:extLst>
              <a:ext uri="{FF2B5EF4-FFF2-40B4-BE49-F238E27FC236}">
                <a16:creationId xmlns:a16="http://schemas.microsoft.com/office/drawing/2014/main" id="{F4EF0F4C-BF6C-AEE9-1163-8EC4AF32ED8B}"/>
              </a:ext>
            </a:extLst>
          </p:cNvPr>
          <p:cNvSpPr txBox="1"/>
          <p:nvPr/>
        </p:nvSpPr>
        <p:spPr>
          <a:xfrm>
            <a:off x="457200" y="274320"/>
            <a:ext cx="11277295" cy="369332"/>
          </a:xfrm>
          <a:prstGeom prst="rect">
            <a:avLst/>
          </a:prstGeom>
          <a:noFill/>
        </p:spPr>
        <p:txBody>
          <a:bodyPr wrap="square" lIns="0" tIns="0" rIns="0" bIns="0">
            <a:spAutoFit/>
          </a:bodyPr>
          <a:lstStyle/>
          <a:p>
            <a:pPr>
              <a:defRPr sz="2400" b="1">
                <a:solidFill>
                  <a:srgbClr val="0A192F"/>
                </a:solidFill>
                <a:latin typeface="Georgia"/>
              </a:defRPr>
            </a:pPr>
            <a:r>
              <a:rPr lang="en-AU" dirty="0">
                <a:solidFill>
                  <a:schemeClr val="bg1"/>
                </a:solidFill>
              </a:rPr>
              <a:t>Dataverse Normalisation Strategy</a:t>
            </a:r>
            <a:endParaRPr dirty="0">
              <a:solidFill>
                <a:schemeClr val="bg1"/>
              </a:solidFill>
            </a:endParaRPr>
          </a:p>
        </p:txBody>
      </p:sp>
      <p:sp>
        <p:nvSpPr>
          <p:cNvPr id="3" name="TextBox 2">
            <a:extLst>
              <a:ext uri="{FF2B5EF4-FFF2-40B4-BE49-F238E27FC236}">
                <a16:creationId xmlns:a16="http://schemas.microsoft.com/office/drawing/2014/main" id="{651E535C-742C-1B49-201C-81BBBB8B4DA4}"/>
              </a:ext>
            </a:extLst>
          </p:cNvPr>
          <p:cNvSpPr txBox="1"/>
          <p:nvPr/>
        </p:nvSpPr>
        <p:spPr>
          <a:xfrm>
            <a:off x="457201" y="914400"/>
            <a:ext cx="6343650" cy="307777"/>
          </a:xfrm>
          <a:prstGeom prst="rect">
            <a:avLst/>
          </a:prstGeom>
          <a:noFill/>
        </p:spPr>
        <p:txBody>
          <a:bodyPr wrap="square" lIns="0" tIns="0" rIns="0" bIns="0">
            <a:spAutoFit/>
          </a:bodyPr>
          <a:lstStyle/>
          <a:p>
            <a:pPr>
              <a:defRPr sz="1200" b="1">
                <a:solidFill>
                  <a:srgbClr val="00C49F"/>
                </a:solidFill>
                <a:latin typeface="Calibri"/>
              </a:defRPr>
            </a:pPr>
            <a:r>
              <a:rPr lang="en-AU" sz="2000" dirty="0">
                <a:solidFill>
                  <a:srgbClr val="F6C514"/>
                </a:solidFill>
              </a:rPr>
              <a:t>Pillar 3: </a:t>
            </a:r>
            <a:r>
              <a:rPr sz="2000" dirty="0">
                <a:solidFill>
                  <a:srgbClr val="F6C514"/>
                </a:solidFill>
              </a:rPr>
              <a:t>THE ARCHITECTURAL BLUEPRINT (THE SOLUTION)</a:t>
            </a:r>
          </a:p>
        </p:txBody>
      </p:sp>
      <p:sp>
        <p:nvSpPr>
          <p:cNvPr id="4" name="Rectangle 3">
            <a:extLst>
              <a:ext uri="{FF2B5EF4-FFF2-40B4-BE49-F238E27FC236}">
                <a16:creationId xmlns:a16="http://schemas.microsoft.com/office/drawing/2014/main" id="{40BE3687-747C-9581-BAEB-6949EB403C14}"/>
              </a:ext>
            </a:extLst>
          </p:cNvPr>
          <p:cNvSpPr/>
          <p:nvPr/>
        </p:nvSpPr>
        <p:spPr>
          <a:xfrm>
            <a:off x="457200" y="1417320"/>
            <a:ext cx="11277295" cy="25400"/>
          </a:xfrm>
          <a:prstGeom prst="rect">
            <a:avLst/>
          </a:prstGeom>
          <a:solidFill>
            <a:srgbClr val="F6C5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a:extLst>
              <a:ext uri="{FF2B5EF4-FFF2-40B4-BE49-F238E27FC236}">
                <a16:creationId xmlns:a16="http://schemas.microsoft.com/office/drawing/2014/main" id="{1AA18BDF-6285-8BE5-C3D6-D7291B172C29}"/>
              </a:ext>
            </a:extLst>
          </p:cNvPr>
          <p:cNvSpPr/>
          <p:nvPr/>
        </p:nvSpPr>
        <p:spPr>
          <a:xfrm>
            <a:off x="5923870" y="2664256"/>
            <a:ext cx="6007913" cy="418856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200" b="1">
                <a:solidFill>
                  <a:srgbClr val="00C49F"/>
                </a:solidFill>
                <a:latin typeface="Calibri"/>
              </a:defRPr>
            </a:pPr>
            <a:r>
              <a:rPr sz="1400" dirty="0">
                <a:solidFill>
                  <a:srgbClr val="F6C514"/>
                </a:solidFill>
              </a:rPr>
              <a:t>PLATFORM GOVERNANCE &amp; SECURITY</a:t>
            </a:r>
          </a:p>
          <a:p>
            <a:pPr>
              <a:spcAft>
                <a:spcPts val="1000"/>
              </a:spcAft>
              <a:defRPr sz="2000" b="1">
                <a:solidFill>
                  <a:srgbClr val="FAF9F6"/>
                </a:solidFill>
                <a:latin typeface="Georgia"/>
              </a:defRPr>
            </a:pPr>
            <a:r>
              <a:rPr sz="1400" dirty="0"/>
              <a:t>Hardened Security Staging</a:t>
            </a:r>
          </a:p>
          <a:p>
            <a:pPr>
              <a:spcBef>
                <a:spcPts val="300"/>
              </a:spcBef>
              <a:defRPr sz="1100" b="1">
                <a:solidFill>
                  <a:srgbClr val="FAF9F6"/>
                </a:solidFill>
                <a:latin typeface="Calibri"/>
              </a:defRPr>
            </a:pPr>
            <a:r>
              <a:rPr sz="1200" dirty="0">
                <a:solidFill>
                  <a:srgbClr val="F6C514"/>
                </a:solidFill>
              </a:rPr>
              <a:t>Custom Dataverse Role (Basic User - MWPSOL-141):</a:t>
            </a:r>
          </a:p>
          <a:p>
            <a:r>
              <a:rPr lang="en-AU" sz="1400" dirty="0">
                <a:solidFill>
                  <a:schemeClr val="bg1"/>
                </a:solidFill>
              </a:rPr>
              <a:t>Followed a </a:t>
            </a:r>
            <a:r>
              <a:rPr lang="en-AU" sz="1400" b="1" dirty="0">
                <a:solidFill>
                  <a:schemeClr val="bg1"/>
                </a:solidFill>
              </a:rPr>
              <a:t>'Least Privilege' model -</a:t>
            </a:r>
            <a:r>
              <a:rPr lang="en-AU" sz="1400" dirty="0">
                <a:solidFill>
                  <a:schemeClr val="bg1"/>
                </a:solidFill>
              </a:rPr>
              <a:t>  Created a custom role called </a:t>
            </a:r>
            <a:r>
              <a:rPr lang="en-AU" sz="1400" b="1" dirty="0">
                <a:solidFill>
                  <a:schemeClr val="bg1"/>
                </a:solidFill>
              </a:rPr>
              <a:t>'Basic User - MWPSOL-141'</a:t>
            </a:r>
            <a:r>
              <a:rPr lang="en-AU" sz="1400" dirty="0">
                <a:solidFill>
                  <a:schemeClr val="bg1"/>
                </a:solidFill>
              </a:rPr>
              <a:t> by cloning the standard base role and hardening it. This restricted the </a:t>
            </a:r>
            <a:r>
              <a:rPr lang="en-AU" sz="1400" b="1" dirty="0">
                <a:solidFill>
                  <a:schemeClr val="bg1"/>
                </a:solidFill>
              </a:rPr>
              <a:t>Delete</a:t>
            </a:r>
            <a:r>
              <a:rPr lang="en-AU" sz="1400" dirty="0">
                <a:solidFill>
                  <a:schemeClr val="bg1"/>
                </a:solidFill>
              </a:rPr>
              <a:t> and </a:t>
            </a:r>
            <a:r>
              <a:rPr lang="en-AU" sz="1400" b="1" dirty="0">
                <a:solidFill>
                  <a:schemeClr val="bg1"/>
                </a:solidFill>
              </a:rPr>
              <a:t>Share</a:t>
            </a:r>
            <a:r>
              <a:rPr lang="en-AU" sz="1400" dirty="0">
                <a:solidFill>
                  <a:schemeClr val="bg1"/>
                </a:solidFill>
              </a:rPr>
              <a:t> permissions on the Inspection tables to protect PII.  This ensured that only members of the verified AD Security Group could interact with the data, which is the same level of compliance rigor I’d apply to the client's SaaS environment.</a:t>
            </a:r>
          </a:p>
          <a:p>
            <a:endParaRPr lang="en-AU" sz="1200" dirty="0"/>
          </a:p>
          <a:p>
            <a:pPr>
              <a:spcBef>
                <a:spcPts val="300"/>
              </a:spcBef>
              <a:defRPr sz="1100" b="1">
                <a:solidFill>
                  <a:srgbClr val="FAF9F6"/>
                </a:solidFill>
                <a:latin typeface="Calibri"/>
              </a:defRPr>
            </a:pPr>
            <a:r>
              <a:rPr lang="en-AU" sz="1200" b="1" dirty="0">
                <a:solidFill>
                  <a:srgbClr val="F6C514"/>
                </a:solidFill>
              </a:rPr>
              <a:t>Question &amp; Inspection Summary Table</a:t>
            </a:r>
            <a:r>
              <a:rPr sz="1200" dirty="0">
                <a:solidFill>
                  <a:srgbClr val="F6C514"/>
                </a:solidFill>
              </a:rPr>
              <a:t>:</a:t>
            </a:r>
          </a:p>
          <a:p>
            <a:pPr>
              <a:spcAft>
                <a:spcPts val="600"/>
              </a:spcAft>
              <a:defRPr sz="1050">
                <a:solidFill>
                  <a:srgbClr val="00C49F"/>
                </a:solidFill>
                <a:latin typeface="Calibri"/>
              </a:defRPr>
            </a:pPr>
            <a:r>
              <a:rPr lang="en-AU" sz="1400" dirty="0">
                <a:solidFill>
                  <a:schemeClr val="bg1"/>
                </a:solidFill>
              </a:rPr>
              <a:t>Granted </a:t>
            </a:r>
            <a:r>
              <a:rPr lang="en-AU" sz="1400" b="1" dirty="0">
                <a:solidFill>
                  <a:schemeClr val="bg1"/>
                </a:solidFill>
              </a:rPr>
              <a:t>User-level </a:t>
            </a:r>
            <a:r>
              <a:rPr lang="en-AU" sz="1400" dirty="0">
                <a:solidFill>
                  <a:schemeClr val="bg1"/>
                </a:solidFill>
              </a:rPr>
              <a:t>access of </a:t>
            </a:r>
            <a:r>
              <a:rPr lang="en-AU" sz="1400" b="1" dirty="0">
                <a:solidFill>
                  <a:schemeClr val="bg1"/>
                </a:solidFill>
              </a:rPr>
              <a:t>Create &amp; write for users who own the records they create are assigned to the basic user security role</a:t>
            </a:r>
            <a:r>
              <a:rPr lang="en-AU" sz="1400" dirty="0">
                <a:solidFill>
                  <a:schemeClr val="bg1"/>
                </a:solidFill>
              </a:rPr>
              <a:t>. The organisation (every other user else in the basic user security role) will have read access to every record, but no one is allowed to delete the records. This ensured that a patrol member could create and edit their own inspections but couldn't necessarily delete records or view inspections from unrelated departments.</a:t>
            </a:r>
          </a:p>
          <a:p>
            <a:pPr>
              <a:spcAft>
                <a:spcPts val="600"/>
              </a:spcAft>
              <a:defRPr sz="1050">
                <a:solidFill>
                  <a:srgbClr val="00C49F"/>
                </a:solidFill>
                <a:latin typeface="Calibri"/>
              </a:defRPr>
            </a:pPr>
            <a:endParaRPr sz="1200" dirty="0"/>
          </a:p>
        </p:txBody>
      </p:sp>
      <p:sp>
        <p:nvSpPr>
          <p:cNvPr id="9" name="Rounded Rectangle 5">
            <a:extLst>
              <a:ext uri="{FF2B5EF4-FFF2-40B4-BE49-F238E27FC236}">
                <a16:creationId xmlns:a16="http://schemas.microsoft.com/office/drawing/2014/main" id="{1F453000-5B3E-A8DE-8BF0-22B35C548753}"/>
              </a:ext>
            </a:extLst>
          </p:cNvPr>
          <p:cNvSpPr/>
          <p:nvPr/>
        </p:nvSpPr>
        <p:spPr>
          <a:xfrm>
            <a:off x="405619" y="1579880"/>
            <a:ext cx="11328875" cy="853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defRPr sz="1100">
                <a:solidFill>
                  <a:srgbClr val="0A192F"/>
                </a:solidFill>
                <a:latin typeface="Calibri"/>
              </a:defRPr>
            </a:pPr>
            <a:r>
              <a:rPr lang="en-AU" sz="1400" dirty="0"/>
              <a:t>Architect the VIA project using this *normalised 5 </a:t>
            </a:r>
            <a:r>
              <a:rPr lang="en-AU" sz="1400" b="1" dirty="0"/>
              <a:t>Dataverse tables</a:t>
            </a:r>
            <a:r>
              <a:rPr lang="en-AU" sz="1400" dirty="0"/>
              <a:t> relational model to </a:t>
            </a:r>
            <a:r>
              <a:rPr lang="en-AU" sz="1400" b="1" dirty="0"/>
              <a:t>ensure the VIA product could scale to 200,000+ records without performance degradation</a:t>
            </a:r>
            <a:r>
              <a:rPr lang="en-AU" sz="1400" dirty="0"/>
              <a:t>. By separating </a:t>
            </a:r>
            <a:r>
              <a:rPr lang="en-AU" sz="1400" b="1" dirty="0"/>
              <a:t>Questions</a:t>
            </a:r>
            <a:r>
              <a:rPr lang="en-AU" sz="1400" dirty="0"/>
              <a:t> from </a:t>
            </a:r>
            <a:r>
              <a:rPr lang="en-AU" sz="1400" b="1" dirty="0"/>
              <a:t>Responses table</a:t>
            </a:r>
            <a:r>
              <a:rPr lang="en-AU" sz="1400" dirty="0"/>
              <a:t>, David made the system 'Future-Proof.' If a user needs to add a new checklist question tomorrow, they don't need a developer to change the UI; they just add a row to the </a:t>
            </a:r>
            <a:r>
              <a:rPr lang="en-AU" sz="1400" b="1" dirty="0"/>
              <a:t>Questions Table</a:t>
            </a:r>
            <a:r>
              <a:rPr lang="en-AU" sz="1400" dirty="0"/>
              <a:t>. This reduces technical debt and ensures the </a:t>
            </a:r>
            <a:r>
              <a:rPr lang="en-AU" sz="1400" b="1" dirty="0"/>
              <a:t>new question added in question table is auto populated into the canvas app.</a:t>
            </a:r>
            <a:endParaRPr sz="1400" dirty="0"/>
          </a:p>
        </p:txBody>
      </p:sp>
      <p:pic>
        <p:nvPicPr>
          <p:cNvPr id="11" name="Picture 10">
            <a:extLst>
              <a:ext uri="{FF2B5EF4-FFF2-40B4-BE49-F238E27FC236}">
                <a16:creationId xmlns:a16="http://schemas.microsoft.com/office/drawing/2014/main" id="{44D10047-5C74-D309-97E1-F10F58E1E326}"/>
              </a:ext>
            </a:extLst>
          </p:cNvPr>
          <p:cNvPicPr>
            <a:picLocks noChangeAspect="1"/>
          </p:cNvPicPr>
          <p:nvPr/>
        </p:nvPicPr>
        <p:blipFill>
          <a:blip r:embed="rId3"/>
          <a:stretch>
            <a:fillRect/>
          </a:stretch>
        </p:blipFill>
        <p:spPr>
          <a:xfrm>
            <a:off x="405619" y="2544978"/>
            <a:ext cx="5518251" cy="3890112"/>
          </a:xfrm>
          <a:prstGeom prst="rect">
            <a:avLst/>
          </a:prstGeom>
        </p:spPr>
      </p:pic>
      <p:pic>
        <p:nvPicPr>
          <p:cNvPr id="15" name="Picture 14">
            <a:extLst>
              <a:ext uri="{FF2B5EF4-FFF2-40B4-BE49-F238E27FC236}">
                <a16:creationId xmlns:a16="http://schemas.microsoft.com/office/drawing/2014/main" id="{21668FF9-8B14-80F1-9EE9-0E63FFFAB4BC}"/>
              </a:ext>
            </a:extLst>
          </p:cNvPr>
          <p:cNvPicPr>
            <a:picLocks noChangeAspect="1"/>
          </p:cNvPicPr>
          <p:nvPr/>
        </p:nvPicPr>
        <p:blipFill>
          <a:blip r:embed="rId4"/>
          <a:stretch>
            <a:fillRect/>
          </a:stretch>
        </p:blipFill>
        <p:spPr>
          <a:xfrm>
            <a:off x="405619" y="6407158"/>
            <a:ext cx="5518250" cy="513064"/>
          </a:xfrm>
          <a:prstGeom prst="rect">
            <a:avLst/>
          </a:prstGeom>
        </p:spPr>
      </p:pic>
      <p:pic>
        <p:nvPicPr>
          <p:cNvPr id="19" name="Picture 18">
            <a:extLst>
              <a:ext uri="{FF2B5EF4-FFF2-40B4-BE49-F238E27FC236}">
                <a16:creationId xmlns:a16="http://schemas.microsoft.com/office/drawing/2014/main" id="{912D9820-06AE-7A60-3533-4084F82693F6}"/>
              </a:ext>
            </a:extLst>
          </p:cNvPr>
          <p:cNvPicPr>
            <a:picLocks noChangeAspect="1"/>
          </p:cNvPicPr>
          <p:nvPr/>
        </p:nvPicPr>
        <p:blipFill>
          <a:blip r:embed="rId5"/>
          <a:stretch>
            <a:fillRect/>
          </a:stretch>
        </p:blipFill>
        <p:spPr>
          <a:xfrm>
            <a:off x="8096830" y="274321"/>
            <a:ext cx="3637665" cy="1006854"/>
          </a:xfrm>
          <a:prstGeom prst="rect">
            <a:avLst/>
          </a:prstGeom>
        </p:spPr>
      </p:pic>
    </p:spTree>
    <p:extLst>
      <p:ext uri="{BB962C8B-B14F-4D97-AF65-F5344CB8AC3E}">
        <p14:creationId xmlns:p14="http://schemas.microsoft.com/office/powerpoint/2010/main" val="1072702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a:extLst>
            <a:ext uri="{FF2B5EF4-FFF2-40B4-BE49-F238E27FC236}">
              <a16:creationId xmlns:a16="http://schemas.microsoft.com/office/drawing/2014/main" id="{DC528359-1E47-D564-D96F-B53212FCE87B}"/>
            </a:ext>
          </a:extLst>
        </p:cNvPr>
        <p:cNvGrpSpPr/>
        <p:nvPr/>
      </p:nvGrpSpPr>
      <p:grpSpPr>
        <a:xfrm>
          <a:off x="0" y="0"/>
          <a:ext cx="0" cy="0"/>
          <a:chOff x="0" y="0"/>
          <a:chExt cx="0" cy="0"/>
        </a:xfrm>
      </p:grpSpPr>
      <p:sp>
        <p:nvSpPr>
          <p:cNvPr id="7" name="Shape 0">
            <a:extLst>
              <a:ext uri="{FF2B5EF4-FFF2-40B4-BE49-F238E27FC236}">
                <a16:creationId xmlns:a16="http://schemas.microsoft.com/office/drawing/2014/main" id="{CDAFD631-42A2-34AC-0485-82A40710B0D8}"/>
              </a:ext>
            </a:extLst>
          </p:cNvPr>
          <p:cNvSpPr/>
          <p:nvPr/>
        </p:nvSpPr>
        <p:spPr>
          <a:xfrm>
            <a:off x="0" y="0"/>
            <a:ext cx="12192000" cy="6892290"/>
          </a:xfrm>
          <a:prstGeom prst="rect">
            <a:avLst/>
          </a:prstGeom>
          <a:solidFill>
            <a:srgbClr val="071B33"/>
          </a:solidFill>
          <a:ln w="12700">
            <a:solidFill>
              <a:srgbClr val="333333">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 name="TextBox 1">
            <a:extLst>
              <a:ext uri="{FF2B5EF4-FFF2-40B4-BE49-F238E27FC236}">
                <a16:creationId xmlns:a16="http://schemas.microsoft.com/office/drawing/2014/main" id="{63200E05-EAA8-7D55-625E-317EF7645C13}"/>
              </a:ext>
            </a:extLst>
          </p:cNvPr>
          <p:cNvSpPr txBox="1"/>
          <p:nvPr/>
        </p:nvSpPr>
        <p:spPr>
          <a:xfrm>
            <a:off x="457200" y="274320"/>
            <a:ext cx="11277295" cy="369332"/>
          </a:xfrm>
          <a:prstGeom prst="rect">
            <a:avLst/>
          </a:prstGeom>
          <a:noFill/>
        </p:spPr>
        <p:txBody>
          <a:bodyPr wrap="square" lIns="0" tIns="0" rIns="0" bIns="0">
            <a:spAutoFit/>
          </a:bodyPr>
          <a:lstStyle/>
          <a:p>
            <a:pPr>
              <a:defRPr sz="2400" b="1">
                <a:solidFill>
                  <a:srgbClr val="0A192F"/>
                </a:solidFill>
                <a:latin typeface="Georgia"/>
              </a:defRPr>
            </a:pPr>
            <a:r>
              <a:rPr lang="en-AU" dirty="0">
                <a:solidFill>
                  <a:schemeClr val="bg1"/>
                </a:solidFill>
              </a:rPr>
              <a:t>Dataverse Normalisation Strategy</a:t>
            </a:r>
            <a:endParaRPr dirty="0">
              <a:solidFill>
                <a:schemeClr val="bg1"/>
              </a:solidFill>
            </a:endParaRPr>
          </a:p>
        </p:txBody>
      </p:sp>
      <p:sp>
        <p:nvSpPr>
          <p:cNvPr id="3" name="TextBox 2">
            <a:extLst>
              <a:ext uri="{FF2B5EF4-FFF2-40B4-BE49-F238E27FC236}">
                <a16:creationId xmlns:a16="http://schemas.microsoft.com/office/drawing/2014/main" id="{70C9C2ED-3ABB-1860-E393-45E7099270D8}"/>
              </a:ext>
            </a:extLst>
          </p:cNvPr>
          <p:cNvSpPr txBox="1"/>
          <p:nvPr/>
        </p:nvSpPr>
        <p:spPr>
          <a:xfrm>
            <a:off x="457200" y="914400"/>
            <a:ext cx="11277295" cy="307777"/>
          </a:xfrm>
          <a:prstGeom prst="rect">
            <a:avLst/>
          </a:prstGeom>
          <a:noFill/>
        </p:spPr>
        <p:txBody>
          <a:bodyPr wrap="square" lIns="0" tIns="0" rIns="0" bIns="0">
            <a:spAutoFit/>
          </a:bodyPr>
          <a:lstStyle/>
          <a:p>
            <a:pPr>
              <a:defRPr sz="1200" b="1">
                <a:solidFill>
                  <a:srgbClr val="00C49F"/>
                </a:solidFill>
                <a:latin typeface="Calibri"/>
              </a:defRPr>
            </a:pPr>
            <a:r>
              <a:rPr lang="en-AU" sz="2000" dirty="0">
                <a:solidFill>
                  <a:srgbClr val="F6C514"/>
                </a:solidFill>
              </a:rPr>
              <a:t>Pillar 3.1 : </a:t>
            </a:r>
            <a:r>
              <a:rPr sz="2000" dirty="0">
                <a:solidFill>
                  <a:srgbClr val="F6C514"/>
                </a:solidFill>
              </a:rPr>
              <a:t>THE ARCHITECTURAL BLUEPRINT (THE SOLUTION)</a:t>
            </a:r>
          </a:p>
        </p:txBody>
      </p:sp>
      <p:sp>
        <p:nvSpPr>
          <p:cNvPr id="4" name="Rectangle 3">
            <a:extLst>
              <a:ext uri="{FF2B5EF4-FFF2-40B4-BE49-F238E27FC236}">
                <a16:creationId xmlns:a16="http://schemas.microsoft.com/office/drawing/2014/main" id="{EF9522F7-1480-B7B2-6C0E-0C7005A4C06C}"/>
              </a:ext>
            </a:extLst>
          </p:cNvPr>
          <p:cNvSpPr/>
          <p:nvPr/>
        </p:nvSpPr>
        <p:spPr>
          <a:xfrm>
            <a:off x="457200" y="1417320"/>
            <a:ext cx="11277295" cy="25400"/>
          </a:xfrm>
          <a:prstGeom prst="rect">
            <a:avLst/>
          </a:prstGeom>
          <a:solidFill>
            <a:srgbClr val="F6C5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a:extLst>
              <a:ext uri="{FF2B5EF4-FFF2-40B4-BE49-F238E27FC236}">
                <a16:creationId xmlns:a16="http://schemas.microsoft.com/office/drawing/2014/main" id="{ED876C36-9FA7-33F0-D6AD-E5BEB19B3EFC}"/>
              </a:ext>
            </a:extLst>
          </p:cNvPr>
          <p:cNvSpPr/>
          <p:nvPr/>
        </p:nvSpPr>
        <p:spPr>
          <a:xfrm>
            <a:off x="165507" y="1492925"/>
            <a:ext cx="4584294" cy="3396575"/>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200" b="1">
                <a:solidFill>
                  <a:srgbClr val="00C49F"/>
                </a:solidFill>
                <a:latin typeface="Calibri"/>
              </a:defRPr>
            </a:pPr>
            <a:r>
              <a:rPr sz="1600" dirty="0">
                <a:solidFill>
                  <a:schemeClr val="bg1"/>
                </a:solidFill>
              </a:rPr>
              <a:t>PLATFORM GOVERNANCE &amp; SECURITY</a:t>
            </a:r>
          </a:p>
          <a:p>
            <a:pPr>
              <a:spcAft>
                <a:spcPts val="1000"/>
              </a:spcAft>
              <a:defRPr sz="2000" b="1">
                <a:solidFill>
                  <a:srgbClr val="FAF9F6"/>
                </a:solidFill>
                <a:latin typeface="Georgia"/>
              </a:defRPr>
            </a:pPr>
            <a:r>
              <a:rPr sz="1600" dirty="0">
                <a:solidFill>
                  <a:srgbClr val="F6C514"/>
                </a:solidFill>
              </a:rPr>
              <a:t>Hardened Security Staging</a:t>
            </a:r>
          </a:p>
          <a:p>
            <a:pPr>
              <a:spcBef>
                <a:spcPts val="300"/>
              </a:spcBef>
              <a:defRPr sz="1100" b="1">
                <a:solidFill>
                  <a:srgbClr val="FAF9F6"/>
                </a:solidFill>
                <a:latin typeface="Calibri"/>
              </a:defRPr>
            </a:pPr>
            <a:r>
              <a:rPr lang="en-AU" sz="1400" dirty="0">
                <a:solidFill>
                  <a:srgbClr val="F6C514"/>
                </a:solidFill>
              </a:rPr>
              <a:t>Response Table:</a:t>
            </a:r>
            <a:endParaRPr sz="1400" dirty="0">
              <a:solidFill>
                <a:srgbClr val="F6C514"/>
              </a:solidFill>
            </a:endParaRPr>
          </a:p>
          <a:p>
            <a:r>
              <a:rPr lang="en-AU" sz="1400" dirty="0">
                <a:solidFill>
                  <a:schemeClr val="bg1"/>
                </a:solidFill>
              </a:rPr>
              <a:t>Grant </a:t>
            </a:r>
            <a:r>
              <a:rPr lang="en-AU" sz="1400" b="1" dirty="0">
                <a:solidFill>
                  <a:schemeClr val="bg1"/>
                </a:solidFill>
              </a:rPr>
              <a:t>User-level </a:t>
            </a:r>
            <a:r>
              <a:rPr lang="en-AU" sz="1400" dirty="0">
                <a:solidFill>
                  <a:schemeClr val="bg1"/>
                </a:solidFill>
              </a:rPr>
              <a:t>access of </a:t>
            </a:r>
            <a:r>
              <a:rPr lang="en-AU" sz="1400" b="1" dirty="0">
                <a:solidFill>
                  <a:schemeClr val="bg1"/>
                </a:solidFill>
              </a:rPr>
              <a:t>Create for users who own the records they create. </a:t>
            </a:r>
            <a:r>
              <a:rPr lang="en-AU" sz="1400" dirty="0">
                <a:solidFill>
                  <a:schemeClr val="bg1"/>
                </a:solidFill>
              </a:rPr>
              <a:t>However, every other user can read any response records and continue to update a record to continue from where the last person had saved it.</a:t>
            </a:r>
          </a:p>
          <a:p>
            <a:pPr>
              <a:spcBef>
                <a:spcPts val="300"/>
              </a:spcBef>
              <a:defRPr sz="1100" b="1">
                <a:solidFill>
                  <a:srgbClr val="FAF9F6"/>
                </a:solidFill>
                <a:latin typeface="Calibri"/>
              </a:defRPr>
            </a:pPr>
            <a:endParaRPr lang="en-AU" sz="1400" b="1" dirty="0"/>
          </a:p>
          <a:p>
            <a:pPr>
              <a:spcBef>
                <a:spcPts val="300"/>
              </a:spcBef>
              <a:defRPr sz="1100" b="1">
                <a:solidFill>
                  <a:srgbClr val="FAF9F6"/>
                </a:solidFill>
                <a:latin typeface="Calibri"/>
              </a:defRPr>
            </a:pPr>
            <a:r>
              <a:rPr lang="en-AU" sz="1400" b="1" dirty="0">
                <a:solidFill>
                  <a:srgbClr val="F6C514"/>
                </a:solidFill>
              </a:rPr>
              <a:t>Photo Table</a:t>
            </a:r>
            <a:r>
              <a:rPr sz="1400" dirty="0">
                <a:solidFill>
                  <a:srgbClr val="F6C514"/>
                </a:solidFill>
              </a:rPr>
              <a:t>:</a:t>
            </a:r>
          </a:p>
          <a:p>
            <a:pPr>
              <a:spcAft>
                <a:spcPts val="600"/>
              </a:spcAft>
              <a:defRPr sz="1050">
                <a:solidFill>
                  <a:srgbClr val="00C49F"/>
                </a:solidFill>
                <a:latin typeface="Calibri"/>
              </a:defRPr>
            </a:pPr>
            <a:r>
              <a:rPr lang="en-AU" sz="1400" dirty="0">
                <a:solidFill>
                  <a:schemeClr val="bg1"/>
                </a:solidFill>
              </a:rPr>
              <a:t> Grant </a:t>
            </a:r>
            <a:r>
              <a:rPr lang="en-AU" sz="1400" b="1" dirty="0">
                <a:solidFill>
                  <a:schemeClr val="bg1"/>
                </a:solidFill>
              </a:rPr>
              <a:t>User-level </a:t>
            </a:r>
            <a:r>
              <a:rPr lang="en-AU" sz="1400" dirty="0">
                <a:solidFill>
                  <a:schemeClr val="bg1"/>
                </a:solidFill>
              </a:rPr>
              <a:t>access for </a:t>
            </a:r>
            <a:r>
              <a:rPr lang="en-AU" sz="1400" b="1" dirty="0">
                <a:solidFill>
                  <a:schemeClr val="bg1"/>
                </a:solidFill>
              </a:rPr>
              <a:t>Create for users who own the records they create.</a:t>
            </a:r>
            <a:r>
              <a:rPr lang="en-AU" sz="1400" dirty="0">
                <a:solidFill>
                  <a:schemeClr val="bg1"/>
                </a:solidFill>
              </a:rPr>
              <a:t> Admin (organisation) has full visibility to entire record to read, write and delete.</a:t>
            </a:r>
            <a:endParaRPr sz="1400" dirty="0">
              <a:solidFill>
                <a:schemeClr val="bg1"/>
              </a:solidFill>
            </a:endParaRPr>
          </a:p>
        </p:txBody>
      </p:sp>
      <p:pic>
        <p:nvPicPr>
          <p:cNvPr id="8" name="Picture 7">
            <a:extLst>
              <a:ext uri="{FF2B5EF4-FFF2-40B4-BE49-F238E27FC236}">
                <a16:creationId xmlns:a16="http://schemas.microsoft.com/office/drawing/2014/main" id="{10303F38-A2E4-56FA-23E9-52F15B93D388}"/>
              </a:ext>
            </a:extLst>
          </p:cNvPr>
          <p:cNvPicPr>
            <a:picLocks noChangeAspect="1"/>
          </p:cNvPicPr>
          <p:nvPr/>
        </p:nvPicPr>
        <p:blipFill>
          <a:blip r:embed="rId3"/>
          <a:stretch>
            <a:fillRect/>
          </a:stretch>
        </p:blipFill>
        <p:spPr>
          <a:xfrm>
            <a:off x="5065984" y="1578865"/>
            <a:ext cx="6960510" cy="4058122"/>
          </a:xfrm>
          <a:prstGeom prst="rect">
            <a:avLst/>
          </a:prstGeom>
        </p:spPr>
      </p:pic>
      <p:sp>
        <p:nvSpPr>
          <p:cNvPr id="12" name="Rounded Rectangle 6">
            <a:extLst>
              <a:ext uri="{FF2B5EF4-FFF2-40B4-BE49-F238E27FC236}">
                <a16:creationId xmlns:a16="http://schemas.microsoft.com/office/drawing/2014/main" id="{09EEF449-ED26-FE99-1231-3516C2B6B48B}"/>
              </a:ext>
            </a:extLst>
          </p:cNvPr>
          <p:cNvSpPr/>
          <p:nvPr/>
        </p:nvSpPr>
        <p:spPr>
          <a:xfrm>
            <a:off x="183717" y="4971290"/>
            <a:ext cx="4838701" cy="1798136"/>
          </a:xfrm>
          <a:prstGeom prst="round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1000"/>
              </a:spcAft>
              <a:defRPr sz="1100" b="1">
                <a:solidFill>
                  <a:srgbClr val="00C49F"/>
                </a:solidFill>
                <a:latin typeface="Calibri"/>
              </a:defRPr>
            </a:pPr>
            <a:r>
              <a:rPr sz="1600" dirty="0">
                <a:solidFill>
                  <a:srgbClr val="F6C514"/>
                </a:solidFill>
              </a:rPr>
              <a:t>PLATFORM COMPLIANCE SECURITY</a:t>
            </a:r>
          </a:p>
          <a:p>
            <a:pPr>
              <a:spcAft>
                <a:spcPts val="1400"/>
              </a:spcAft>
              <a:defRPr sz="3600" b="1">
                <a:solidFill>
                  <a:srgbClr val="FAF9F6"/>
                </a:solidFill>
                <a:latin typeface="Georgia"/>
              </a:defRPr>
            </a:pPr>
            <a:r>
              <a:rPr sz="2000" dirty="0"/>
              <a:t>Zero </a:t>
            </a:r>
            <a:r>
              <a:rPr lang="en-AU" sz="2000" dirty="0"/>
              <a:t>Tech </a:t>
            </a:r>
            <a:r>
              <a:rPr sz="2000" dirty="0"/>
              <a:t>Debt</a:t>
            </a:r>
          </a:p>
          <a:p>
            <a:pPr>
              <a:spcAft>
                <a:spcPts val="600"/>
              </a:spcAft>
              <a:defRPr sz="1100">
                <a:solidFill>
                  <a:srgbClr val="FAF9F6"/>
                </a:solidFill>
                <a:latin typeface="Calibri"/>
              </a:defRPr>
            </a:pPr>
            <a:r>
              <a:rPr sz="1400" dirty="0"/>
              <a:t>• Relational 5-table Dataverse schema successfully cleared all corporate security and compliance audits.</a:t>
            </a:r>
          </a:p>
          <a:p>
            <a:pPr>
              <a:spcAft>
                <a:spcPts val="600"/>
              </a:spcAft>
              <a:defRPr sz="1100">
                <a:solidFill>
                  <a:srgbClr val="FAF9F6"/>
                </a:solidFill>
                <a:latin typeface="Calibri"/>
              </a:defRPr>
            </a:pPr>
            <a:r>
              <a:rPr sz="1400" dirty="0"/>
              <a:t>• Hardened security roles eliminated sensitive PII exposure </a:t>
            </a:r>
            <a:r>
              <a:rPr lang="en-AU" sz="1400" dirty="0"/>
              <a:t>&amp; protect sensitive data </a:t>
            </a:r>
            <a:r>
              <a:rPr sz="1400" dirty="0"/>
              <a:t>in the field.</a:t>
            </a:r>
          </a:p>
        </p:txBody>
      </p:sp>
      <p:pic>
        <p:nvPicPr>
          <p:cNvPr id="14" name="Picture 13">
            <a:extLst>
              <a:ext uri="{FF2B5EF4-FFF2-40B4-BE49-F238E27FC236}">
                <a16:creationId xmlns:a16="http://schemas.microsoft.com/office/drawing/2014/main" id="{07D77CB0-31E4-966F-66E6-3E2D41FCAC9B}"/>
              </a:ext>
            </a:extLst>
          </p:cNvPr>
          <p:cNvPicPr>
            <a:picLocks noChangeAspect="1"/>
          </p:cNvPicPr>
          <p:nvPr/>
        </p:nvPicPr>
        <p:blipFill>
          <a:blip r:embed="rId4"/>
          <a:stretch>
            <a:fillRect/>
          </a:stretch>
        </p:blipFill>
        <p:spPr>
          <a:xfrm>
            <a:off x="6781800" y="274320"/>
            <a:ext cx="5409895" cy="996983"/>
          </a:xfrm>
          <a:prstGeom prst="rect">
            <a:avLst/>
          </a:prstGeom>
        </p:spPr>
      </p:pic>
    </p:spTree>
    <p:extLst>
      <p:ext uri="{BB962C8B-B14F-4D97-AF65-F5344CB8AC3E}">
        <p14:creationId xmlns:p14="http://schemas.microsoft.com/office/powerpoint/2010/main" val="2376835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7" name="Shape 0">
            <a:extLst>
              <a:ext uri="{FF2B5EF4-FFF2-40B4-BE49-F238E27FC236}">
                <a16:creationId xmlns:a16="http://schemas.microsoft.com/office/drawing/2014/main" id="{822165DE-6245-A7CA-6DA6-9C287638AF2B}"/>
              </a:ext>
            </a:extLst>
          </p:cNvPr>
          <p:cNvSpPr/>
          <p:nvPr/>
        </p:nvSpPr>
        <p:spPr>
          <a:xfrm>
            <a:off x="0" y="0"/>
            <a:ext cx="12192000" cy="6892290"/>
          </a:xfrm>
          <a:prstGeom prst="rect">
            <a:avLst/>
          </a:prstGeom>
          <a:solidFill>
            <a:srgbClr val="071B33"/>
          </a:solidFill>
          <a:ln w="12700">
            <a:solidFill>
              <a:srgbClr val="333333">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 name="TextBox 1"/>
          <p:cNvSpPr txBox="1"/>
          <p:nvPr/>
        </p:nvSpPr>
        <p:spPr>
          <a:xfrm>
            <a:off x="431800" y="143748"/>
            <a:ext cx="5994400" cy="738664"/>
          </a:xfrm>
          <a:prstGeom prst="rect">
            <a:avLst/>
          </a:prstGeom>
          <a:noFill/>
        </p:spPr>
        <p:txBody>
          <a:bodyPr wrap="square" lIns="0" tIns="0" rIns="0" bIns="0">
            <a:spAutoFit/>
          </a:bodyPr>
          <a:lstStyle/>
          <a:p>
            <a:pPr>
              <a:defRPr sz="2400" b="1">
                <a:solidFill>
                  <a:srgbClr val="0A192F"/>
                </a:solidFill>
                <a:latin typeface="Georgia"/>
              </a:defRPr>
            </a:pPr>
            <a:r>
              <a:rPr dirty="0">
                <a:solidFill>
                  <a:schemeClr val="bg1"/>
                </a:solidFill>
              </a:rPr>
              <a:t>Secure Relational 3NF Schema Replaced Flat-File Limits</a:t>
            </a:r>
          </a:p>
        </p:txBody>
      </p:sp>
      <p:sp>
        <p:nvSpPr>
          <p:cNvPr id="3" name="TextBox 2"/>
          <p:cNvSpPr txBox="1"/>
          <p:nvPr/>
        </p:nvSpPr>
        <p:spPr>
          <a:xfrm>
            <a:off x="431800" y="1026160"/>
            <a:ext cx="11277295" cy="307777"/>
          </a:xfrm>
          <a:prstGeom prst="rect">
            <a:avLst/>
          </a:prstGeom>
          <a:noFill/>
        </p:spPr>
        <p:txBody>
          <a:bodyPr wrap="square" lIns="0" tIns="0" rIns="0" bIns="0">
            <a:spAutoFit/>
          </a:bodyPr>
          <a:lstStyle/>
          <a:p>
            <a:pPr>
              <a:defRPr sz="1200" b="1">
                <a:solidFill>
                  <a:srgbClr val="00C49F"/>
                </a:solidFill>
                <a:latin typeface="Calibri"/>
              </a:defRPr>
            </a:pPr>
            <a:r>
              <a:rPr lang="en-AU" sz="2000" dirty="0">
                <a:solidFill>
                  <a:srgbClr val="F6C514"/>
                </a:solidFill>
              </a:rPr>
              <a:t>Pillar 3.2 : </a:t>
            </a:r>
            <a:r>
              <a:rPr sz="2000" dirty="0">
                <a:solidFill>
                  <a:srgbClr val="F6C514"/>
                </a:solidFill>
              </a:rPr>
              <a:t>THE ARCHITECTURAL BLUEPRINT (THE SOLUTION)</a:t>
            </a:r>
          </a:p>
        </p:txBody>
      </p:sp>
      <p:sp>
        <p:nvSpPr>
          <p:cNvPr id="4" name="Rectangle 3"/>
          <p:cNvSpPr/>
          <p:nvPr/>
        </p:nvSpPr>
        <p:spPr>
          <a:xfrm>
            <a:off x="457200" y="1417320"/>
            <a:ext cx="11277295" cy="25400"/>
          </a:xfrm>
          <a:prstGeom prst="rect">
            <a:avLst/>
          </a:prstGeom>
          <a:solidFill>
            <a:srgbClr val="F6C5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40030" y="1579880"/>
            <a:ext cx="4901184" cy="5003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200" b="1">
                <a:solidFill>
                  <a:srgbClr val="00C49F"/>
                </a:solidFill>
                <a:latin typeface="Calibri"/>
              </a:defRPr>
            </a:pPr>
            <a:r>
              <a:rPr sz="1400" dirty="0"/>
              <a:t>DATABASE NORMALISATION (3NF)</a:t>
            </a:r>
          </a:p>
          <a:p>
            <a:pPr>
              <a:spcAft>
                <a:spcPts val="1000"/>
              </a:spcAft>
              <a:defRPr sz="2000" b="1">
                <a:solidFill>
                  <a:srgbClr val="0A192F"/>
                </a:solidFill>
                <a:latin typeface="Georgia"/>
              </a:defRPr>
            </a:pPr>
            <a:r>
              <a:rPr sz="1400" dirty="0"/>
              <a:t>Relational 5-Table Schema</a:t>
            </a:r>
          </a:p>
          <a:p>
            <a:pPr>
              <a:spcBef>
                <a:spcPts val="300"/>
              </a:spcBef>
              <a:defRPr sz="1100" b="1">
                <a:solidFill>
                  <a:srgbClr val="0A192F"/>
                </a:solidFill>
                <a:latin typeface="Calibri"/>
              </a:defRPr>
            </a:pPr>
            <a:r>
              <a:rPr sz="1400" dirty="0"/>
              <a:t>Vehicle (Master Lookup):</a:t>
            </a:r>
          </a:p>
          <a:p>
            <a:pPr>
              <a:spcAft>
                <a:spcPts val="400"/>
              </a:spcAft>
              <a:defRPr sz="1050">
                <a:solidFill>
                  <a:srgbClr val="64748B"/>
                </a:solidFill>
                <a:latin typeface="Calibri"/>
              </a:defRPr>
            </a:pPr>
            <a:r>
              <a:rPr sz="1400" dirty="0"/>
              <a:t>Stores persistent asset data (VIN, Rego, Make, Model) to eliminate repetitive typing.</a:t>
            </a:r>
          </a:p>
          <a:p>
            <a:pPr>
              <a:spcBef>
                <a:spcPts val="300"/>
              </a:spcBef>
              <a:defRPr sz="1100" b="1">
                <a:solidFill>
                  <a:srgbClr val="0A192F"/>
                </a:solidFill>
                <a:latin typeface="Calibri"/>
              </a:defRPr>
            </a:pPr>
            <a:r>
              <a:rPr sz="1400" dirty="0"/>
              <a:t>Questions (Metadata Config):</a:t>
            </a:r>
          </a:p>
          <a:p>
            <a:pPr>
              <a:spcAft>
                <a:spcPts val="400"/>
              </a:spcAft>
              <a:defRPr sz="1050">
                <a:solidFill>
                  <a:srgbClr val="64748B"/>
                </a:solidFill>
                <a:latin typeface="Calibri"/>
              </a:defRPr>
            </a:pPr>
            <a:r>
              <a:rPr sz="1400" dirty="0"/>
              <a:t>Keeps the system fully data-driven. Checklist questions are loaded from database dynamically without redeploying code.</a:t>
            </a:r>
          </a:p>
          <a:p>
            <a:pPr>
              <a:spcBef>
                <a:spcPts val="300"/>
              </a:spcBef>
              <a:defRPr sz="1100" b="1">
                <a:solidFill>
                  <a:srgbClr val="0A192F"/>
                </a:solidFill>
                <a:latin typeface="Calibri"/>
              </a:defRPr>
            </a:pPr>
            <a:r>
              <a:rPr sz="1400" dirty="0"/>
              <a:t>Summary (Header Transaction):</a:t>
            </a:r>
          </a:p>
          <a:p>
            <a:pPr>
              <a:spcAft>
                <a:spcPts val="400"/>
              </a:spcAft>
              <a:defRPr sz="1050">
                <a:solidFill>
                  <a:srgbClr val="64748B"/>
                </a:solidFill>
                <a:latin typeface="Calibri"/>
              </a:defRPr>
            </a:pPr>
            <a:r>
              <a:rPr sz="1400" dirty="0"/>
              <a:t>Stores core event details (Inspector name, Overall status, GPS location, timestamp).</a:t>
            </a:r>
          </a:p>
          <a:p>
            <a:pPr>
              <a:spcBef>
                <a:spcPts val="300"/>
              </a:spcBef>
              <a:defRPr sz="1100" b="1">
                <a:solidFill>
                  <a:srgbClr val="0A192F"/>
                </a:solidFill>
                <a:latin typeface="Calibri"/>
              </a:defRPr>
            </a:pPr>
            <a:r>
              <a:rPr sz="1400" dirty="0"/>
              <a:t>Response (Line Items Child):</a:t>
            </a:r>
          </a:p>
          <a:p>
            <a:pPr>
              <a:spcAft>
                <a:spcPts val="400"/>
              </a:spcAft>
              <a:defRPr sz="1050">
                <a:solidFill>
                  <a:srgbClr val="64748B"/>
                </a:solidFill>
                <a:latin typeface="Calibri"/>
              </a:defRPr>
            </a:pPr>
            <a:r>
              <a:rPr sz="1400" dirty="0"/>
              <a:t>Captures transactional pass/fail answers for 40+ inspection points linked back to Header.</a:t>
            </a:r>
          </a:p>
          <a:p>
            <a:pPr>
              <a:spcBef>
                <a:spcPts val="300"/>
              </a:spcBef>
              <a:defRPr sz="1100" b="1">
                <a:solidFill>
                  <a:srgbClr val="0A192F"/>
                </a:solidFill>
                <a:latin typeface="Calibri"/>
              </a:defRPr>
            </a:pPr>
            <a:r>
              <a:rPr sz="1400" dirty="0"/>
              <a:t>Media Metadata (Attachments):</a:t>
            </a:r>
          </a:p>
          <a:p>
            <a:pPr>
              <a:spcAft>
                <a:spcPts val="400"/>
              </a:spcAft>
              <a:defRPr sz="1050">
                <a:solidFill>
                  <a:srgbClr val="64748B"/>
                </a:solidFill>
                <a:latin typeface="Calibri"/>
              </a:defRPr>
            </a:pPr>
            <a:r>
              <a:rPr sz="1400" dirty="0"/>
              <a:t>Stores secure photo links. Files are offloaded to a governed SharePoint Document Library to reduce Dataverse storage costs.</a:t>
            </a:r>
          </a:p>
        </p:txBody>
      </p:sp>
      <p:pic>
        <p:nvPicPr>
          <p:cNvPr id="11" name="Picture 10">
            <a:extLst>
              <a:ext uri="{FF2B5EF4-FFF2-40B4-BE49-F238E27FC236}">
                <a16:creationId xmlns:a16="http://schemas.microsoft.com/office/drawing/2014/main" id="{085715EE-EC60-30F4-376C-30B021D4CDE3}"/>
              </a:ext>
            </a:extLst>
          </p:cNvPr>
          <p:cNvPicPr>
            <a:picLocks noChangeAspect="1"/>
          </p:cNvPicPr>
          <p:nvPr/>
        </p:nvPicPr>
        <p:blipFill>
          <a:blip r:embed="rId3"/>
          <a:stretch>
            <a:fillRect/>
          </a:stretch>
        </p:blipFill>
        <p:spPr>
          <a:xfrm>
            <a:off x="5229236" y="1554480"/>
            <a:ext cx="6505259" cy="5029200"/>
          </a:xfrm>
          <a:prstGeom prst="rect">
            <a:avLst/>
          </a:prstGeom>
        </p:spPr>
      </p:pic>
      <p:pic>
        <p:nvPicPr>
          <p:cNvPr id="12" name="Picture 11">
            <a:extLst>
              <a:ext uri="{FF2B5EF4-FFF2-40B4-BE49-F238E27FC236}">
                <a16:creationId xmlns:a16="http://schemas.microsoft.com/office/drawing/2014/main" id="{B80B7E2F-F6F1-219A-0CDC-F3786D8F5535}"/>
              </a:ext>
            </a:extLst>
          </p:cNvPr>
          <p:cNvPicPr>
            <a:picLocks noChangeAspect="1"/>
          </p:cNvPicPr>
          <p:nvPr/>
        </p:nvPicPr>
        <p:blipFill>
          <a:blip r:embed="rId4"/>
          <a:stretch>
            <a:fillRect/>
          </a:stretch>
        </p:blipFill>
        <p:spPr>
          <a:xfrm>
            <a:off x="6938798" y="187276"/>
            <a:ext cx="4821402" cy="111828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1"/>
          <p:cNvSpPr txBox="1"/>
          <p:nvPr/>
        </p:nvSpPr>
        <p:spPr>
          <a:xfrm>
            <a:off x="457199" y="103284"/>
            <a:ext cx="11277295" cy="640080"/>
          </a:xfrm>
          <a:prstGeom prst="rect">
            <a:avLst/>
          </a:prstGeom>
          <a:noFill/>
        </p:spPr>
        <p:txBody>
          <a:bodyPr wrap="square" lIns="0" tIns="0" rIns="0" bIns="0">
            <a:spAutoFit/>
          </a:bodyPr>
          <a:lstStyle/>
          <a:p>
            <a:pPr>
              <a:defRPr sz="2400" b="1">
                <a:solidFill>
                  <a:srgbClr val="FAF9F6"/>
                </a:solidFill>
                <a:latin typeface="Georgia"/>
              </a:defRPr>
            </a:pPr>
            <a:r>
              <a:rPr dirty="0"/>
              <a:t>Operational &amp; Compliance Transformation Yielded 100% Success</a:t>
            </a:r>
          </a:p>
        </p:txBody>
      </p:sp>
      <p:sp>
        <p:nvSpPr>
          <p:cNvPr id="3" name="TextBox 2"/>
          <p:cNvSpPr txBox="1"/>
          <p:nvPr/>
        </p:nvSpPr>
        <p:spPr>
          <a:xfrm>
            <a:off x="457200" y="728980"/>
            <a:ext cx="8960815" cy="615553"/>
          </a:xfrm>
          <a:prstGeom prst="rect">
            <a:avLst/>
          </a:prstGeom>
          <a:noFill/>
        </p:spPr>
        <p:txBody>
          <a:bodyPr wrap="square" lIns="0" tIns="0" rIns="0" bIns="0">
            <a:spAutoFit/>
          </a:bodyPr>
          <a:lstStyle/>
          <a:p>
            <a:pPr>
              <a:defRPr sz="1200" b="1">
                <a:solidFill>
                  <a:srgbClr val="00C49F"/>
                </a:solidFill>
                <a:latin typeface="Calibri"/>
              </a:defRPr>
            </a:pPr>
            <a:r>
              <a:rPr lang="en-AU" sz="2000" dirty="0">
                <a:solidFill>
                  <a:srgbClr val="F6C514"/>
                </a:solidFill>
              </a:rPr>
              <a:t>Pillar 4: </a:t>
            </a:r>
            <a:r>
              <a:rPr sz="2000" dirty="0">
                <a:solidFill>
                  <a:srgbClr val="F6C514"/>
                </a:solidFill>
              </a:rPr>
              <a:t>DELIVERING DIRECT, MEASURABLE BUSINESS ROI AND </a:t>
            </a:r>
            <a:r>
              <a:rPr lang="en-AU" sz="2000" dirty="0">
                <a:solidFill>
                  <a:srgbClr val="F6C514"/>
                </a:solidFill>
              </a:rPr>
              <a:t>FINANICAL SAVINGS WITH OPERATIONAL EXCELLENCE</a:t>
            </a:r>
            <a:endParaRPr sz="2000" dirty="0">
              <a:solidFill>
                <a:srgbClr val="F6C514"/>
              </a:solidFill>
            </a:endParaRPr>
          </a:p>
        </p:txBody>
      </p:sp>
      <p:sp>
        <p:nvSpPr>
          <p:cNvPr id="4" name="Rectangle 3"/>
          <p:cNvSpPr/>
          <p:nvPr/>
        </p:nvSpPr>
        <p:spPr>
          <a:xfrm>
            <a:off x="457200" y="1417320"/>
            <a:ext cx="11277295" cy="25400"/>
          </a:xfrm>
          <a:prstGeom prst="rect">
            <a:avLst/>
          </a:prstGeom>
          <a:solidFill>
            <a:srgbClr val="F6C5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964940" y="3576525"/>
            <a:ext cx="4606290" cy="2227375"/>
          </a:xfrm>
          <a:prstGeom prst="round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1000"/>
              </a:spcAft>
              <a:defRPr sz="1100" b="1">
                <a:solidFill>
                  <a:srgbClr val="00C49F"/>
                </a:solidFill>
                <a:latin typeface="Calibri"/>
              </a:defRPr>
            </a:pPr>
            <a:r>
              <a:rPr sz="1400" dirty="0">
                <a:solidFill>
                  <a:srgbClr val="F6C514"/>
                </a:solidFill>
              </a:rPr>
              <a:t>RECLAIMED FRONT-LINE CAPACITY</a:t>
            </a:r>
          </a:p>
          <a:p>
            <a:pPr>
              <a:spcAft>
                <a:spcPts val="600"/>
              </a:spcAft>
              <a:defRPr sz="1100">
                <a:solidFill>
                  <a:srgbClr val="FAF9F6"/>
                </a:solidFill>
                <a:latin typeface="Calibri"/>
              </a:defRPr>
            </a:pPr>
            <a:r>
              <a:rPr sz="1600" dirty="0"/>
              <a:t>• Directly saved 2 to 3 minutes of manual transcription effort per job.</a:t>
            </a:r>
          </a:p>
          <a:p>
            <a:pPr>
              <a:spcAft>
                <a:spcPts val="600"/>
              </a:spcAft>
              <a:defRPr sz="1100">
                <a:solidFill>
                  <a:srgbClr val="FAF9F6"/>
                </a:solidFill>
                <a:latin typeface="Calibri"/>
              </a:defRPr>
            </a:pPr>
            <a:r>
              <a:rPr sz="1600" dirty="0"/>
              <a:t>• Reclaimed the equivalent productivity of over 5 full-time employees (FTEs)</a:t>
            </a:r>
          </a:p>
          <a:p>
            <a:pPr>
              <a:spcAft>
                <a:spcPts val="600"/>
              </a:spcAft>
              <a:defRPr sz="1100">
                <a:solidFill>
                  <a:srgbClr val="FAF9F6"/>
                </a:solidFill>
                <a:latin typeface="Calibri"/>
              </a:defRPr>
            </a:pPr>
            <a:r>
              <a:rPr sz="1600" dirty="0"/>
              <a:t>• </a:t>
            </a:r>
            <a:r>
              <a:rPr lang="en-AU" sz="1600" dirty="0"/>
              <a:t>Eliminated</a:t>
            </a:r>
            <a:r>
              <a:rPr sz="1600" dirty="0"/>
              <a:t> transcription error logs and automated field reporting workflows.</a:t>
            </a:r>
          </a:p>
        </p:txBody>
      </p:sp>
      <p:sp>
        <p:nvSpPr>
          <p:cNvPr id="6" name="Rounded Rectangle 5"/>
          <p:cNvSpPr/>
          <p:nvPr/>
        </p:nvSpPr>
        <p:spPr>
          <a:xfrm>
            <a:off x="8836660" y="2572067"/>
            <a:ext cx="3169920" cy="4155854"/>
          </a:xfrm>
          <a:prstGeom prst="round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1000"/>
              </a:spcAft>
              <a:defRPr sz="1100" b="1">
                <a:solidFill>
                  <a:srgbClr val="00C49F"/>
                </a:solidFill>
                <a:latin typeface="Calibri"/>
              </a:defRPr>
            </a:pPr>
            <a:r>
              <a:rPr sz="1400" dirty="0">
                <a:solidFill>
                  <a:srgbClr val="F6C514"/>
                </a:solidFill>
              </a:rPr>
              <a:t>COMMERCIAL RETURN ON INVESTMENT</a:t>
            </a:r>
          </a:p>
          <a:p>
            <a:pPr>
              <a:spcAft>
                <a:spcPts val="1400"/>
              </a:spcAft>
              <a:defRPr sz="3600" b="1">
                <a:solidFill>
                  <a:srgbClr val="FAF9F6"/>
                </a:solidFill>
                <a:latin typeface="Georgia"/>
              </a:defRPr>
            </a:pPr>
            <a:r>
              <a:rPr sz="2400" dirty="0"/>
              <a:t>AU$500,000+</a:t>
            </a:r>
          </a:p>
          <a:p>
            <a:pPr>
              <a:spcAft>
                <a:spcPts val="600"/>
              </a:spcAft>
              <a:defRPr sz="1100">
                <a:solidFill>
                  <a:srgbClr val="FAF9F6"/>
                </a:solidFill>
                <a:latin typeface="Calibri"/>
              </a:defRPr>
            </a:pPr>
            <a:r>
              <a:rPr sz="1600" dirty="0"/>
              <a:t>• Direct operational capacity and human labor value returned to Motoring Services.</a:t>
            </a:r>
          </a:p>
          <a:p>
            <a:pPr>
              <a:spcAft>
                <a:spcPts val="600"/>
              </a:spcAft>
              <a:defRPr sz="1100">
                <a:solidFill>
                  <a:srgbClr val="FAF9F6"/>
                </a:solidFill>
                <a:latin typeface="Calibri"/>
              </a:defRPr>
            </a:pPr>
            <a:r>
              <a:rPr sz="1600" dirty="0"/>
              <a:t>• Substantially reduced downstream administrative and data remediation costs.</a:t>
            </a:r>
          </a:p>
          <a:p>
            <a:pPr>
              <a:spcAft>
                <a:spcPts val="600"/>
              </a:spcAft>
              <a:defRPr sz="1100">
                <a:solidFill>
                  <a:srgbClr val="FAF9F6"/>
                </a:solidFill>
                <a:latin typeface="Calibri"/>
              </a:defRPr>
            </a:pPr>
            <a:r>
              <a:rPr sz="1600" dirty="0"/>
              <a:t>• Established a secure, scalable model for rapid multi-branch system rollout.</a:t>
            </a:r>
          </a:p>
        </p:txBody>
      </p:sp>
      <p:pic>
        <p:nvPicPr>
          <p:cNvPr id="11" name="Picture 10">
            <a:extLst>
              <a:ext uri="{FF2B5EF4-FFF2-40B4-BE49-F238E27FC236}">
                <a16:creationId xmlns:a16="http://schemas.microsoft.com/office/drawing/2014/main" id="{FDF4E58F-933D-4A6C-B9F0-5A3A4EC7867B}"/>
              </a:ext>
            </a:extLst>
          </p:cNvPr>
          <p:cNvPicPr>
            <a:picLocks noChangeAspect="1"/>
          </p:cNvPicPr>
          <p:nvPr/>
        </p:nvPicPr>
        <p:blipFill>
          <a:blip r:embed="rId3"/>
          <a:stretch>
            <a:fillRect/>
          </a:stretch>
        </p:blipFill>
        <p:spPr>
          <a:xfrm>
            <a:off x="3788410" y="1515507"/>
            <a:ext cx="4970780" cy="1950560"/>
          </a:xfrm>
          <a:prstGeom prst="rect">
            <a:avLst/>
          </a:prstGeom>
        </p:spPr>
      </p:pic>
      <p:pic>
        <p:nvPicPr>
          <p:cNvPr id="13" name="Picture 12">
            <a:extLst>
              <a:ext uri="{FF2B5EF4-FFF2-40B4-BE49-F238E27FC236}">
                <a16:creationId xmlns:a16="http://schemas.microsoft.com/office/drawing/2014/main" id="{C28B326A-64EC-388C-6C70-4374D6F85C3F}"/>
              </a:ext>
            </a:extLst>
          </p:cNvPr>
          <p:cNvPicPr>
            <a:picLocks noChangeAspect="1"/>
          </p:cNvPicPr>
          <p:nvPr/>
        </p:nvPicPr>
        <p:blipFill>
          <a:blip r:embed="rId4"/>
          <a:stretch>
            <a:fillRect/>
          </a:stretch>
        </p:blipFill>
        <p:spPr>
          <a:xfrm>
            <a:off x="82668" y="1515508"/>
            <a:ext cx="3705742" cy="5154754"/>
          </a:xfrm>
          <a:prstGeom prst="rect">
            <a:avLst/>
          </a:prstGeom>
        </p:spPr>
      </p:pic>
      <p:pic>
        <p:nvPicPr>
          <p:cNvPr id="15" name="Picture 14">
            <a:extLst>
              <a:ext uri="{FF2B5EF4-FFF2-40B4-BE49-F238E27FC236}">
                <a16:creationId xmlns:a16="http://schemas.microsoft.com/office/drawing/2014/main" id="{3A52F083-D7B8-5755-4C95-5A7893305BB3}"/>
              </a:ext>
            </a:extLst>
          </p:cNvPr>
          <p:cNvPicPr>
            <a:picLocks noChangeAspect="1"/>
          </p:cNvPicPr>
          <p:nvPr/>
        </p:nvPicPr>
        <p:blipFill>
          <a:blip r:embed="rId5"/>
          <a:stretch>
            <a:fillRect/>
          </a:stretch>
        </p:blipFill>
        <p:spPr>
          <a:xfrm>
            <a:off x="9028575" y="1592998"/>
            <a:ext cx="2978006" cy="897789"/>
          </a:xfrm>
          <a:prstGeom prst="rect">
            <a:avLst/>
          </a:prstGeom>
        </p:spPr>
      </p:pic>
      <p:pic>
        <p:nvPicPr>
          <p:cNvPr id="17" name="Picture 16">
            <a:extLst>
              <a:ext uri="{FF2B5EF4-FFF2-40B4-BE49-F238E27FC236}">
                <a16:creationId xmlns:a16="http://schemas.microsoft.com/office/drawing/2014/main" id="{84B33F71-4BDB-E94A-E54F-3FD7AA7566AF}"/>
              </a:ext>
            </a:extLst>
          </p:cNvPr>
          <p:cNvPicPr>
            <a:picLocks noChangeAspect="1"/>
          </p:cNvPicPr>
          <p:nvPr/>
        </p:nvPicPr>
        <p:blipFill>
          <a:blip r:embed="rId6"/>
          <a:stretch>
            <a:fillRect/>
          </a:stretch>
        </p:blipFill>
        <p:spPr>
          <a:xfrm>
            <a:off x="5054600" y="5927894"/>
            <a:ext cx="2429674" cy="83952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efa4170-0d19-0005-0004-bc88714345d2}" enabled="1" method="Standard" siteId="{10cb6ddd-7027-4009-a457-a601afda4818}" contentBits="0" removed="0"/>
</clbl:labelList>
</file>

<file path=docProps/app.xml><?xml version="1.0" encoding="utf-8"?>
<Properties xmlns="http://schemas.openxmlformats.org/officeDocument/2006/extended-properties" xmlns:vt="http://schemas.openxmlformats.org/officeDocument/2006/docPropsVTypes">
  <TotalTime>818</TotalTime>
  <Words>2415</Words>
  <Application>Microsoft Office PowerPoint</Application>
  <PresentationFormat>Widescreen</PresentationFormat>
  <Paragraphs>152</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David Liong</cp:lastModifiedBy>
  <cp:revision>19</cp:revision>
  <dcterms:created xsi:type="dcterms:W3CDTF">2013-01-27T09:14:16Z</dcterms:created>
  <dcterms:modified xsi:type="dcterms:W3CDTF">2026-09-02T13:47:47Z</dcterms:modified>
  <cp:category/>
</cp:coreProperties>
</file>